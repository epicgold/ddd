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Детство" id="{3f19ec48-2d15-b00a-086b-01df0669d26b}">
          <p14:sldIdLst>
            <p14:sldId id="256"/>
            <p14:sldId id="257"/>
            <p14:sldId id="258"/>
            <p14:sldId id="259"/>
          </p14:sldIdLst>
        </p14:section>
        <p14:section name="Вена" id="{62a50e0b-dd30-4989-51fa-b864a11977ed}">
          <p14:sldIdLst>
            <p14:sldId id="260"/>
            <p14:sldId id="261"/>
            <p14:sldId id="262"/>
            <p14:sldId id="263"/>
          </p14:sldIdLst>
        </p14:section>
        <p14:section name="Мюнхен и фронт" id="{4d53f78f-a030-495a-0ab1-84bc698338e9}">
          <p14:sldIdLst>
            <p14:sldId id="264"/>
            <p14:sldId id="265"/>
            <p14:sldId id="266"/>
            <p14:sldId id="267"/>
          </p14:sldIdLst>
        </p14:section>
        <p14:section name="Итоги" id="{90b45122-2cb3-f9ad-3668-9f9bf941c426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 моего проекта — Адольф Гитлер до того, как он стал политиком: с 1889 года, когда он родился, до 1919-го, когда вступил в маленькую мюнхенскую партию. Мне было интересно, каким он был до всего, что мы о нём знаем: как жил, на чём ломался, что думал. Оправдывать я никого не собираюсь, я хочу понять, откуда он взялся. Основные источники — биографии Яна Кершоу, Бригитты Хаманн и Томаса Вебера.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Гитлер родился в Браунау — городке на реке Инн, на другом берегу которой уже Германия. Его отец Алоис был внебрачным ребёнком и почти до сорока лет носил фамилию матери — Шикльгрубер; фамилию Гитлер он взял в 1876 году. Алоис дослужился до таможенного инспектора и очень этим гордился. Клара была его третьей женой и на двадцать три года моложе. Из шестерых её детей выжили только двое: Адольф и младшая сестра Паула.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Отец часто менял место службы, и семья переезжала: Пассау, Хафельд, Ламбах, Леондинг. В начальной школе Адольф учился хорошо — вот он на фотографии класса 1899 года, в самом центре верхнего ряда. Дома было тяжелее: Алоис был строгим и вспыльчивым и требовал, чтобы сын пошёл в чиновники. В реальном училище в Линце Адольф съехал на плохие оценки, остался на второй год, а в шестнадцать лет совсем бросил школу.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январе 1903 года Алоис умер прямо в трактире в Леондинге, за утренним бокалом вина. Сына это, похоже, скорее освободило. А вот смерть матери в декабре 1907 года он переживал очень тяжело. Клару лечил врач Эдуард Блох. Позже Блох вспоминал, что никогда не видел человека, настолько убитого горем. Гитлер слал ему благодарственные открытки, а в 1938 году, уже будучи диктатором, взял его под защиту и позволил уехать из Австрии.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Осенью 1907 года восемнадцатилетний Гитлер поехал в Вену поступать в Академию изящных искусств. Первый тур он прошёл, а на втором провалился. В списке экзаменаторов у его фамилии написано: «Пробный рисунок неудовлетворителен. Мало голов». То есть людей он рисовал плохо. Через год его не допустили даже к экзамену. Сам Гитлер потом рассказывал, что ректор советовал ему архитектуру, но туда без школьного аттестата не брали.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Рисовать он при этом не бросил — это был его заработок. Вот две его акварели: Венская опера примерно 1912 года и Старый двор в Мюнхене 1914-го. Он часто срисовывал открытки и фотографии, поэтому получались точные, почти чертёжные виды зданий. Людей на них почти нет — помните пометку «мало голов»? Сейчас такие картины всплывают на аукционах, но среди них полно подделок.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Деньги от наследства закончились к осени 1909 года. Несколько недель Гитлер фактически жил на улице, потом попал в приют для бездомных в районе Майдлинг. Там он познакомился с Райнгольдом Ханишем, который предложил продавать его картинки. С 1910 по 1913 год Гитлер жил в мужском общежитии на Мельдеманнштрассе — это была дешёвая гостиница для одиноких мужчин. Интересно, что среди постоянных покупателей его работ были еврейские торговцы рамами.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Вена тогда была огромной столицей империи, где жили немцы, чехи, венгры, поляки, евреи, и все со всеми спорили. Бургомистр Карл Люгер был очень популярен и открыто использовал антисемитизм, чтобы выигрывать выборы. Георг фон Шёнерер требовал объединить всех немцев в одном государстве. Гитлер читал газеты и ходил на галёрку парламента. В «Майн кампф» он писал, что антисемитом стал именно в Вене, но многие историки считают, что окончательно это произошло позже, после войны.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мае 1913 года Гитлер переехал в Мюнхен. Ему было двадцать четыре, и одной из причин было нежелание служить в австрийской армии. Австрийская полиция его всё-таки нашла, и в феврале 1914 года его отправили на медкомиссию в Зальцбург — там его признали слишком слабым для службы. А когда в августе 1914-го началась война, он сам записался добровольцем, но уже в баварскую армию. Есть известное фото, где он якобы стоит в ликующей толпе на мюнхенской площади Одеонсплац, но его подлинность под вопросом.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Гитлер попал в 16-й баварский резервный полк, его называли полком Листа по фамилии командира. В октябре 1914 года полк бросили в бой под Ипром во Фландрии. Потери были страшные: по данным, которые приводит биограф Ян Кершоу, из 3600 человек через четыре дня в строю осталось 611. Потом Гитлер стал связным при штабе полка и носил донесения. Неожиданная деталь: у него на фронте была собака, белый терьер Фоксль, которого он очень любил.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Уже в декабре 1914 года Гитлер получил Железный крест второго класса. В октябре 1916-го на Сомме его ранило осколком в ногу, и он лечился в госпитале в Белице под Берлином — на фото он второй справа в верхнем ряду. В 1918 году его наградили Железным крестом первого класса, для ефрейтора это редкость. Представление подписал лейтенант Хуго Гутман, еврей. Но историк Томас Вебер замечает: окопные солдаты считали штабных связных тыловиками, и свои фронтовые подвиги Гитлер позже сильно приукрасил.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середине октября 1918 года под Ипром британцы применили иприт. Гитлер временно ослеп и попал в госпиталь в Пазевальке, на севере Германии. Там он и узнал, что в стране революция, кайзер отрёкся, а войну Германия проиграла. Для него это была катастрофа. И он принял объяснение, которое тогда ходило среди военных: армию «ударили ножом в спину», то есть предали в тылу. Это была неправда, но именно этот миф потом станет одной из главных идей нацистов.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После войны Гитлер вернулся в Мюнхен. Весной 1919-го там провозгласили Баварскую советскую республику, и её жестоко разгромили войска и добровольческие отряды. Гитлер остался служить, прошёл курсы пропаганды у капитана Карла Майра и стал осведомителем: ходил на собрания разных групп и докладывал начальству. 12 сентября 1919 года его отправили на собрание Немецкой рабочей партии, там было несколько десятков человек. Гитлер выступил, и его позвали в партию. Его партбилет — номер 555: нумерацию специально начали с 501, чтобы партия казалась больше.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Вот весь его путь на одной карте, в границах 1914 года. Родился в Браунау на границе с Германией, вырос под Линцем, почти шесть лет прожил в Вене — всё это Австро-Венгрия. В 1913 году переехал в Мюнхен. Дальше фронт во Фландрии, ранение на Сомме, госпиталь в Белице под Берлином, в 1918-м — госпиталь в Пазевальке на севере Германии. И снова Мюнхен, где в 1919 году и началась его политическая история.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собрать всё вместе, к 1919 году мы видим тридцатилетнего человека без профессии, без семьи и без денег. За спиной у него обиды: школа, Академия, венская нищета. В голове идеи, подхваченные в Вене. А главным опытом жизни стала война, которую Германия проиграла. Таких обиженных ветеранов тогда были тысячи. Чтобы один из них стал диктатором, понадобились ещё годы и миллионы людей, которые за ним пошли. Поэтому эту историю и важно знать. Спасибо за внимание!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jpg"/><Relationship Id="rId4" Type="http://schemas.openxmlformats.org/officeDocument/2006/relationships/image" Target="../media/image-2-4.png"/><Relationship Id="rId5" Type="http://schemas.openxmlformats.org/officeDocument/2006/relationships/image" Target="../media/image-1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jpg"/><Relationship Id="rId4" Type="http://schemas.openxmlformats.org/officeDocument/2006/relationships/image" Target="../media/image-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1-2.pn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image" Target="../media/image-1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jpg"/><Relationship Id="rId4" Type="http://schemas.openxmlformats.org/officeDocument/2006/relationships/image" Target="../media/image-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jpg"/><Relationship Id="rId4" Type="http://schemas.openxmlformats.org/officeDocument/2006/relationships/image" Target="../media/image-8-4.png"/><Relationship Id="rId5" Type="http://schemas.openxmlformats.org/officeDocument/2006/relationships/image" Target="../media/image-1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5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jpg"/><Relationship Id="rId4" Type="http://schemas.openxmlformats.org/officeDocument/2006/relationships/image" Target="../media/image-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5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year"/>
          <p:cNvSpPr txBox="1"/>
          <p:nvPr/>
        </p:nvSpPr>
        <p:spPr>
          <a:xfrm>
            <a:off x="411480" y="370332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0" dirty="0">
                <a:solidFill>
                  <a:srgbClr val="1B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1889</a:t>
            </a:r>
            <a:endParaRPr lang="en-US" sz="23000" dirty="0"/>
          </a:p>
        </p:txBody>
      </p:sp>
      <p:pic>
        <p:nvPicPr>
          <p:cNvPr id="3" name="hero" descr="/root/deckwork/assets/cut_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0743" y="0"/>
            <a:ext cx="5330952" cy="6858000"/>
          </a:xfrm>
          <a:prstGeom prst="rect">
            <a:avLst/>
          </a:prstGeom>
        </p:spPr>
      </p:pic>
      <p:pic>
        <p:nvPicPr>
          <p:cNvPr id="4" name="shade" descr="/root/deckwork/assets/ov_amb_so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!!title"/>
          <p:cNvSpPr txBox="1"/>
          <p:nvPr/>
        </p:nvSpPr>
        <p:spPr>
          <a:xfrm>
            <a:off x="685800" y="1572768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00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Адольф Гитлер</a:t>
            </a:r>
            <a:endParaRPr lang="en-US" sz="6200" dirty="0"/>
          </a:p>
        </p:txBody>
      </p:sp>
      <p:sp>
        <p:nvSpPr>
          <p:cNvPr id="6" name="!!body"/>
          <p:cNvSpPr txBox="1"/>
          <p:nvPr/>
        </p:nvSpPr>
        <p:spPr>
          <a:xfrm>
            <a:off x="704088" y="2615184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политической карьеры</a:t>
            </a:r>
            <a:endParaRPr lang="en-US" sz="2400" dirty="0"/>
          </a:p>
        </p:txBody>
      </p:sp>
      <p:sp>
        <p:nvSpPr>
          <p:cNvPr id="7" name="Text 3"/>
          <p:cNvSpPr txBox="1"/>
          <p:nvPr/>
        </p:nvSpPr>
        <p:spPr>
          <a:xfrm>
            <a:off x="704088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1889 — 1919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704088" y="35844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3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Пономарев Глеб, 10В класс</a:t>
            </a:r>
            <a:endParaRPr lang="en-US" sz="1400" dirty="0"/>
          </a:p>
        </p:txBody>
      </p:sp>
      <p:sp>
        <p:nvSpPr>
          <p:cNvPr id="9" name="!!cap"/>
          <p:cNvSpPr txBox="1"/>
          <p:nvPr/>
        </p:nvSpPr>
        <p:spPr>
          <a:xfrm>
            <a:off x="7482535" y="57607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B9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Гитлер в годы Первой мировой войны</a:t>
            </a:r>
            <a:endParaRPr lang="en-US" sz="900" dirty="0"/>
          </a:p>
        </p:txBody>
      </p:sp>
      <p:sp>
        <p:nvSpPr>
          <p:cNvPr id="10" name="!!tl"/>
          <p:cNvSpPr/>
          <p:nvPr/>
        </p:nvSpPr>
        <p:spPr>
          <a:xfrm>
            <a:off x="685800" y="6400800"/>
            <a:ext cx="10820095" cy="0"/>
          </a:xfrm>
          <a:prstGeom prst="line">
            <a:avLst/>
          </a:prstGeom>
          <a:noFill/>
          <a:ln w="9525">
            <a:solidFill>
              <a:srgbClr val="3A3632"/>
            </a:solidFill>
            <a:prstDash val="solid"/>
          </a:ln>
        </p:spPr>
      </p:sp>
      <p:sp>
        <p:nvSpPr>
          <p:cNvPr id="11" name="!!tk1889"/>
          <p:cNvSpPr/>
          <p:nvPr/>
        </p:nvSpPr>
        <p:spPr>
          <a:xfrm>
            <a:off x="680314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2" name="!!tk1899"/>
          <p:cNvSpPr/>
          <p:nvPr/>
        </p:nvSpPr>
        <p:spPr>
          <a:xfrm>
            <a:off x="4287012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3" name="!!tk1907"/>
          <p:cNvSpPr/>
          <p:nvPr/>
        </p:nvSpPr>
        <p:spPr>
          <a:xfrm>
            <a:off x="7172371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4" name="!!tk1910"/>
          <p:cNvSpPr/>
          <p:nvPr/>
        </p:nvSpPr>
        <p:spPr>
          <a:xfrm>
            <a:off x="825438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5" name="!!tk1912"/>
          <p:cNvSpPr/>
          <p:nvPr/>
        </p:nvSpPr>
        <p:spPr>
          <a:xfrm>
            <a:off x="897572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6" name="!!tk1913"/>
          <p:cNvSpPr/>
          <p:nvPr/>
        </p:nvSpPr>
        <p:spPr>
          <a:xfrm>
            <a:off x="933639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7" name="!!tk1914"/>
          <p:cNvSpPr/>
          <p:nvPr/>
        </p:nvSpPr>
        <p:spPr>
          <a:xfrm>
            <a:off x="969706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8" name="!!tk1916"/>
          <p:cNvSpPr/>
          <p:nvPr/>
        </p:nvSpPr>
        <p:spPr>
          <a:xfrm>
            <a:off x="1041839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9" name="!!tk1918"/>
          <p:cNvSpPr/>
          <p:nvPr/>
        </p:nvSpPr>
        <p:spPr>
          <a:xfrm>
            <a:off x="1113973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0" name="!!tk1919"/>
          <p:cNvSpPr/>
          <p:nvPr/>
        </p:nvSpPr>
        <p:spPr>
          <a:xfrm>
            <a:off x="1150040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1" name="!!tlp"/>
          <p:cNvSpPr/>
          <p:nvPr/>
        </p:nvSpPr>
        <p:spPr>
          <a:xfrm>
            <a:off x="685800" y="6392570"/>
            <a:ext cx="18288" cy="16459"/>
          </a:xfrm>
          <a:prstGeom prst="rect">
            <a:avLst/>
          </a:prstGeom>
          <a:solidFill>
            <a:srgbClr val="C9A15B"/>
          </a:solidFill>
          <a:ln/>
        </p:spPr>
      </p:sp>
      <p:sp>
        <p:nvSpPr>
          <p:cNvPr id="22" name="!!tlh"/>
          <p:cNvSpPr/>
          <p:nvPr/>
        </p:nvSpPr>
        <p:spPr>
          <a:xfrm>
            <a:off x="548640" y="6263640"/>
            <a:ext cx="274320" cy="274320"/>
          </a:xfrm>
          <a:prstGeom prst="ellipse">
            <a:avLst/>
          </a:prstGeom>
          <a:solidFill>
            <a:srgbClr val="C9A15B">
              <a:alpha val="18000"/>
            </a:srgbClr>
          </a:solidFill>
          <a:ln/>
        </p:spPr>
      </p:sp>
      <p:sp>
        <p:nvSpPr>
          <p:cNvPr id="23" name="!!tld"/>
          <p:cNvSpPr/>
          <p:nvPr/>
        </p:nvSpPr>
        <p:spPr>
          <a:xfrm>
            <a:off x="630936" y="6345936"/>
            <a:ext cx="109728" cy="109728"/>
          </a:xfrm>
          <a:prstGeom prst="ellipse">
            <a:avLst/>
          </a:prstGeom>
          <a:solidFill>
            <a:srgbClr val="C9A15B"/>
          </a:solidFill>
          <a:ln/>
        </p:spPr>
      </p:sp>
      <p:sp>
        <p:nvSpPr>
          <p:cNvPr id="24" name="!!tly"/>
          <p:cNvSpPr txBox="1"/>
          <p:nvPr/>
        </p:nvSpPr>
        <p:spPr>
          <a:xfrm>
            <a:off x="228600" y="60716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1889</a:t>
            </a:r>
            <a:endParaRPr lang="en-US" sz="900" dirty="0"/>
          </a:p>
        </p:txBody>
      </p:sp>
      <p:sp>
        <p:nvSpPr>
          <p:cNvPr id="25" name="!!tl0"/>
          <p:cNvSpPr txBox="1"/>
          <p:nvPr/>
        </p:nvSpPr>
        <p:spPr>
          <a:xfrm>
            <a:off x="685800" y="6492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1889</a:t>
            </a:r>
            <a:endParaRPr lang="en-US" sz="800" dirty="0"/>
          </a:p>
        </p:txBody>
      </p:sp>
      <p:sp>
        <p:nvSpPr>
          <p:cNvPr id="26" name="!!tl1"/>
          <p:cNvSpPr txBox="1"/>
          <p:nvPr/>
        </p:nvSpPr>
        <p:spPr>
          <a:xfrm>
            <a:off x="10774375" y="6492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1919</a:t>
            </a:r>
            <a:endParaRPr lang="en-US" sz="800" dirty="0"/>
          </a:p>
        </p:txBody>
      </p:sp>
      <p:sp>
        <p:nvSpPr>
          <p:cNvPr id="27" name="!!count"/>
          <p:cNvSpPr txBox="1"/>
          <p:nvPr/>
        </p:nvSpPr>
        <p:spPr>
          <a:xfrm>
            <a:off x="10225735" y="3108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15</a:t>
            </a:r>
            <a:endParaRPr lang="en-US" sz="900" dirty="0"/>
          </a:p>
        </p:txBody>
      </p:sp>
      <p:pic>
        <p:nvPicPr>
          <p:cNvPr id="28" name="!!grain" descr="/root/deckwork/assets/g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work/assets/p_aloi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0"/>
            <a:ext cx="3191256" cy="6858000"/>
          </a:xfrm>
          <a:prstGeom prst="rect">
            <a:avLst/>
          </a:prstGeom>
        </p:spPr>
      </p:pic>
      <p:pic>
        <p:nvPicPr>
          <p:cNvPr id="3" name="Image 1" descr="/root/deckwork/assets/ov_split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0"/>
            <a:ext cx="3191256" cy="6858000"/>
          </a:xfrm>
          <a:prstGeom prst="rect">
            <a:avLst/>
          </a:prstGeom>
        </p:spPr>
      </p:pic>
      <p:pic>
        <p:nvPicPr>
          <p:cNvPr id="4" name="Image 2" descr="/root/deckwork/assets/p_klara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1295" y="0"/>
            <a:ext cx="3200400" cy="6858000"/>
          </a:xfrm>
          <a:prstGeom prst="rect">
            <a:avLst/>
          </a:prstGeom>
        </p:spPr>
      </p:pic>
      <p:pic>
        <p:nvPicPr>
          <p:cNvPr id="5" name="Image 3" descr="/root/deckwork/assets/ov_split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295" y="0"/>
            <a:ext cx="3200400" cy="68580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6903720" y="5074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Алоис Гитлер</a:t>
            </a:r>
            <a:endParaRPr lang="en-US" sz="1600" dirty="0"/>
          </a:p>
          <a:p>
            <a:pPr indent="0" marL="0">
              <a:buNone/>
            </a:pPr>
            <a:r>
              <a:rPr lang="en-US" sz="1050" b="1" spc="100" kern="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1837–1903</a:t>
            </a:r>
            <a:endParaRPr lang="en-US" sz="1600" dirty="0"/>
          </a:p>
        </p:txBody>
      </p:sp>
      <p:sp>
        <p:nvSpPr>
          <p:cNvPr id="7" name="Text 1"/>
          <p:cNvSpPr txBox="1"/>
          <p:nvPr/>
        </p:nvSpPr>
        <p:spPr>
          <a:xfrm>
            <a:off x="9235440" y="5074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Клара Гитлер</a:t>
            </a:r>
            <a:endParaRPr lang="en-US" sz="1600" dirty="0"/>
          </a:p>
          <a:p>
            <a:pPr indent="0" marL="0">
              <a:buNone/>
            </a:pPr>
            <a:r>
              <a:rPr lang="en-US" sz="1050" b="1" spc="100" kern="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1860–1907</a:t>
            </a:r>
            <a:endParaRPr lang="en-US" sz="1600" dirty="0"/>
          </a:p>
        </p:txBody>
      </p:sp>
      <p:sp>
        <p:nvSpPr>
          <p:cNvPr id="8" name="!!year"/>
          <p:cNvSpPr txBox="1"/>
          <p:nvPr/>
        </p:nvSpPr>
        <p:spPr>
          <a:xfrm>
            <a:off x="685800" y="384048"/>
            <a:ext cx="5138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C9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1889</a:t>
            </a:r>
            <a:endParaRPr lang="en-US" sz="6000" dirty="0"/>
          </a:p>
        </p:txBody>
      </p:sp>
      <p:sp>
        <p:nvSpPr>
          <p:cNvPr id="9" name="!!title"/>
          <p:cNvSpPr txBox="1"/>
          <p:nvPr/>
        </p:nvSpPr>
        <p:spPr>
          <a:xfrm>
            <a:off x="685800" y="1335024"/>
            <a:ext cx="5138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Семья таможенника</a:t>
            </a:r>
            <a:endParaRPr lang="en-US" sz="3600" dirty="0"/>
          </a:p>
        </p:txBody>
      </p:sp>
      <p:sp>
        <p:nvSpPr>
          <p:cNvPr id="10" name="!!body"/>
          <p:cNvSpPr txBox="1"/>
          <p:nvPr/>
        </p:nvSpPr>
        <p:spPr>
          <a:xfrm>
            <a:off x="685800" y="2212848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Адольф родился 20 апреля 1889 года в Браунау-на-Инне, австрийском городке на самой границе с Германией. Его отец Алоис был внебрачным сыном крестьянки и почти до сорока лет носил её фамилию — 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Шикльгрубер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Он сделал карьеру на таможне и дослужился до старшего чиновника. Мать, Клара Пёльцль, была его третьей женой и на 23 года моложе. Из шестерых её детей 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выжили только двое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Адольф и его сестра Паула.</a:t>
            </a:r>
            <a:endParaRPr lang="en-US" sz="1600" dirty="0"/>
          </a:p>
        </p:txBody>
      </p:sp>
      <p:sp>
        <p:nvSpPr>
          <p:cNvPr id="11" name="!!cap"/>
          <p:cNvSpPr txBox="1"/>
          <p:nvPr/>
        </p:nvSpPr>
        <p:spPr>
          <a:xfrm>
            <a:off x="6751015" y="57058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B9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Фото: Wikimedia Commons (общественное достояние)</a:t>
            </a:r>
            <a:endParaRPr lang="en-US" sz="900" dirty="0"/>
          </a:p>
        </p:txBody>
      </p:sp>
      <p:sp>
        <p:nvSpPr>
          <p:cNvPr id="12" name="!!tl"/>
          <p:cNvSpPr/>
          <p:nvPr/>
        </p:nvSpPr>
        <p:spPr>
          <a:xfrm>
            <a:off x="685800" y="6400800"/>
            <a:ext cx="10820095" cy="0"/>
          </a:xfrm>
          <a:prstGeom prst="line">
            <a:avLst/>
          </a:prstGeom>
          <a:noFill/>
          <a:ln w="9525">
            <a:solidFill>
              <a:srgbClr val="3A3632"/>
            </a:solidFill>
            <a:prstDash val="solid"/>
          </a:ln>
        </p:spPr>
      </p:sp>
      <p:sp>
        <p:nvSpPr>
          <p:cNvPr id="13" name="!!tk1889"/>
          <p:cNvSpPr/>
          <p:nvPr/>
        </p:nvSpPr>
        <p:spPr>
          <a:xfrm>
            <a:off x="680314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4" name="!!tk1899"/>
          <p:cNvSpPr/>
          <p:nvPr/>
        </p:nvSpPr>
        <p:spPr>
          <a:xfrm>
            <a:off x="4287012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5" name="!!tk1907"/>
          <p:cNvSpPr/>
          <p:nvPr/>
        </p:nvSpPr>
        <p:spPr>
          <a:xfrm>
            <a:off x="7172371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6" name="!!tk1910"/>
          <p:cNvSpPr/>
          <p:nvPr/>
        </p:nvSpPr>
        <p:spPr>
          <a:xfrm>
            <a:off x="825438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7" name="!!tk1912"/>
          <p:cNvSpPr/>
          <p:nvPr/>
        </p:nvSpPr>
        <p:spPr>
          <a:xfrm>
            <a:off x="897572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8" name="!!tk1913"/>
          <p:cNvSpPr/>
          <p:nvPr/>
        </p:nvSpPr>
        <p:spPr>
          <a:xfrm>
            <a:off x="933639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9" name="!!tk1914"/>
          <p:cNvSpPr/>
          <p:nvPr/>
        </p:nvSpPr>
        <p:spPr>
          <a:xfrm>
            <a:off x="969706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0" name="!!tk1916"/>
          <p:cNvSpPr/>
          <p:nvPr/>
        </p:nvSpPr>
        <p:spPr>
          <a:xfrm>
            <a:off x="1041839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1" name="!!tk1918"/>
          <p:cNvSpPr/>
          <p:nvPr/>
        </p:nvSpPr>
        <p:spPr>
          <a:xfrm>
            <a:off x="1113973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2" name="!!tk1919"/>
          <p:cNvSpPr/>
          <p:nvPr/>
        </p:nvSpPr>
        <p:spPr>
          <a:xfrm>
            <a:off x="1150040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3" name="!!tlp"/>
          <p:cNvSpPr/>
          <p:nvPr/>
        </p:nvSpPr>
        <p:spPr>
          <a:xfrm>
            <a:off x="685800" y="6392570"/>
            <a:ext cx="18288" cy="16459"/>
          </a:xfrm>
          <a:prstGeom prst="rect">
            <a:avLst/>
          </a:prstGeom>
          <a:solidFill>
            <a:srgbClr val="C9A15B"/>
          </a:solidFill>
          <a:ln/>
        </p:spPr>
      </p:sp>
      <p:sp>
        <p:nvSpPr>
          <p:cNvPr id="24" name="!!tlh"/>
          <p:cNvSpPr/>
          <p:nvPr/>
        </p:nvSpPr>
        <p:spPr>
          <a:xfrm>
            <a:off x="548640" y="6263640"/>
            <a:ext cx="274320" cy="274320"/>
          </a:xfrm>
          <a:prstGeom prst="ellipse">
            <a:avLst/>
          </a:prstGeom>
          <a:solidFill>
            <a:srgbClr val="C9A15B">
              <a:alpha val="18000"/>
            </a:srgbClr>
          </a:solidFill>
          <a:ln/>
        </p:spPr>
      </p:sp>
      <p:sp>
        <p:nvSpPr>
          <p:cNvPr id="25" name="!!tld"/>
          <p:cNvSpPr/>
          <p:nvPr/>
        </p:nvSpPr>
        <p:spPr>
          <a:xfrm>
            <a:off x="630936" y="6345936"/>
            <a:ext cx="109728" cy="109728"/>
          </a:xfrm>
          <a:prstGeom prst="ellipse">
            <a:avLst/>
          </a:prstGeom>
          <a:solidFill>
            <a:srgbClr val="C9A15B"/>
          </a:solidFill>
          <a:ln/>
        </p:spPr>
      </p:sp>
      <p:sp>
        <p:nvSpPr>
          <p:cNvPr id="26" name="!!tly"/>
          <p:cNvSpPr txBox="1"/>
          <p:nvPr/>
        </p:nvSpPr>
        <p:spPr>
          <a:xfrm>
            <a:off x="228600" y="60716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1889</a:t>
            </a:r>
            <a:endParaRPr lang="en-US" sz="900" dirty="0"/>
          </a:p>
        </p:txBody>
      </p:sp>
      <p:sp>
        <p:nvSpPr>
          <p:cNvPr id="27" name="!!tl0"/>
          <p:cNvSpPr txBox="1"/>
          <p:nvPr/>
        </p:nvSpPr>
        <p:spPr>
          <a:xfrm>
            <a:off x="685800" y="6492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1889</a:t>
            </a:r>
            <a:endParaRPr lang="en-US" sz="800" dirty="0"/>
          </a:p>
        </p:txBody>
      </p:sp>
      <p:sp>
        <p:nvSpPr>
          <p:cNvPr id="28" name="!!tl1"/>
          <p:cNvSpPr txBox="1"/>
          <p:nvPr/>
        </p:nvSpPr>
        <p:spPr>
          <a:xfrm>
            <a:off x="10774375" y="6492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1919</a:t>
            </a:r>
            <a:endParaRPr lang="en-US" sz="800" dirty="0"/>
          </a:p>
        </p:txBody>
      </p:sp>
      <p:sp>
        <p:nvSpPr>
          <p:cNvPr id="29" name="!!count"/>
          <p:cNvSpPr txBox="1"/>
          <p:nvPr/>
        </p:nvSpPr>
        <p:spPr>
          <a:xfrm>
            <a:off x="10225735" y="3108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900" dirty="0"/>
          </a:p>
        </p:txBody>
      </p:sp>
      <p:pic>
        <p:nvPicPr>
          <p:cNvPr id="30" name="!!grain" descr="/root/deckwork/assets/gra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work/assets/p_schoo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0"/>
            <a:ext cx="6705295" cy="6858000"/>
          </a:xfrm>
          <a:prstGeom prst="rect">
            <a:avLst/>
          </a:prstGeom>
        </p:spPr>
      </p:pic>
      <p:pic>
        <p:nvPicPr>
          <p:cNvPr id="3" name="Image 1" descr="/root/deckwork/assets/ov_scho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0"/>
            <a:ext cx="6705295" cy="6858000"/>
          </a:xfrm>
          <a:prstGeom prst="rect">
            <a:avLst/>
          </a:prstGeom>
        </p:spPr>
      </p:pic>
      <p:sp>
        <p:nvSpPr>
          <p:cNvPr id="4" name="ring"/>
          <p:cNvSpPr/>
          <p:nvPr/>
        </p:nvSpPr>
        <p:spPr>
          <a:xfrm>
            <a:off x="8558784" y="173736"/>
            <a:ext cx="548640" cy="548640"/>
          </a:xfrm>
          <a:prstGeom prst="ellipse">
            <a:avLst/>
          </a:prstGeom>
          <a:ln w="22225">
            <a:solidFill>
              <a:srgbClr val="C9A15B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 rot="-180000">
            <a:off x="5888736" y="3986784"/>
            <a:ext cx="1435608" cy="1874520"/>
          </a:xfrm>
          <a:prstGeom prst="rect">
            <a:avLst/>
          </a:prstGeom>
          <a:solidFill>
            <a:srgbClr val="E7E0D2"/>
          </a:solidFill>
          <a:ln/>
          <a:effectLst>
            <a:outerShdw sx="100000" sy="100000" kx="0" ky="0" algn="bl" rotWithShape="0" blurRad="203200" dist="76200" dir="5400000">
              <a:srgbClr val="000000">
                <a:alpha val="65000"/>
              </a:srgbClr>
            </a:outerShdw>
          </a:effectLst>
        </p:spPr>
      </p:sp>
      <p:pic>
        <p:nvPicPr>
          <p:cNvPr id="6" name="Image 2" descr="/root/deckwork/assets/a_chil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80000">
            <a:off x="5943600" y="4041648"/>
            <a:ext cx="1325880" cy="1764792"/>
          </a:xfrm>
          <a:prstGeom prst="rect">
            <a:avLst/>
          </a:prstGeom>
        </p:spPr>
      </p:pic>
      <p:sp>
        <p:nvSpPr>
          <p:cNvPr id="7" name="!!year"/>
          <p:cNvSpPr txBox="1"/>
          <p:nvPr/>
        </p:nvSpPr>
        <p:spPr>
          <a:xfrm>
            <a:off x="685800" y="38404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C9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1899</a:t>
            </a:r>
            <a:endParaRPr lang="en-US" sz="6000" dirty="0"/>
          </a:p>
        </p:txBody>
      </p:sp>
      <p:sp>
        <p:nvSpPr>
          <p:cNvPr id="8" name="!!title"/>
          <p:cNvSpPr txBox="1"/>
          <p:nvPr/>
        </p:nvSpPr>
        <p:spPr>
          <a:xfrm>
            <a:off x="685800" y="1335024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Детство и школа</a:t>
            </a:r>
            <a:endParaRPr lang="en-US" sz="3600" dirty="0"/>
          </a:p>
        </p:txBody>
      </p:sp>
      <p:sp>
        <p:nvSpPr>
          <p:cNvPr id="9" name="!!body"/>
          <p:cNvSpPr txBox="1"/>
          <p:nvPr/>
        </p:nvSpPr>
        <p:spPr>
          <a:xfrm>
            <a:off x="685800" y="2212848"/>
            <a:ext cx="4526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Отца часто переводили по службе, и семья кочевала: Пассау, Хафельд, Ламбах, Леондинг под Линцем. В начальной школе Адольф учился хорошо и пел в хоре монастыря в Ламбахе. Дома было тяжелее: строгий Алоис хотел сделать из сына чиновника, а тот мечтал стать художником. В реальном училище в Линце он остался на второй год, потом перешёл в училище в Штайре и в 1905 году, 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16 лет, бросил учёбу без аттестата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!!cap"/>
          <p:cNvSpPr txBox="1"/>
          <p:nvPr/>
        </p:nvSpPr>
        <p:spPr>
          <a:xfrm>
            <a:off x="7635240" y="5669280"/>
            <a:ext cx="38706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B9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 в Леондинге, 1899 (Адольф — в круге) · детское фото ок. 1889–1890 (Бундесархив) · Wikimedia Commons</a:t>
            </a:r>
            <a:endParaRPr lang="en-US" sz="900" dirty="0"/>
          </a:p>
        </p:txBody>
      </p:sp>
      <p:sp>
        <p:nvSpPr>
          <p:cNvPr id="11" name="!!tl"/>
          <p:cNvSpPr/>
          <p:nvPr/>
        </p:nvSpPr>
        <p:spPr>
          <a:xfrm>
            <a:off x="685800" y="6400800"/>
            <a:ext cx="10820095" cy="0"/>
          </a:xfrm>
          <a:prstGeom prst="line">
            <a:avLst/>
          </a:prstGeom>
          <a:noFill/>
          <a:ln w="9525">
            <a:solidFill>
              <a:srgbClr val="3A3632"/>
            </a:solidFill>
            <a:prstDash val="solid"/>
          </a:ln>
        </p:spPr>
      </p:sp>
      <p:sp>
        <p:nvSpPr>
          <p:cNvPr id="12" name="!!tk1889"/>
          <p:cNvSpPr/>
          <p:nvPr/>
        </p:nvSpPr>
        <p:spPr>
          <a:xfrm>
            <a:off x="680314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3" name="!!tk1899"/>
          <p:cNvSpPr/>
          <p:nvPr/>
        </p:nvSpPr>
        <p:spPr>
          <a:xfrm>
            <a:off x="4287012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4" name="!!tk1907"/>
          <p:cNvSpPr/>
          <p:nvPr/>
        </p:nvSpPr>
        <p:spPr>
          <a:xfrm>
            <a:off x="7172371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5" name="!!tk1910"/>
          <p:cNvSpPr/>
          <p:nvPr/>
        </p:nvSpPr>
        <p:spPr>
          <a:xfrm>
            <a:off x="825438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6" name="!!tk1912"/>
          <p:cNvSpPr/>
          <p:nvPr/>
        </p:nvSpPr>
        <p:spPr>
          <a:xfrm>
            <a:off x="897572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7" name="!!tk1913"/>
          <p:cNvSpPr/>
          <p:nvPr/>
        </p:nvSpPr>
        <p:spPr>
          <a:xfrm>
            <a:off x="933639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8" name="!!tk1914"/>
          <p:cNvSpPr/>
          <p:nvPr/>
        </p:nvSpPr>
        <p:spPr>
          <a:xfrm>
            <a:off x="969706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9" name="!!tk1916"/>
          <p:cNvSpPr/>
          <p:nvPr/>
        </p:nvSpPr>
        <p:spPr>
          <a:xfrm>
            <a:off x="1041839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0" name="!!tk1918"/>
          <p:cNvSpPr/>
          <p:nvPr/>
        </p:nvSpPr>
        <p:spPr>
          <a:xfrm>
            <a:off x="1113973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1" name="!!tk1919"/>
          <p:cNvSpPr/>
          <p:nvPr/>
        </p:nvSpPr>
        <p:spPr>
          <a:xfrm>
            <a:off x="1150040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2" name="!!tlp"/>
          <p:cNvSpPr/>
          <p:nvPr/>
        </p:nvSpPr>
        <p:spPr>
          <a:xfrm>
            <a:off x="685800" y="6392570"/>
            <a:ext cx="3606698" cy="16459"/>
          </a:xfrm>
          <a:prstGeom prst="rect">
            <a:avLst/>
          </a:prstGeom>
          <a:solidFill>
            <a:srgbClr val="C9A15B"/>
          </a:solidFill>
          <a:ln/>
        </p:spPr>
      </p:sp>
      <p:sp>
        <p:nvSpPr>
          <p:cNvPr id="23" name="!!tlh"/>
          <p:cNvSpPr/>
          <p:nvPr/>
        </p:nvSpPr>
        <p:spPr>
          <a:xfrm>
            <a:off x="4155338" y="6263640"/>
            <a:ext cx="274320" cy="274320"/>
          </a:xfrm>
          <a:prstGeom prst="ellipse">
            <a:avLst/>
          </a:prstGeom>
          <a:solidFill>
            <a:srgbClr val="C9A15B">
              <a:alpha val="18000"/>
            </a:srgbClr>
          </a:solidFill>
          <a:ln/>
        </p:spPr>
      </p:sp>
      <p:sp>
        <p:nvSpPr>
          <p:cNvPr id="24" name="!!tld"/>
          <p:cNvSpPr/>
          <p:nvPr/>
        </p:nvSpPr>
        <p:spPr>
          <a:xfrm>
            <a:off x="4237634" y="6345936"/>
            <a:ext cx="109728" cy="109728"/>
          </a:xfrm>
          <a:prstGeom prst="ellipse">
            <a:avLst/>
          </a:prstGeom>
          <a:solidFill>
            <a:srgbClr val="C9A15B"/>
          </a:solidFill>
          <a:ln/>
        </p:spPr>
      </p:sp>
      <p:sp>
        <p:nvSpPr>
          <p:cNvPr id="25" name="!!tly"/>
          <p:cNvSpPr txBox="1"/>
          <p:nvPr/>
        </p:nvSpPr>
        <p:spPr>
          <a:xfrm>
            <a:off x="3835298" y="60716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1899</a:t>
            </a:r>
            <a:endParaRPr lang="en-US" sz="900" dirty="0"/>
          </a:p>
        </p:txBody>
      </p:sp>
      <p:sp>
        <p:nvSpPr>
          <p:cNvPr id="26" name="!!tl0"/>
          <p:cNvSpPr txBox="1"/>
          <p:nvPr/>
        </p:nvSpPr>
        <p:spPr>
          <a:xfrm>
            <a:off x="685800" y="6492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1889</a:t>
            </a:r>
            <a:endParaRPr lang="en-US" sz="800" dirty="0"/>
          </a:p>
        </p:txBody>
      </p:sp>
      <p:sp>
        <p:nvSpPr>
          <p:cNvPr id="27" name="!!tl1"/>
          <p:cNvSpPr txBox="1"/>
          <p:nvPr/>
        </p:nvSpPr>
        <p:spPr>
          <a:xfrm>
            <a:off x="10774375" y="6492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1919</a:t>
            </a:r>
            <a:endParaRPr lang="en-US" sz="800" dirty="0"/>
          </a:p>
        </p:txBody>
      </p:sp>
      <p:sp>
        <p:nvSpPr>
          <p:cNvPr id="28" name="!!count"/>
          <p:cNvSpPr txBox="1"/>
          <p:nvPr/>
        </p:nvSpPr>
        <p:spPr>
          <a:xfrm>
            <a:off x="10225735" y="3108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900" dirty="0"/>
          </a:p>
        </p:txBody>
      </p:sp>
      <p:pic>
        <p:nvPicPr>
          <p:cNvPr id="29" name="!!grain" descr="/root/deckwork/assets/g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work/assets/p_moth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394960" cy="6858000"/>
          </a:xfrm>
          <a:prstGeom prst="rect">
            <a:avLst/>
          </a:prstGeom>
        </p:spPr>
      </p:pic>
      <p:pic>
        <p:nvPicPr>
          <p:cNvPr id="3" name="Image 1" descr="/root/deckwork/assets/ov_moth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94960" cy="6858000"/>
          </a:xfrm>
          <a:prstGeom prst="rect">
            <a:avLst/>
          </a:prstGeom>
        </p:spPr>
      </p:pic>
      <p:sp>
        <p:nvSpPr>
          <p:cNvPr id="4" name="!!year"/>
          <p:cNvSpPr txBox="1"/>
          <p:nvPr/>
        </p:nvSpPr>
        <p:spPr>
          <a:xfrm>
            <a:off x="6126480" y="384048"/>
            <a:ext cx="5376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C9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1907</a:t>
            </a:r>
            <a:endParaRPr lang="en-US" sz="6000" dirty="0"/>
          </a:p>
        </p:txBody>
      </p:sp>
      <p:sp>
        <p:nvSpPr>
          <p:cNvPr id="5" name="!!title"/>
          <p:cNvSpPr txBox="1"/>
          <p:nvPr/>
        </p:nvSpPr>
        <p:spPr>
          <a:xfrm>
            <a:off x="6126480" y="1335024"/>
            <a:ext cx="5376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Смерть родителей</a:t>
            </a:r>
            <a:endParaRPr lang="en-US" sz="3600" dirty="0"/>
          </a:p>
        </p:txBody>
      </p:sp>
      <p:sp>
        <p:nvSpPr>
          <p:cNvPr id="6" name="!!body"/>
          <p:cNvSpPr txBox="1"/>
          <p:nvPr/>
        </p:nvSpPr>
        <p:spPr>
          <a:xfrm>
            <a:off x="6126480" y="2212848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января 1903 года Алоис внезапно умер прямо в трактире в Леондинге. Для сына это стало скорее облегчением. Совсем иначе он пережил смерть матери: Клара умерла от рака груди 21 декабря 1907 года, ей было 47 лет. Её лечил врач 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Эдуард Блох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еврей. Гитлер благодарил его открытками, а в 1938 году, после присоединения Австрии к Германии, взял его под личную защиту и позволил эмигрировать.</a:t>
            </a:r>
            <a:endParaRPr lang="en-US" sz="1600" dirty="0"/>
          </a:p>
        </p:txBody>
      </p:sp>
      <p:sp>
        <p:nvSpPr>
          <p:cNvPr id="7" name="!!cap"/>
          <p:cNvSpPr txBox="1"/>
          <p:nvPr/>
        </p:nvSpPr>
        <p:spPr>
          <a:xfrm>
            <a:off x="685800" y="57058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B9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Клара Гитлер (1860–1907) · Wikimedia Commons</a:t>
            </a:r>
            <a:endParaRPr lang="en-US" sz="900" dirty="0"/>
          </a:p>
        </p:txBody>
      </p:sp>
      <p:sp>
        <p:nvSpPr>
          <p:cNvPr id="8" name="!!tl"/>
          <p:cNvSpPr/>
          <p:nvPr/>
        </p:nvSpPr>
        <p:spPr>
          <a:xfrm>
            <a:off x="685800" y="6400800"/>
            <a:ext cx="10820095" cy="0"/>
          </a:xfrm>
          <a:prstGeom prst="line">
            <a:avLst/>
          </a:prstGeom>
          <a:noFill/>
          <a:ln w="9525">
            <a:solidFill>
              <a:srgbClr val="3A3632"/>
            </a:solidFill>
            <a:prstDash val="solid"/>
          </a:ln>
        </p:spPr>
      </p:sp>
      <p:sp>
        <p:nvSpPr>
          <p:cNvPr id="9" name="!!tk1889"/>
          <p:cNvSpPr/>
          <p:nvPr/>
        </p:nvSpPr>
        <p:spPr>
          <a:xfrm>
            <a:off x="680314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0" name="!!tk1899"/>
          <p:cNvSpPr/>
          <p:nvPr/>
        </p:nvSpPr>
        <p:spPr>
          <a:xfrm>
            <a:off x="4287012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1" name="!!tk1907"/>
          <p:cNvSpPr/>
          <p:nvPr/>
        </p:nvSpPr>
        <p:spPr>
          <a:xfrm>
            <a:off x="7172371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2" name="!!tk1910"/>
          <p:cNvSpPr/>
          <p:nvPr/>
        </p:nvSpPr>
        <p:spPr>
          <a:xfrm>
            <a:off x="825438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3" name="!!tk1912"/>
          <p:cNvSpPr/>
          <p:nvPr/>
        </p:nvSpPr>
        <p:spPr>
          <a:xfrm>
            <a:off x="897572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4" name="!!tk1913"/>
          <p:cNvSpPr/>
          <p:nvPr/>
        </p:nvSpPr>
        <p:spPr>
          <a:xfrm>
            <a:off x="933639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5" name="!!tk1914"/>
          <p:cNvSpPr/>
          <p:nvPr/>
        </p:nvSpPr>
        <p:spPr>
          <a:xfrm>
            <a:off x="969706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6" name="!!tk1916"/>
          <p:cNvSpPr/>
          <p:nvPr/>
        </p:nvSpPr>
        <p:spPr>
          <a:xfrm>
            <a:off x="1041839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7" name="!!tk1918"/>
          <p:cNvSpPr/>
          <p:nvPr/>
        </p:nvSpPr>
        <p:spPr>
          <a:xfrm>
            <a:off x="1113973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8" name="!!tk1919"/>
          <p:cNvSpPr/>
          <p:nvPr/>
        </p:nvSpPr>
        <p:spPr>
          <a:xfrm>
            <a:off x="1150040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9" name="!!tlp"/>
          <p:cNvSpPr/>
          <p:nvPr/>
        </p:nvSpPr>
        <p:spPr>
          <a:xfrm>
            <a:off x="685800" y="6392570"/>
            <a:ext cx="6492057" cy="16459"/>
          </a:xfrm>
          <a:prstGeom prst="rect">
            <a:avLst/>
          </a:prstGeom>
          <a:solidFill>
            <a:srgbClr val="C9A15B"/>
          </a:solidFill>
          <a:ln/>
        </p:spPr>
      </p:sp>
      <p:sp>
        <p:nvSpPr>
          <p:cNvPr id="20" name="!!tlh"/>
          <p:cNvSpPr/>
          <p:nvPr/>
        </p:nvSpPr>
        <p:spPr>
          <a:xfrm>
            <a:off x="7040697" y="6263640"/>
            <a:ext cx="274320" cy="274320"/>
          </a:xfrm>
          <a:prstGeom prst="ellipse">
            <a:avLst/>
          </a:prstGeom>
          <a:solidFill>
            <a:srgbClr val="C9A15B">
              <a:alpha val="18000"/>
            </a:srgbClr>
          </a:solidFill>
          <a:ln/>
        </p:spPr>
      </p:sp>
      <p:sp>
        <p:nvSpPr>
          <p:cNvPr id="21" name="!!tld"/>
          <p:cNvSpPr/>
          <p:nvPr/>
        </p:nvSpPr>
        <p:spPr>
          <a:xfrm>
            <a:off x="7122993" y="6345936"/>
            <a:ext cx="109728" cy="109728"/>
          </a:xfrm>
          <a:prstGeom prst="ellipse">
            <a:avLst/>
          </a:prstGeom>
          <a:solidFill>
            <a:srgbClr val="C9A15B"/>
          </a:solidFill>
          <a:ln/>
        </p:spPr>
      </p:sp>
      <p:sp>
        <p:nvSpPr>
          <p:cNvPr id="22" name="!!tly"/>
          <p:cNvSpPr txBox="1"/>
          <p:nvPr/>
        </p:nvSpPr>
        <p:spPr>
          <a:xfrm>
            <a:off x="6720657" y="60716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1907</a:t>
            </a:r>
            <a:endParaRPr lang="en-US" sz="900" dirty="0"/>
          </a:p>
        </p:txBody>
      </p:sp>
      <p:sp>
        <p:nvSpPr>
          <p:cNvPr id="23" name="!!tl0"/>
          <p:cNvSpPr txBox="1"/>
          <p:nvPr/>
        </p:nvSpPr>
        <p:spPr>
          <a:xfrm>
            <a:off x="685800" y="6492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1889</a:t>
            </a:r>
            <a:endParaRPr lang="en-US" sz="800" dirty="0"/>
          </a:p>
        </p:txBody>
      </p:sp>
      <p:sp>
        <p:nvSpPr>
          <p:cNvPr id="24" name="!!tl1"/>
          <p:cNvSpPr txBox="1"/>
          <p:nvPr/>
        </p:nvSpPr>
        <p:spPr>
          <a:xfrm>
            <a:off x="10774375" y="6492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1919</a:t>
            </a:r>
            <a:endParaRPr lang="en-US" sz="800" dirty="0"/>
          </a:p>
        </p:txBody>
      </p:sp>
      <p:sp>
        <p:nvSpPr>
          <p:cNvPr id="25" name="!!count"/>
          <p:cNvSpPr txBox="1"/>
          <p:nvPr/>
        </p:nvSpPr>
        <p:spPr>
          <a:xfrm>
            <a:off x="10225735" y="3108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900" dirty="0"/>
          </a:p>
        </p:txBody>
      </p:sp>
      <p:pic>
        <p:nvPicPr>
          <p:cNvPr id="26" name="!!grain" descr="/root/deckwork/assets/g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work/assets/bg_academ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root/deckwork/assets/ov_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!!year"/>
          <p:cNvSpPr txBox="1"/>
          <p:nvPr/>
        </p:nvSpPr>
        <p:spPr>
          <a:xfrm>
            <a:off x="685800" y="384048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C9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1907</a:t>
            </a:r>
            <a:endParaRPr lang="en-US" sz="6000" dirty="0"/>
          </a:p>
        </p:txBody>
      </p:sp>
      <p:sp>
        <p:nvSpPr>
          <p:cNvPr id="5" name="!!title"/>
          <p:cNvSpPr txBox="1"/>
          <p:nvPr/>
        </p:nvSpPr>
        <p:spPr>
          <a:xfrm>
            <a:off x="685800" y="1335024"/>
            <a:ext cx="60350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i="1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«Пробный рисунок неудовлетворителен. Мало голов»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704088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Пометка экзаменаторов Венской академии изящных искусств, октябрь 1907</a:t>
            </a:r>
            <a:endParaRPr lang="en-US" sz="1050" dirty="0"/>
          </a:p>
        </p:txBody>
      </p:sp>
      <p:sp>
        <p:nvSpPr>
          <p:cNvPr id="7" name="!!body"/>
          <p:cNvSpPr txBox="1"/>
          <p:nvPr/>
        </p:nvSpPr>
        <p:spPr>
          <a:xfrm>
            <a:off x="685800" y="338328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Осенью 1907 года 18-летний Гитлер приехал в Вену поступать в Академию изящных искусств. Первый тур он прошёл, а на втором провалился. Через год его 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допустили даже к экзамену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По его словам, ректор советовал ему учиться на архитектора, но для этого нужен был школьный аттестат.</a:t>
            </a:r>
            <a:endParaRPr lang="en-US" sz="1600" dirty="0"/>
          </a:p>
        </p:txBody>
      </p:sp>
      <p:sp>
        <p:nvSpPr>
          <p:cNvPr id="8" name="!!cap"/>
          <p:cNvSpPr txBox="1"/>
          <p:nvPr/>
        </p:nvSpPr>
        <p:spPr>
          <a:xfrm>
            <a:off x="6568135" y="57058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B9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Академия изящных искусств, Вена (современный вид) · фото: F. Böhringer, CC BY-SA 3.0 AT</a:t>
            </a:r>
            <a:endParaRPr lang="en-US" sz="900" dirty="0"/>
          </a:p>
        </p:txBody>
      </p:sp>
      <p:sp>
        <p:nvSpPr>
          <p:cNvPr id="9" name="!!tl"/>
          <p:cNvSpPr/>
          <p:nvPr/>
        </p:nvSpPr>
        <p:spPr>
          <a:xfrm>
            <a:off x="685800" y="6400800"/>
            <a:ext cx="10820095" cy="0"/>
          </a:xfrm>
          <a:prstGeom prst="line">
            <a:avLst/>
          </a:prstGeom>
          <a:noFill/>
          <a:ln w="9525">
            <a:solidFill>
              <a:srgbClr val="3A3632"/>
            </a:solidFill>
            <a:prstDash val="solid"/>
          </a:ln>
        </p:spPr>
      </p:sp>
      <p:sp>
        <p:nvSpPr>
          <p:cNvPr id="10" name="!!tk1889"/>
          <p:cNvSpPr/>
          <p:nvPr/>
        </p:nvSpPr>
        <p:spPr>
          <a:xfrm>
            <a:off x="680314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1" name="!!tk1899"/>
          <p:cNvSpPr/>
          <p:nvPr/>
        </p:nvSpPr>
        <p:spPr>
          <a:xfrm>
            <a:off x="4287012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2" name="!!tk1907"/>
          <p:cNvSpPr/>
          <p:nvPr/>
        </p:nvSpPr>
        <p:spPr>
          <a:xfrm>
            <a:off x="7172371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3" name="!!tk1910"/>
          <p:cNvSpPr/>
          <p:nvPr/>
        </p:nvSpPr>
        <p:spPr>
          <a:xfrm>
            <a:off x="825438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4" name="!!tk1912"/>
          <p:cNvSpPr/>
          <p:nvPr/>
        </p:nvSpPr>
        <p:spPr>
          <a:xfrm>
            <a:off x="897572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5" name="!!tk1913"/>
          <p:cNvSpPr/>
          <p:nvPr/>
        </p:nvSpPr>
        <p:spPr>
          <a:xfrm>
            <a:off x="933639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6" name="!!tk1914"/>
          <p:cNvSpPr/>
          <p:nvPr/>
        </p:nvSpPr>
        <p:spPr>
          <a:xfrm>
            <a:off x="969706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7" name="!!tk1916"/>
          <p:cNvSpPr/>
          <p:nvPr/>
        </p:nvSpPr>
        <p:spPr>
          <a:xfrm>
            <a:off x="1041839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8" name="!!tk1918"/>
          <p:cNvSpPr/>
          <p:nvPr/>
        </p:nvSpPr>
        <p:spPr>
          <a:xfrm>
            <a:off x="1113973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9" name="!!tk1919"/>
          <p:cNvSpPr/>
          <p:nvPr/>
        </p:nvSpPr>
        <p:spPr>
          <a:xfrm>
            <a:off x="1150040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0" name="!!tlp"/>
          <p:cNvSpPr/>
          <p:nvPr/>
        </p:nvSpPr>
        <p:spPr>
          <a:xfrm>
            <a:off x="685800" y="6392570"/>
            <a:ext cx="6492057" cy="16459"/>
          </a:xfrm>
          <a:prstGeom prst="rect">
            <a:avLst/>
          </a:prstGeom>
          <a:solidFill>
            <a:srgbClr val="C9A15B"/>
          </a:solidFill>
          <a:ln/>
        </p:spPr>
      </p:sp>
      <p:sp>
        <p:nvSpPr>
          <p:cNvPr id="21" name="!!tlh"/>
          <p:cNvSpPr/>
          <p:nvPr/>
        </p:nvSpPr>
        <p:spPr>
          <a:xfrm>
            <a:off x="7040697" y="6263640"/>
            <a:ext cx="274320" cy="274320"/>
          </a:xfrm>
          <a:prstGeom prst="ellipse">
            <a:avLst/>
          </a:prstGeom>
          <a:solidFill>
            <a:srgbClr val="C9A15B">
              <a:alpha val="18000"/>
            </a:srgbClr>
          </a:solidFill>
          <a:ln/>
        </p:spPr>
      </p:sp>
      <p:sp>
        <p:nvSpPr>
          <p:cNvPr id="22" name="!!tld"/>
          <p:cNvSpPr/>
          <p:nvPr/>
        </p:nvSpPr>
        <p:spPr>
          <a:xfrm>
            <a:off x="7122993" y="6345936"/>
            <a:ext cx="109728" cy="109728"/>
          </a:xfrm>
          <a:prstGeom prst="ellipse">
            <a:avLst/>
          </a:prstGeom>
          <a:solidFill>
            <a:srgbClr val="C9A15B"/>
          </a:solidFill>
          <a:ln/>
        </p:spPr>
      </p:sp>
      <p:sp>
        <p:nvSpPr>
          <p:cNvPr id="23" name="!!tly"/>
          <p:cNvSpPr txBox="1"/>
          <p:nvPr/>
        </p:nvSpPr>
        <p:spPr>
          <a:xfrm>
            <a:off x="6720657" y="60716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1907</a:t>
            </a:r>
            <a:endParaRPr lang="en-US" sz="900" dirty="0"/>
          </a:p>
        </p:txBody>
      </p:sp>
      <p:sp>
        <p:nvSpPr>
          <p:cNvPr id="24" name="!!tl0"/>
          <p:cNvSpPr txBox="1"/>
          <p:nvPr/>
        </p:nvSpPr>
        <p:spPr>
          <a:xfrm>
            <a:off x="685800" y="6492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1889</a:t>
            </a:r>
            <a:endParaRPr lang="en-US" sz="800" dirty="0"/>
          </a:p>
        </p:txBody>
      </p:sp>
      <p:sp>
        <p:nvSpPr>
          <p:cNvPr id="25" name="!!tl1"/>
          <p:cNvSpPr txBox="1"/>
          <p:nvPr/>
        </p:nvSpPr>
        <p:spPr>
          <a:xfrm>
            <a:off x="10774375" y="6492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1919</a:t>
            </a:r>
            <a:endParaRPr lang="en-US" sz="800" dirty="0"/>
          </a:p>
        </p:txBody>
      </p:sp>
      <p:sp>
        <p:nvSpPr>
          <p:cNvPr id="26" name="!!count"/>
          <p:cNvSpPr txBox="1"/>
          <p:nvPr/>
        </p:nvSpPr>
        <p:spPr>
          <a:xfrm>
            <a:off x="10225735" y="3108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900" dirty="0"/>
          </a:p>
        </p:txBody>
      </p:sp>
      <p:pic>
        <p:nvPicPr>
          <p:cNvPr id="27" name="!!grain" descr="/root/deckwork/assets/g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work/assets/amb_pai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root/deckwork/assets/ov_amb_so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85800" y="658368"/>
            <a:ext cx="4982649" cy="3703320"/>
          </a:xfrm>
          <a:prstGeom prst="rect">
            <a:avLst/>
          </a:prstGeom>
          <a:solidFill>
            <a:srgbClr val="000000"/>
          </a:solidFill>
          <a:ln/>
          <a:effectLst>
            <a:outerShdw sx="100000" sy="100000" kx="0" ky="0" algn="bl" rotWithShape="0" blurRad="228600" dist="88900" dir="5400000">
              <a:srgbClr val="000000">
                <a:alpha val="70000"/>
              </a:srgbClr>
            </a:outerShdw>
          </a:effectLst>
        </p:spPr>
      </p:sp>
      <p:pic>
        <p:nvPicPr>
          <p:cNvPr id="5" name="Image 2" descr="/root/deckwork/assets/a_oper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58368"/>
            <a:ext cx="4982649" cy="370332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5988489" y="658368"/>
            <a:ext cx="5145736" cy="3703320"/>
          </a:xfrm>
          <a:prstGeom prst="rect">
            <a:avLst/>
          </a:prstGeom>
          <a:solidFill>
            <a:srgbClr val="000000"/>
          </a:solidFill>
          <a:ln/>
          <a:effectLst>
            <a:outerShdw sx="100000" sy="100000" kx="0" ky="0" algn="bl" rotWithShape="0" blurRad="228600" dist="88900" dir="5400000">
              <a:srgbClr val="000000">
                <a:alpha val="70000"/>
              </a:srgbClr>
            </a:outerShdw>
          </a:effectLst>
        </p:spPr>
      </p:sp>
      <p:pic>
        <p:nvPicPr>
          <p:cNvPr id="7" name="Image 3" descr="/root/deckwork/assets/a_hof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489" y="658368"/>
            <a:ext cx="5145736" cy="370332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685800" y="4480560"/>
            <a:ext cx="49826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E97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«Венская опера», ок. 1912</a:t>
            </a:r>
            <a:endParaRPr lang="en-US" sz="1200" dirty="0"/>
          </a:p>
        </p:txBody>
      </p:sp>
      <p:sp>
        <p:nvSpPr>
          <p:cNvPr id="9" name="Text 3"/>
          <p:cNvSpPr txBox="1"/>
          <p:nvPr/>
        </p:nvSpPr>
        <p:spPr>
          <a:xfrm>
            <a:off x="5988489" y="4480560"/>
            <a:ext cx="51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E97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«Старый двор», Мюнхен, 1914</a:t>
            </a:r>
            <a:endParaRPr lang="en-US" sz="1200" dirty="0"/>
          </a:p>
        </p:txBody>
      </p:sp>
      <p:sp>
        <p:nvSpPr>
          <p:cNvPr id="10" name="!!title"/>
          <p:cNvSpPr txBox="1"/>
          <p:nvPr/>
        </p:nvSpPr>
        <p:spPr>
          <a:xfrm>
            <a:off x="685800" y="486460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Картины на продажу</a:t>
            </a:r>
            <a:endParaRPr lang="en-US" sz="3400" dirty="0"/>
          </a:p>
        </p:txBody>
      </p:sp>
      <p:sp>
        <p:nvSpPr>
          <p:cNvPr id="11" name="!!body"/>
          <p:cNvSpPr txBox="1"/>
          <p:nvPr/>
        </p:nvSpPr>
        <p:spPr>
          <a:xfrm>
            <a:off x="5988489" y="4901184"/>
            <a:ext cx="551740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Акварели и открытки были его главным заработком в Вене и Мюнхене. Он рисовал оперу, церкви, старые дворы, часто срисовывая их с открыток. Получалось аккуратно, почти по линейке, но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людей почти нет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Сегодня многие «картины Гитлера» на аукционах — подделки.</a:t>
            </a:r>
            <a:endParaRPr lang="en-US" sz="1400" dirty="0"/>
          </a:p>
        </p:txBody>
      </p:sp>
      <p:sp>
        <p:nvSpPr>
          <p:cNvPr id="12" name="!!cap"/>
          <p:cNvSpPr txBox="1"/>
          <p:nvPr/>
        </p:nvSpPr>
        <p:spPr>
          <a:xfrm>
            <a:off x="685800" y="546811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B9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Акварели А. Гитлера · Wikimedia Commons (общественное достояние)</a:t>
            </a:r>
            <a:endParaRPr lang="en-US" sz="900" dirty="0"/>
          </a:p>
        </p:txBody>
      </p:sp>
      <p:sp>
        <p:nvSpPr>
          <p:cNvPr id="13" name="!!tl"/>
          <p:cNvSpPr/>
          <p:nvPr/>
        </p:nvSpPr>
        <p:spPr>
          <a:xfrm>
            <a:off x="685800" y="6400800"/>
            <a:ext cx="10820095" cy="0"/>
          </a:xfrm>
          <a:prstGeom prst="line">
            <a:avLst/>
          </a:prstGeom>
          <a:noFill/>
          <a:ln w="9525">
            <a:solidFill>
              <a:srgbClr val="3A3632"/>
            </a:solidFill>
            <a:prstDash val="solid"/>
          </a:ln>
        </p:spPr>
      </p:sp>
      <p:sp>
        <p:nvSpPr>
          <p:cNvPr id="14" name="!!tk1889"/>
          <p:cNvSpPr/>
          <p:nvPr/>
        </p:nvSpPr>
        <p:spPr>
          <a:xfrm>
            <a:off x="680314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5" name="!!tk1899"/>
          <p:cNvSpPr/>
          <p:nvPr/>
        </p:nvSpPr>
        <p:spPr>
          <a:xfrm>
            <a:off x="4287012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6" name="!!tk1907"/>
          <p:cNvSpPr/>
          <p:nvPr/>
        </p:nvSpPr>
        <p:spPr>
          <a:xfrm>
            <a:off x="7172371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7" name="!!tk1910"/>
          <p:cNvSpPr/>
          <p:nvPr/>
        </p:nvSpPr>
        <p:spPr>
          <a:xfrm>
            <a:off x="825438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8" name="!!tk1912"/>
          <p:cNvSpPr/>
          <p:nvPr/>
        </p:nvSpPr>
        <p:spPr>
          <a:xfrm>
            <a:off x="897572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9" name="!!tk1913"/>
          <p:cNvSpPr/>
          <p:nvPr/>
        </p:nvSpPr>
        <p:spPr>
          <a:xfrm>
            <a:off x="933639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0" name="!!tk1914"/>
          <p:cNvSpPr/>
          <p:nvPr/>
        </p:nvSpPr>
        <p:spPr>
          <a:xfrm>
            <a:off x="969706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1" name="!!tk1916"/>
          <p:cNvSpPr/>
          <p:nvPr/>
        </p:nvSpPr>
        <p:spPr>
          <a:xfrm>
            <a:off x="1041839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2" name="!!tk1918"/>
          <p:cNvSpPr/>
          <p:nvPr/>
        </p:nvSpPr>
        <p:spPr>
          <a:xfrm>
            <a:off x="1113973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3" name="!!tk1919"/>
          <p:cNvSpPr/>
          <p:nvPr/>
        </p:nvSpPr>
        <p:spPr>
          <a:xfrm>
            <a:off x="1150040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4" name="!!tlp"/>
          <p:cNvSpPr/>
          <p:nvPr/>
        </p:nvSpPr>
        <p:spPr>
          <a:xfrm>
            <a:off x="685800" y="6392570"/>
            <a:ext cx="8295406" cy="16459"/>
          </a:xfrm>
          <a:prstGeom prst="rect">
            <a:avLst/>
          </a:prstGeom>
          <a:solidFill>
            <a:srgbClr val="C9A15B"/>
          </a:solidFill>
          <a:ln/>
        </p:spPr>
      </p:sp>
      <p:sp>
        <p:nvSpPr>
          <p:cNvPr id="25" name="!!tlh"/>
          <p:cNvSpPr/>
          <p:nvPr/>
        </p:nvSpPr>
        <p:spPr>
          <a:xfrm>
            <a:off x="8844046" y="6263640"/>
            <a:ext cx="274320" cy="274320"/>
          </a:xfrm>
          <a:prstGeom prst="ellipse">
            <a:avLst/>
          </a:prstGeom>
          <a:solidFill>
            <a:srgbClr val="C9A15B">
              <a:alpha val="18000"/>
            </a:srgbClr>
          </a:solidFill>
          <a:ln/>
        </p:spPr>
      </p:sp>
      <p:sp>
        <p:nvSpPr>
          <p:cNvPr id="26" name="!!tld"/>
          <p:cNvSpPr/>
          <p:nvPr/>
        </p:nvSpPr>
        <p:spPr>
          <a:xfrm>
            <a:off x="8926342" y="6345936"/>
            <a:ext cx="109728" cy="109728"/>
          </a:xfrm>
          <a:prstGeom prst="ellipse">
            <a:avLst/>
          </a:prstGeom>
          <a:solidFill>
            <a:srgbClr val="C9A15B"/>
          </a:solidFill>
          <a:ln/>
        </p:spPr>
      </p:sp>
      <p:sp>
        <p:nvSpPr>
          <p:cNvPr id="27" name="!!tly"/>
          <p:cNvSpPr txBox="1"/>
          <p:nvPr/>
        </p:nvSpPr>
        <p:spPr>
          <a:xfrm>
            <a:off x="8524006" y="60716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1912</a:t>
            </a:r>
            <a:endParaRPr lang="en-US" sz="900" dirty="0"/>
          </a:p>
        </p:txBody>
      </p:sp>
      <p:sp>
        <p:nvSpPr>
          <p:cNvPr id="28" name="!!tl0"/>
          <p:cNvSpPr txBox="1"/>
          <p:nvPr/>
        </p:nvSpPr>
        <p:spPr>
          <a:xfrm>
            <a:off x="685800" y="6492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1889</a:t>
            </a:r>
            <a:endParaRPr lang="en-US" sz="800" dirty="0"/>
          </a:p>
        </p:txBody>
      </p:sp>
      <p:sp>
        <p:nvSpPr>
          <p:cNvPr id="29" name="!!tl1"/>
          <p:cNvSpPr txBox="1"/>
          <p:nvPr/>
        </p:nvSpPr>
        <p:spPr>
          <a:xfrm>
            <a:off x="10774375" y="6492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1919</a:t>
            </a:r>
            <a:endParaRPr lang="en-US" sz="800" dirty="0"/>
          </a:p>
        </p:txBody>
      </p:sp>
      <p:sp>
        <p:nvSpPr>
          <p:cNvPr id="30" name="!!count"/>
          <p:cNvSpPr txBox="1"/>
          <p:nvPr/>
        </p:nvSpPr>
        <p:spPr>
          <a:xfrm>
            <a:off x="10225735" y="3108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900" dirty="0"/>
          </a:p>
        </p:txBody>
      </p:sp>
      <p:pic>
        <p:nvPicPr>
          <p:cNvPr id="31" name="!!grain" descr="/root/deckwork/assets/gra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work/assets/amb_hoste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root/deckwork/assets/ov_am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rot="-120000">
            <a:off x="5669280" y="1051560"/>
            <a:ext cx="5715000" cy="3375025"/>
          </a:xfrm>
          <a:prstGeom prst="rect">
            <a:avLst/>
          </a:prstGeom>
          <a:solidFill>
            <a:srgbClr val="E7E0D2"/>
          </a:solidFill>
          <a:ln/>
          <a:effectLst>
            <a:outerShdw sx="100000" sy="100000" kx="0" ky="0" algn="bl" rotWithShape="0" blurRad="203200" dist="76200" dir="5400000">
              <a:srgbClr val="000000">
                <a:alpha val="65000"/>
              </a:srgbClr>
            </a:outerShdw>
          </a:effectLst>
        </p:spPr>
      </p:sp>
      <p:pic>
        <p:nvPicPr>
          <p:cNvPr id="5" name="Image 2" descr="/root/deckwork/assets/a_hostel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">
            <a:off x="5669280" y="1051560"/>
            <a:ext cx="5715000" cy="3375025"/>
          </a:xfrm>
          <a:prstGeom prst="rect">
            <a:avLst/>
          </a:prstGeom>
        </p:spPr>
      </p:pic>
      <p:sp>
        <p:nvSpPr>
          <p:cNvPr id="6" name="!!cap"/>
          <p:cNvSpPr txBox="1"/>
          <p:nvPr/>
        </p:nvSpPr>
        <p:spPr>
          <a:xfrm>
            <a:off x="5669280" y="4719193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9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Мужское общежитие на Мельдеманнштрассе, открытка 1906 г. · Wikimedia Commons</a:t>
            </a:r>
            <a:endParaRPr lang="en-US" sz="900" dirty="0"/>
          </a:p>
        </p:txBody>
      </p:sp>
      <p:sp>
        <p:nvSpPr>
          <p:cNvPr id="7" name="!!year"/>
          <p:cNvSpPr txBox="1"/>
          <p:nvPr/>
        </p:nvSpPr>
        <p:spPr>
          <a:xfrm>
            <a:off x="685800" y="38404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C9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1910</a:t>
            </a:r>
            <a:endParaRPr lang="en-US" sz="6000" dirty="0"/>
          </a:p>
        </p:txBody>
      </p:sp>
      <p:sp>
        <p:nvSpPr>
          <p:cNvPr id="8" name="!!title"/>
          <p:cNvSpPr txBox="1"/>
          <p:nvPr/>
        </p:nvSpPr>
        <p:spPr>
          <a:xfrm>
            <a:off x="685800" y="1335024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Венские годы</a:t>
            </a:r>
            <a:endParaRPr lang="en-US" sz="3600" dirty="0"/>
          </a:p>
        </p:txBody>
      </p:sp>
      <p:sp>
        <p:nvSpPr>
          <p:cNvPr id="9" name="!!body"/>
          <p:cNvSpPr txBox="1"/>
          <p:nvPr/>
        </p:nvSpPr>
        <p:spPr>
          <a:xfrm>
            <a:off x="685800" y="2212848"/>
            <a:ext cx="4526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осени 1909 года деньги закончились. Несколько недель он ночевал где придётся, а потом попал в 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приют для бездомных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районе Майдлинг. Там он познакомился с бродягой Райнгольдом Ханишем: Гитлер рисовал открытки, Ханиш их продавал, выручку делили. С 1910 по 1913 год Гитлер жил в мужском общежитии на Мельдеманнштрассе. Среди постоянных покупателей его работ были еврейские торговцы рамами.</a:t>
            </a:r>
            <a:endParaRPr lang="en-US" sz="1600" dirty="0"/>
          </a:p>
        </p:txBody>
      </p:sp>
      <p:sp>
        <p:nvSpPr>
          <p:cNvPr id="10" name="!!tl"/>
          <p:cNvSpPr/>
          <p:nvPr/>
        </p:nvSpPr>
        <p:spPr>
          <a:xfrm>
            <a:off x="685800" y="6400800"/>
            <a:ext cx="10820095" cy="0"/>
          </a:xfrm>
          <a:prstGeom prst="line">
            <a:avLst/>
          </a:prstGeom>
          <a:noFill/>
          <a:ln w="9525">
            <a:solidFill>
              <a:srgbClr val="3A3632"/>
            </a:solidFill>
            <a:prstDash val="solid"/>
          </a:ln>
        </p:spPr>
      </p:sp>
      <p:sp>
        <p:nvSpPr>
          <p:cNvPr id="11" name="!!tk1889"/>
          <p:cNvSpPr/>
          <p:nvPr/>
        </p:nvSpPr>
        <p:spPr>
          <a:xfrm>
            <a:off x="680314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2" name="!!tk1899"/>
          <p:cNvSpPr/>
          <p:nvPr/>
        </p:nvSpPr>
        <p:spPr>
          <a:xfrm>
            <a:off x="4287012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3" name="!!tk1907"/>
          <p:cNvSpPr/>
          <p:nvPr/>
        </p:nvSpPr>
        <p:spPr>
          <a:xfrm>
            <a:off x="7172371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4" name="!!tk1910"/>
          <p:cNvSpPr/>
          <p:nvPr/>
        </p:nvSpPr>
        <p:spPr>
          <a:xfrm>
            <a:off x="825438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5" name="!!tk1912"/>
          <p:cNvSpPr/>
          <p:nvPr/>
        </p:nvSpPr>
        <p:spPr>
          <a:xfrm>
            <a:off x="897572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6" name="!!tk1913"/>
          <p:cNvSpPr/>
          <p:nvPr/>
        </p:nvSpPr>
        <p:spPr>
          <a:xfrm>
            <a:off x="933639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7" name="!!tk1914"/>
          <p:cNvSpPr/>
          <p:nvPr/>
        </p:nvSpPr>
        <p:spPr>
          <a:xfrm>
            <a:off x="969706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8" name="!!tk1916"/>
          <p:cNvSpPr/>
          <p:nvPr/>
        </p:nvSpPr>
        <p:spPr>
          <a:xfrm>
            <a:off x="1041839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9" name="!!tk1918"/>
          <p:cNvSpPr/>
          <p:nvPr/>
        </p:nvSpPr>
        <p:spPr>
          <a:xfrm>
            <a:off x="1113973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0" name="!!tk1919"/>
          <p:cNvSpPr/>
          <p:nvPr/>
        </p:nvSpPr>
        <p:spPr>
          <a:xfrm>
            <a:off x="1150040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1" name="!!tlp"/>
          <p:cNvSpPr/>
          <p:nvPr/>
        </p:nvSpPr>
        <p:spPr>
          <a:xfrm>
            <a:off x="685800" y="6392570"/>
            <a:ext cx="7574067" cy="16459"/>
          </a:xfrm>
          <a:prstGeom prst="rect">
            <a:avLst/>
          </a:prstGeom>
          <a:solidFill>
            <a:srgbClr val="C9A15B"/>
          </a:solidFill>
          <a:ln/>
        </p:spPr>
      </p:sp>
      <p:sp>
        <p:nvSpPr>
          <p:cNvPr id="22" name="!!tlh"/>
          <p:cNvSpPr/>
          <p:nvPr/>
        </p:nvSpPr>
        <p:spPr>
          <a:xfrm>
            <a:off x="8122707" y="6263640"/>
            <a:ext cx="274320" cy="274320"/>
          </a:xfrm>
          <a:prstGeom prst="ellipse">
            <a:avLst/>
          </a:prstGeom>
          <a:solidFill>
            <a:srgbClr val="C9A15B">
              <a:alpha val="18000"/>
            </a:srgbClr>
          </a:solidFill>
          <a:ln/>
        </p:spPr>
      </p:sp>
      <p:sp>
        <p:nvSpPr>
          <p:cNvPr id="23" name="!!tld"/>
          <p:cNvSpPr/>
          <p:nvPr/>
        </p:nvSpPr>
        <p:spPr>
          <a:xfrm>
            <a:off x="8205003" y="6345936"/>
            <a:ext cx="109728" cy="109728"/>
          </a:xfrm>
          <a:prstGeom prst="ellipse">
            <a:avLst/>
          </a:prstGeom>
          <a:solidFill>
            <a:srgbClr val="C9A15B"/>
          </a:solidFill>
          <a:ln/>
        </p:spPr>
      </p:sp>
      <p:sp>
        <p:nvSpPr>
          <p:cNvPr id="24" name="!!tly"/>
          <p:cNvSpPr txBox="1"/>
          <p:nvPr/>
        </p:nvSpPr>
        <p:spPr>
          <a:xfrm>
            <a:off x="7802667" y="60716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1910</a:t>
            </a:r>
            <a:endParaRPr lang="en-US" sz="900" dirty="0"/>
          </a:p>
        </p:txBody>
      </p:sp>
      <p:sp>
        <p:nvSpPr>
          <p:cNvPr id="25" name="!!tl0"/>
          <p:cNvSpPr txBox="1"/>
          <p:nvPr/>
        </p:nvSpPr>
        <p:spPr>
          <a:xfrm>
            <a:off x="685800" y="6492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1889</a:t>
            </a:r>
            <a:endParaRPr lang="en-US" sz="800" dirty="0"/>
          </a:p>
        </p:txBody>
      </p:sp>
      <p:sp>
        <p:nvSpPr>
          <p:cNvPr id="26" name="!!tl1"/>
          <p:cNvSpPr txBox="1"/>
          <p:nvPr/>
        </p:nvSpPr>
        <p:spPr>
          <a:xfrm>
            <a:off x="10774375" y="6492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1919</a:t>
            </a:r>
            <a:endParaRPr lang="en-US" sz="800" dirty="0"/>
          </a:p>
        </p:txBody>
      </p:sp>
      <p:sp>
        <p:nvSpPr>
          <p:cNvPr id="27" name="!!count"/>
          <p:cNvSpPr txBox="1"/>
          <p:nvPr/>
        </p:nvSpPr>
        <p:spPr>
          <a:xfrm>
            <a:off x="10225735" y="3108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900" dirty="0"/>
          </a:p>
        </p:txBody>
      </p:sp>
      <p:pic>
        <p:nvPicPr>
          <p:cNvPr id="28" name="!!grain" descr="/root/deckwork/assets/g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work/assets/p_lueg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081528" cy="6858000"/>
          </a:xfrm>
          <a:prstGeom prst="rect">
            <a:avLst/>
          </a:prstGeom>
        </p:spPr>
      </p:pic>
      <p:pic>
        <p:nvPicPr>
          <p:cNvPr id="3" name="Image 1" descr="/root/deckwork/assets/ov_split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81528" cy="6858000"/>
          </a:xfrm>
          <a:prstGeom prst="rect">
            <a:avLst/>
          </a:prstGeom>
        </p:spPr>
      </p:pic>
      <p:pic>
        <p:nvPicPr>
          <p:cNvPr id="4" name="Image 2" descr="/root/deckwork/assets/p_schoen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8104" y="0"/>
            <a:ext cx="3108960" cy="6858000"/>
          </a:xfrm>
          <a:prstGeom prst="rect">
            <a:avLst/>
          </a:prstGeom>
        </p:spPr>
      </p:pic>
      <p:pic>
        <p:nvPicPr>
          <p:cNvPr id="5" name="Image 3" descr="/root/deckwork/assets/ov_split_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8104" y="0"/>
            <a:ext cx="3108960" cy="68580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411480" y="5074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Карл Люгер</a:t>
            </a:r>
            <a:endParaRPr lang="en-US" sz="1600" dirty="0"/>
          </a:p>
          <a:p>
            <a:pPr indent="0" marL="0">
              <a:buNone/>
            </a:pPr>
            <a:r>
              <a:rPr lang="en-US" sz="1050" b="1" spc="100" kern="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бургомистр Вены</a:t>
            </a:r>
            <a:endParaRPr lang="en-US" sz="1600" dirty="0"/>
          </a:p>
        </p:txBody>
      </p:sp>
      <p:sp>
        <p:nvSpPr>
          <p:cNvPr id="7" name="Text 1"/>
          <p:cNvSpPr txBox="1"/>
          <p:nvPr/>
        </p:nvSpPr>
        <p:spPr>
          <a:xfrm>
            <a:off x="3383280" y="5074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Георг фон Шёнерер</a:t>
            </a:r>
            <a:endParaRPr lang="en-US" sz="1600" dirty="0"/>
          </a:p>
          <a:p>
            <a:pPr indent="0" marL="0">
              <a:buNone/>
            </a:pPr>
            <a:r>
              <a:rPr lang="en-US" sz="1050" b="1" spc="100" kern="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лидер пангерманистов</a:t>
            </a:r>
            <a:endParaRPr lang="en-US" sz="1600" dirty="0"/>
          </a:p>
        </p:txBody>
      </p:sp>
      <p:sp>
        <p:nvSpPr>
          <p:cNvPr id="8" name="!!year"/>
          <p:cNvSpPr txBox="1"/>
          <p:nvPr/>
        </p:nvSpPr>
        <p:spPr>
          <a:xfrm>
            <a:off x="6766560" y="384048"/>
            <a:ext cx="4736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C9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1910</a:t>
            </a:r>
            <a:endParaRPr lang="en-US" sz="6000" dirty="0"/>
          </a:p>
        </p:txBody>
      </p:sp>
      <p:sp>
        <p:nvSpPr>
          <p:cNvPr id="9" name="!!title"/>
          <p:cNvSpPr txBox="1"/>
          <p:nvPr/>
        </p:nvSpPr>
        <p:spPr>
          <a:xfrm>
            <a:off x="6766560" y="1335024"/>
            <a:ext cx="4736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Чем дышала Вена</a:t>
            </a:r>
            <a:endParaRPr lang="en-US" sz="3600" dirty="0"/>
          </a:p>
        </p:txBody>
      </p:sp>
      <p:sp>
        <p:nvSpPr>
          <p:cNvPr id="10" name="!!body"/>
          <p:cNvSpPr txBox="1"/>
          <p:nvPr/>
        </p:nvSpPr>
        <p:spPr>
          <a:xfrm>
            <a:off x="6766560" y="2212848"/>
            <a:ext cx="473659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Вена начала века — столица империи, где жили немцы, чехи, венгры, поляки, евреи, и национальные споры не утихали. Бургомистр Карл Люгер выигрывал выборы на антисемитских лозунгах, Георг фон Шёнерер требовал объединить всех немцев в одно государство. Гитлер читал газеты и ходил слушать депутатов в парламент. Когда он сам стал антисемитом — в Вене, как писал в «Майн кампф», или после войны, — 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историки спорят до сих пор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!!cap"/>
          <p:cNvSpPr txBox="1"/>
          <p:nvPr/>
        </p:nvSpPr>
        <p:spPr>
          <a:xfrm>
            <a:off x="411480" y="570585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B9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Фото: Wikimedia Commons (общественное достояние)</a:t>
            </a:r>
            <a:endParaRPr lang="en-US" sz="900" dirty="0"/>
          </a:p>
        </p:txBody>
      </p:sp>
      <p:sp>
        <p:nvSpPr>
          <p:cNvPr id="12" name="!!tl"/>
          <p:cNvSpPr/>
          <p:nvPr/>
        </p:nvSpPr>
        <p:spPr>
          <a:xfrm>
            <a:off x="685800" y="6400800"/>
            <a:ext cx="10820095" cy="0"/>
          </a:xfrm>
          <a:prstGeom prst="line">
            <a:avLst/>
          </a:prstGeom>
          <a:noFill/>
          <a:ln w="9525">
            <a:solidFill>
              <a:srgbClr val="3A3632"/>
            </a:solidFill>
            <a:prstDash val="solid"/>
          </a:ln>
        </p:spPr>
      </p:sp>
      <p:sp>
        <p:nvSpPr>
          <p:cNvPr id="13" name="!!tk1889"/>
          <p:cNvSpPr/>
          <p:nvPr/>
        </p:nvSpPr>
        <p:spPr>
          <a:xfrm>
            <a:off x="680314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4" name="!!tk1899"/>
          <p:cNvSpPr/>
          <p:nvPr/>
        </p:nvSpPr>
        <p:spPr>
          <a:xfrm>
            <a:off x="4287012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5" name="!!tk1907"/>
          <p:cNvSpPr/>
          <p:nvPr/>
        </p:nvSpPr>
        <p:spPr>
          <a:xfrm>
            <a:off x="7172371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6" name="!!tk1910"/>
          <p:cNvSpPr/>
          <p:nvPr/>
        </p:nvSpPr>
        <p:spPr>
          <a:xfrm>
            <a:off x="825438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7" name="!!tk1912"/>
          <p:cNvSpPr/>
          <p:nvPr/>
        </p:nvSpPr>
        <p:spPr>
          <a:xfrm>
            <a:off x="897572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8" name="!!tk1913"/>
          <p:cNvSpPr/>
          <p:nvPr/>
        </p:nvSpPr>
        <p:spPr>
          <a:xfrm>
            <a:off x="933639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9" name="!!tk1914"/>
          <p:cNvSpPr/>
          <p:nvPr/>
        </p:nvSpPr>
        <p:spPr>
          <a:xfrm>
            <a:off x="969706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0" name="!!tk1916"/>
          <p:cNvSpPr/>
          <p:nvPr/>
        </p:nvSpPr>
        <p:spPr>
          <a:xfrm>
            <a:off x="1041839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1" name="!!tk1918"/>
          <p:cNvSpPr/>
          <p:nvPr/>
        </p:nvSpPr>
        <p:spPr>
          <a:xfrm>
            <a:off x="1113973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2" name="!!tk1919"/>
          <p:cNvSpPr/>
          <p:nvPr/>
        </p:nvSpPr>
        <p:spPr>
          <a:xfrm>
            <a:off x="1150040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3" name="!!tlp"/>
          <p:cNvSpPr/>
          <p:nvPr/>
        </p:nvSpPr>
        <p:spPr>
          <a:xfrm>
            <a:off x="685800" y="6392570"/>
            <a:ext cx="7574067" cy="16459"/>
          </a:xfrm>
          <a:prstGeom prst="rect">
            <a:avLst/>
          </a:prstGeom>
          <a:solidFill>
            <a:srgbClr val="C9A15B"/>
          </a:solidFill>
          <a:ln/>
        </p:spPr>
      </p:sp>
      <p:sp>
        <p:nvSpPr>
          <p:cNvPr id="24" name="!!tlh"/>
          <p:cNvSpPr/>
          <p:nvPr/>
        </p:nvSpPr>
        <p:spPr>
          <a:xfrm>
            <a:off x="8122707" y="6263640"/>
            <a:ext cx="274320" cy="274320"/>
          </a:xfrm>
          <a:prstGeom prst="ellipse">
            <a:avLst/>
          </a:prstGeom>
          <a:solidFill>
            <a:srgbClr val="C9A15B">
              <a:alpha val="18000"/>
            </a:srgbClr>
          </a:solidFill>
          <a:ln/>
        </p:spPr>
      </p:sp>
      <p:sp>
        <p:nvSpPr>
          <p:cNvPr id="25" name="!!tld"/>
          <p:cNvSpPr/>
          <p:nvPr/>
        </p:nvSpPr>
        <p:spPr>
          <a:xfrm>
            <a:off x="8205003" y="6345936"/>
            <a:ext cx="109728" cy="109728"/>
          </a:xfrm>
          <a:prstGeom prst="ellipse">
            <a:avLst/>
          </a:prstGeom>
          <a:solidFill>
            <a:srgbClr val="C9A15B"/>
          </a:solidFill>
          <a:ln/>
        </p:spPr>
      </p:sp>
      <p:sp>
        <p:nvSpPr>
          <p:cNvPr id="26" name="!!tly"/>
          <p:cNvSpPr txBox="1"/>
          <p:nvPr/>
        </p:nvSpPr>
        <p:spPr>
          <a:xfrm>
            <a:off x="7802667" y="60716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1910</a:t>
            </a:r>
            <a:endParaRPr lang="en-US" sz="900" dirty="0"/>
          </a:p>
        </p:txBody>
      </p:sp>
      <p:sp>
        <p:nvSpPr>
          <p:cNvPr id="27" name="!!tl0"/>
          <p:cNvSpPr txBox="1"/>
          <p:nvPr/>
        </p:nvSpPr>
        <p:spPr>
          <a:xfrm>
            <a:off x="685800" y="6492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1889</a:t>
            </a:r>
            <a:endParaRPr lang="en-US" sz="800" dirty="0"/>
          </a:p>
        </p:txBody>
      </p:sp>
      <p:sp>
        <p:nvSpPr>
          <p:cNvPr id="28" name="!!tl1"/>
          <p:cNvSpPr txBox="1"/>
          <p:nvPr/>
        </p:nvSpPr>
        <p:spPr>
          <a:xfrm>
            <a:off x="10774375" y="6492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1919</a:t>
            </a:r>
            <a:endParaRPr lang="en-US" sz="800" dirty="0"/>
          </a:p>
        </p:txBody>
      </p:sp>
      <p:sp>
        <p:nvSpPr>
          <p:cNvPr id="29" name="!!count"/>
          <p:cNvSpPr txBox="1"/>
          <p:nvPr/>
        </p:nvSpPr>
        <p:spPr>
          <a:xfrm>
            <a:off x="10225735" y="3108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900" dirty="0"/>
          </a:p>
        </p:txBody>
      </p:sp>
      <p:pic>
        <p:nvPicPr>
          <p:cNvPr id="30" name="!!grain" descr="/root/deckwork/assets/gra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work/assets/bg_muni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root/deckwork/assets/ov_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!!year"/>
          <p:cNvSpPr txBox="1"/>
          <p:nvPr/>
        </p:nvSpPr>
        <p:spPr>
          <a:xfrm>
            <a:off x="685800" y="384048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C9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1913</a:t>
            </a:r>
            <a:endParaRPr lang="en-US" sz="6000" dirty="0"/>
          </a:p>
        </p:txBody>
      </p:sp>
      <p:sp>
        <p:nvSpPr>
          <p:cNvPr id="5" name="!!title"/>
          <p:cNvSpPr txBox="1"/>
          <p:nvPr/>
        </p:nvSpPr>
        <p:spPr>
          <a:xfrm>
            <a:off x="685800" y="1335024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 Вены — в Мюнхен</a:t>
            </a:r>
            <a:endParaRPr lang="en-US" sz="3600" dirty="0"/>
          </a:p>
        </p:txBody>
      </p:sp>
      <p:sp>
        <p:nvSpPr>
          <p:cNvPr id="6" name="!!body"/>
          <p:cNvSpPr txBox="1"/>
          <p:nvPr/>
        </p:nvSpPr>
        <p:spPr>
          <a:xfrm>
            <a:off x="685800" y="2212848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мае 1913 года 24-летний Гитлер переехал из Вены в Мюнхен. Одна из причин — нежелание служить в армии многонациональной Австро-Венгрии. Австрийские власти его всё-таки разыскали, но в феврале 1914 года медкомиссия в Зальцбурге признала его негодным: «слишком слаб». А когда в августе 1914-го началась война, он 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 записался добровольцем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уже в баварскую армию.</a:t>
            </a:r>
            <a:endParaRPr lang="en-US" sz="1600" dirty="0"/>
          </a:p>
        </p:txBody>
      </p:sp>
      <p:sp>
        <p:nvSpPr>
          <p:cNvPr id="7" name="!!cap"/>
          <p:cNvSpPr txBox="1"/>
          <p:nvPr/>
        </p:nvSpPr>
        <p:spPr>
          <a:xfrm>
            <a:off x="6933895" y="57058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B9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Мюнхен, Мариенплац, 1913 · </a:t>
            </a:r>
            <a:pPr algn="r" indent="0" marL="0">
              <a:buNone/>
            </a:pPr>
            <a:r>
              <a:rPr lang="en-US" sz="900" dirty="0">
                <a:solidFill>
                  <a:srgbClr val="B9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Wikimedia Commons</a:t>
            </a:r>
            <a:endParaRPr lang="en-US" sz="900" dirty="0"/>
          </a:p>
        </p:txBody>
      </p:sp>
      <p:sp>
        <p:nvSpPr>
          <p:cNvPr id="8" name="!!tl"/>
          <p:cNvSpPr/>
          <p:nvPr/>
        </p:nvSpPr>
        <p:spPr>
          <a:xfrm>
            <a:off x="685800" y="6400800"/>
            <a:ext cx="10820095" cy="0"/>
          </a:xfrm>
          <a:prstGeom prst="line">
            <a:avLst/>
          </a:prstGeom>
          <a:noFill/>
          <a:ln w="9525">
            <a:solidFill>
              <a:srgbClr val="3A3632"/>
            </a:solidFill>
            <a:prstDash val="solid"/>
          </a:ln>
        </p:spPr>
      </p:sp>
      <p:sp>
        <p:nvSpPr>
          <p:cNvPr id="9" name="!!tk1889"/>
          <p:cNvSpPr/>
          <p:nvPr/>
        </p:nvSpPr>
        <p:spPr>
          <a:xfrm>
            <a:off x="680314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0" name="!!tk1899"/>
          <p:cNvSpPr/>
          <p:nvPr/>
        </p:nvSpPr>
        <p:spPr>
          <a:xfrm>
            <a:off x="4287012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1" name="!!tk1907"/>
          <p:cNvSpPr/>
          <p:nvPr/>
        </p:nvSpPr>
        <p:spPr>
          <a:xfrm>
            <a:off x="7172371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2" name="!!tk1910"/>
          <p:cNvSpPr/>
          <p:nvPr/>
        </p:nvSpPr>
        <p:spPr>
          <a:xfrm>
            <a:off x="825438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3" name="!!tk1912"/>
          <p:cNvSpPr/>
          <p:nvPr/>
        </p:nvSpPr>
        <p:spPr>
          <a:xfrm>
            <a:off x="897572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4" name="!!tk1913"/>
          <p:cNvSpPr/>
          <p:nvPr/>
        </p:nvSpPr>
        <p:spPr>
          <a:xfrm>
            <a:off x="933639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5" name="!!tk1914"/>
          <p:cNvSpPr/>
          <p:nvPr/>
        </p:nvSpPr>
        <p:spPr>
          <a:xfrm>
            <a:off x="969706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6" name="!!tk1916"/>
          <p:cNvSpPr/>
          <p:nvPr/>
        </p:nvSpPr>
        <p:spPr>
          <a:xfrm>
            <a:off x="1041839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7" name="!!tk1918"/>
          <p:cNvSpPr/>
          <p:nvPr/>
        </p:nvSpPr>
        <p:spPr>
          <a:xfrm>
            <a:off x="1113973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8" name="!!tk1919"/>
          <p:cNvSpPr/>
          <p:nvPr/>
        </p:nvSpPr>
        <p:spPr>
          <a:xfrm>
            <a:off x="1150040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9" name="!!tlp"/>
          <p:cNvSpPr/>
          <p:nvPr/>
        </p:nvSpPr>
        <p:spPr>
          <a:xfrm>
            <a:off x="685800" y="6392570"/>
            <a:ext cx="8656076" cy="16459"/>
          </a:xfrm>
          <a:prstGeom prst="rect">
            <a:avLst/>
          </a:prstGeom>
          <a:solidFill>
            <a:srgbClr val="C9A15B"/>
          </a:solidFill>
          <a:ln/>
        </p:spPr>
      </p:sp>
      <p:sp>
        <p:nvSpPr>
          <p:cNvPr id="20" name="!!tlh"/>
          <p:cNvSpPr/>
          <p:nvPr/>
        </p:nvSpPr>
        <p:spPr>
          <a:xfrm>
            <a:off x="9204716" y="6263640"/>
            <a:ext cx="274320" cy="274320"/>
          </a:xfrm>
          <a:prstGeom prst="ellipse">
            <a:avLst/>
          </a:prstGeom>
          <a:solidFill>
            <a:srgbClr val="C9A15B">
              <a:alpha val="18000"/>
            </a:srgbClr>
          </a:solidFill>
          <a:ln/>
        </p:spPr>
      </p:sp>
      <p:sp>
        <p:nvSpPr>
          <p:cNvPr id="21" name="!!tld"/>
          <p:cNvSpPr/>
          <p:nvPr/>
        </p:nvSpPr>
        <p:spPr>
          <a:xfrm>
            <a:off x="9287012" y="6345936"/>
            <a:ext cx="109728" cy="109728"/>
          </a:xfrm>
          <a:prstGeom prst="ellipse">
            <a:avLst/>
          </a:prstGeom>
          <a:solidFill>
            <a:srgbClr val="C9A15B"/>
          </a:solidFill>
          <a:ln/>
        </p:spPr>
      </p:sp>
      <p:sp>
        <p:nvSpPr>
          <p:cNvPr id="22" name="!!tly"/>
          <p:cNvSpPr txBox="1"/>
          <p:nvPr/>
        </p:nvSpPr>
        <p:spPr>
          <a:xfrm>
            <a:off x="8884676" y="60716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1913</a:t>
            </a:r>
            <a:endParaRPr lang="en-US" sz="900" dirty="0"/>
          </a:p>
        </p:txBody>
      </p:sp>
      <p:sp>
        <p:nvSpPr>
          <p:cNvPr id="23" name="!!tl0"/>
          <p:cNvSpPr txBox="1"/>
          <p:nvPr/>
        </p:nvSpPr>
        <p:spPr>
          <a:xfrm>
            <a:off x="685800" y="6492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1889</a:t>
            </a:r>
            <a:endParaRPr lang="en-US" sz="800" dirty="0"/>
          </a:p>
        </p:txBody>
      </p:sp>
      <p:sp>
        <p:nvSpPr>
          <p:cNvPr id="24" name="!!tl1"/>
          <p:cNvSpPr txBox="1"/>
          <p:nvPr/>
        </p:nvSpPr>
        <p:spPr>
          <a:xfrm>
            <a:off x="10774375" y="6492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1919</a:t>
            </a:r>
            <a:endParaRPr lang="en-US" sz="800" dirty="0"/>
          </a:p>
        </p:txBody>
      </p:sp>
      <p:sp>
        <p:nvSpPr>
          <p:cNvPr id="25" name="!!count"/>
          <p:cNvSpPr txBox="1"/>
          <p:nvPr/>
        </p:nvSpPr>
        <p:spPr>
          <a:xfrm>
            <a:off x="10225735" y="3108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900" dirty="0"/>
          </a:p>
        </p:txBody>
      </p:sp>
      <p:pic>
        <p:nvPicPr>
          <p:cNvPr id="26" name="!!grain" descr="/root/deckwork/assets/g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work/assets/cut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971032" cy="6858000"/>
          </a:xfrm>
          <a:prstGeom prst="rect">
            <a:avLst/>
          </a:prstGeom>
        </p:spPr>
      </p:pic>
      <p:pic>
        <p:nvPicPr>
          <p:cNvPr id="3" name="shade" descr="/root/deckwork/assets/ov_amb_so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!!year"/>
          <p:cNvSpPr txBox="1"/>
          <p:nvPr/>
        </p:nvSpPr>
        <p:spPr>
          <a:xfrm>
            <a:off x="6629400" y="384048"/>
            <a:ext cx="4873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C9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1914</a:t>
            </a:r>
            <a:endParaRPr lang="en-US" sz="6000" dirty="0"/>
          </a:p>
        </p:txBody>
      </p:sp>
      <p:sp>
        <p:nvSpPr>
          <p:cNvPr id="5" name="!!title"/>
          <p:cNvSpPr txBox="1"/>
          <p:nvPr/>
        </p:nvSpPr>
        <p:spPr>
          <a:xfrm>
            <a:off x="6629400" y="1335024"/>
            <a:ext cx="4873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«Полк Листа»</a:t>
            </a:r>
            <a:endParaRPr lang="en-US" sz="3600" dirty="0"/>
          </a:p>
        </p:txBody>
      </p:sp>
      <p:sp>
        <p:nvSpPr>
          <p:cNvPr id="6" name="!!stat"/>
          <p:cNvSpPr txBox="1"/>
          <p:nvPr/>
        </p:nvSpPr>
        <p:spPr>
          <a:xfrm>
            <a:off x="6629400" y="2103120"/>
            <a:ext cx="4873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C9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3600 → 611</a:t>
            </a:r>
            <a:endParaRPr lang="en-US" sz="5400" dirty="0"/>
          </a:p>
        </p:txBody>
      </p:sp>
      <p:sp>
        <p:nvSpPr>
          <p:cNvPr id="7" name="!!statl"/>
          <p:cNvSpPr txBox="1"/>
          <p:nvPr/>
        </p:nvSpPr>
        <p:spPr>
          <a:xfrm>
            <a:off x="6647688" y="2926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столько солдат было в полку перед первыми боями под Ипром и осталось в строю через четыре дня</a:t>
            </a:r>
            <a:endParaRPr lang="en-US" sz="1100" dirty="0"/>
          </a:p>
        </p:txBody>
      </p:sp>
      <p:sp>
        <p:nvSpPr>
          <p:cNvPr id="8" name="!!body"/>
          <p:cNvSpPr txBox="1"/>
          <p:nvPr/>
        </p:nvSpPr>
        <p:spPr>
          <a:xfrm>
            <a:off x="6629400" y="3493008"/>
            <a:ext cx="48737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Гитлер служил в 16-м баварском резервном пехотном полку — его называли «полком Листа» по фамилии первого командира. После боёв под Ипром он стал связным при штабе полка и разносил приказы между штабом и батальонами. Дослужился до ефрейтора. На фронте у него был пёс, белый терьер 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Фоксль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!!cap"/>
          <p:cNvSpPr txBox="1"/>
          <p:nvPr/>
        </p:nvSpPr>
        <p:spPr>
          <a:xfrm>
            <a:off x="411480" y="570585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B9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Гитлер — солдат баварской армии, 1914–1915 · </a:t>
            </a:r>
            <a:pPr algn="l" indent="0" marL="0">
              <a:buNone/>
            </a:pPr>
            <a:r>
              <a:rPr lang="en-US" sz="900" dirty="0">
                <a:solidFill>
                  <a:srgbClr val="B9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Spaarnestad Photo / Wikimedia Commons</a:t>
            </a:r>
            <a:endParaRPr lang="en-US" sz="900" dirty="0"/>
          </a:p>
        </p:txBody>
      </p:sp>
      <p:sp>
        <p:nvSpPr>
          <p:cNvPr id="10" name="!!tl"/>
          <p:cNvSpPr/>
          <p:nvPr/>
        </p:nvSpPr>
        <p:spPr>
          <a:xfrm>
            <a:off x="685800" y="6400800"/>
            <a:ext cx="10820095" cy="0"/>
          </a:xfrm>
          <a:prstGeom prst="line">
            <a:avLst/>
          </a:prstGeom>
          <a:noFill/>
          <a:ln w="9525">
            <a:solidFill>
              <a:srgbClr val="3A3632"/>
            </a:solidFill>
            <a:prstDash val="solid"/>
          </a:ln>
        </p:spPr>
      </p:sp>
      <p:sp>
        <p:nvSpPr>
          <p:cNvPr id="11" name="!!tk1889"/>
          <p:cNvSpPr/>
          <p:nvPr/>
        </p:nvSpPr>
        <p:spPr>
          <a:xfrm>
            <a:off x="680314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2" name="!!tk1899"/>
          <p:cNvSpPr/>
          <p:nvPr/>
        </p:nvSpPr>
        <p:spPr>
          <a:xfrm>
            <a:off x="4287012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3" name="!!tk1907"/>
          <p:cNvSpPr/>
          <p:nvPr/>
        </p:nvSpPr>
        <p:spPr>
          <a:xfrm>
            <a:off x="7172371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4" name="!!tk1910"/>
          <p:cNvSpPr/>
          <p:nvPr/>
        </p:nvSpPr>
        <p:spPr>
          <a:xfrm>
            <a:off x="825438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5" name="!!tk1912"/>
          <p:cNvSpPr/>
          <p:nvPr/>
        </p:nvSpPr>
        <p:spPr>
          <a:xfrm>
            <a:off x="897572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6" name="!!tk1913"/>
          <p:cNvSpPr/>
          <p:nvPr/>
        </p:nvSpPr>
        <p:spPr>
          <a:xfrm>
            <a:off x="933639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7" name="!!tk1914"/>
          <p:cNvSpPr/>
          <p:nvPr/>
        </p:nvSpPr>
        <p:spPr>
          <a:xfrm>
            <a:off x="969706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8" name="!!tk1916"/>
          <p:cNvSpPr/>
          <p:nvPr/>
        </p:nvSpPr>
        <p:spPr>
          <a:xfrm>
            <a:off x="1041839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9" name="!!tk1918"/>
          <p:cNvSpPr/>
          <p:nvPr/>
        </p:nvSpPr>
        <p:spPr>
          <a:xfrm>
            <a:off x="1113973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0" name="!!tk1919"/>
          <p:cNvSpPr/>
          <p:nvPr/>
        </p:nvSpPr>
        <p:spPr>
          <a:xfrm>
            <a:off x="1150040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1" name="!!tlp"/>
          <p:cNvSpPr/>
          <p:nvPr/>
        </p:nvSpPr>
        <p:spPr>
          <a:xfrm>
            <a:off x="685800" y="6392570"/>
            <a:ext cx="9016746" cy="16459"/>
          </a:xfrm>
          <a:prstGeom prst="rect">
            <a:avLst/>
          </a:prstGeom>
          <a:solidFill>
            <a:srgbClr val="C9A15B"/>
          </a:solidFill>
          <a:ln/>
        </p:spPr>
      </p:sp>
      <p:sp>
        <p:nvSpPr>
          <p:cNvPr id="22" name="!!tlh"/>
          <p:cNvSpPr/>
          <p:nvPr/>
        </p:nvSpPr>
        <p:spPr>
          <a:xfrm>
            <a:off x="9565386" y="6263640"/>
            <a:ext cx="274320" cy="274320"/>
          </a:xfrm>
          <a:prstGeom prst="ellipse">
            <a:avLst/>
          </a:prstGeom>
          <a:solidFill>
            <a:srgbClr val="C9A15B">
              <a:alpha val="18000"/>
            </a:srgbClr>
          </a:solidFill>
          <a:ln/>
        </p:spPr>
      </p:sp>
      <p:sp>
        <p:nvSpPr>
          <p:cNvPr id="23" name="!!tld"/>
          <p:cNvSpPr/>
          <p:nvPr/>
        </p:nvSpPr>
        <p:spPr>
          <a:xfrm>
            <a:off x="9647682" y="6345936"/>
            <a:ext cx="109728" cy="109728"/>
          </a:xfrm>
          <a:prstGeom prst="ellipse">
            <a:avLst/>
          </a:prstGeom>
          <a:solidFill>
            <a:srgbClr val="C9A15B"/>
          </a:solidFill>
          <a:ln/>
        </p:spPr>
      </p:sp>
      <p:sp>
        <p:nvSpPr>
          <p:cNvPr id="24" name="!!tly"/>
          <p:cNvSpPr txBox="1"/>
          <p:nvPr/>
        </p:nvSpPr>
        <p:spPr>
          <a:xfrm>
            <a:off x="9245346" y="60716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1914</a:t>
            </a:r>
            <a:endParaRPr lang="en-US" sz="900" dirty="0"/>
          </a:p>
        </p:txBody>
      </p:sp>
      <p:sp>
        <p:nvSpPr>
          <p:cNvPr id="25" name="!!tl0"/>
          <p:cNvSpPr txBox="1"/>
          <p:nvPr/>
        </p:nvSpPr>
        <p:spPr>
          <a:xfrm>
            <a:off x="685800" y="6492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1889</a:t>
            </a:r>
            <a:endParaRPr lang="en-US" sz="800" dirty="0"/>
          </a:p>
        </p:txBody>
      </p:sp>
      <p:sp>
        <p:nvSpPr>
          <p:cNvPr id="26" name="!!tl1"/>
          <p:cNvSpPr txBox="1"/>
          <p:nvPr/>
        </p:nvSpPr>
        <p:spPr>
          <a:xfrm>
            <a:off x="10774375" y="6492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1919</a:t>
            </a:r>
            <a:endParaRPr lang="en-US" sz="800" dirty="0"/>
          </a:p>
        </p:txBody>
      </p:sp>
      <p:sp>
        <p:nvSpPr>
          <p:cNvPr id="27" name="!!count"/>
          <p:cNvSpPr txBox="1"/>
          <p:nvPr/>
        </p:nvSpPr>
        <p:spPr>
          <a:xfrm>
            <a:off x="10225735" y="3108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pic>
        <p:nvPicPr>
          <p:cNvPr id="28" name="!!grain" descr="/root/deckwork/assets/g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work/assets/p_beelitz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0"/>
            <a:ext cx="6705295" cy="6858000"/>
          </a:xfrm>
          <a:prstGeom prst="rect">
            <a:avLst/>
          </a:prstGeom>
        </p:spPr>
      </p:pic>
      <p:pic>
        <p:nvPicPr>
          <p:cNvPr id="3" name="Image 1" descr="/root/deckwork/assets/ov_beelitz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0"/>
            <a:ext cx="6705295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rot="180000">
            <a:off x="5843016" y="3877056"/>
            <a:ext cx="1408176" cy="1847088"/>
          </a:xfrm>
          <a:prstGeom prst="rect">
            <a:avLst/>
          </a:prstGeom>
          <a:solidFill>
            <a:srgbClr val="E7E0D2"/>
          </a:solidFill>
          <a:ln/>
          <a:effectLst>
            <a:outerShdw sx="100000" sy="100000" kx="0" ky="0" algn="bl" rotWithShape="0" blurRad="203200" dist="76200" dir="5400000">
              <a:srgbClr val="000000">
                <a:alpha val="65000"/>
              </a:srgbClr>
            </a:outerShdw>
          </a:effectLst>
        </p:spPr>
      </p:sp>
      <p:pic>
        <p:nvPicPr>
          <p:cNvPr id="5" name="Image 2" descr="/root/deckwork/assets/a_cros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5897880" y="3931920"/>
            <a:ext cx="1298448" cy="1737360"/>
          </a:xfrm>
          <a:prstGeom prst="rect">
            <a:avLst/>
          </a:prstGeom>
        </p:spPr>
      </p:pic>
      <p:sp>
        <p:nvSpPr>
          <p:cNvPr id="6" name="!!year"/>
          <p:cNvSpPr txBox="1"/>
          <p:nvPr/>
        </p:nvSpPr>
        <p:spPr>
          <a:xfrm>
            <a:off x="685800" y="384048"/>
            <a:ext cx="4864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C9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1916</a:t>
            </a:r>
            <a:endParaRPr lang="en-US" sz="6000" dirty="0"/>
          </a:p>
        </p:txBody>
      </p:sp>
      <p:sp>
        <p:nvSpPr>
          <p:cNvPr id="7" name="!!title"/>
          <p:cNvSpPr txBox="1"/>
          <p:nvPr/>
        </p:nvSpPr>
        <p:spPr>
          <a:xfrm>
            <a:off x="685800" y="1335024"/>
            <a:ext cx="4864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Награды и ранение</a:t>
            </a:r>
            <a:endParaRPr lang="en-US" sz="3600" dirty="0"/>
          </a:p>
        </p:txBody>
      </p:sp>
      <p:sp>
        <p:nvSpPr>
          <p:cNvPr id="8" name="!!body"/>
          <p:cNvSpPr txBox="1"/>
          <p:nvPr/>
        </p:nvSpPr>
        <p:spPr>
          <a:xfrm>
            <a:off x="685800" y="2212848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декабре 1914 года Гитлер получил Железный крест II класса. В октябре 1916-го на Сомме его ранило осколком в бедро, и почти пять месяцев он провёл в тылу, сначала в госпитале в Белице под Берлином. В августе 1918-го его наградили Железным крестом I класса, редкой наградой для ефрейтора. Представил его лейтенант 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Хуго Гутман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еврей. Историк Томас Вебер замечает: окопные солдаты считали штабных связных тыловиками.</a:t>
            </a:r>
            <a:endParaRPr lang="en-US" sz="1600" dirty="0"/>
          </a:p>
        </p:txBody>
      </p:sp>
      <p:sp>
        <p:nvSpPr>
          <p:cNvPr id="9" name="!!cap"/>
          <p:cNvSpPr txBox="1"/>
          <p:nvPr/>
        </p:nvSpPr>
        <p:spPr>
          <a:xfrm>
            <a:off x="7589520" y="5596128"/>
            <a:ext cx="391637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B9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Раненые в госпитале Белиц, 1916 (Гитлер — второй справа в верхнем ряду) · Железный крест II кл.: фото Lostbastard, CC BY-SA 4.0 · Wikimedia Commons</a:t>
            </a:r>
            <a:endParaRPr lang="en-US" sz="900" dirty="0"/>
          </a:p>
        </p:txBody>
      </p:sp>
      <p:sp>
        <p:nvSpPr>
          <p:cNvPr id="10" name="!!tl"/>
          <p:cNvSpPr/>
          <p:nvPr/>
        </p:nvSpPr>
        <p:spPr>
          <a:xfrm>
            <a:off x="685800" y="6400800"/>
            <a:ext cx="10820095" cy="0"/>
          </a:xfrm>
          <a:prstGeom prst="line">
            <a:avLst/>
          </a:prstGeom>
          <a:noFill/>
          <a:ln w="9525">
            <a:solidFill>
              <a:srgbClr val="3A3632"/>
            </a:solidFill>
            <a:prstDash val="solid"/>
          </a:ln>
        </p:spPr>
      </p:sp>
      <p:sp>
        <p:nvSpPr>
          <p:cNvPr id="11" name="!!tk1889"/>
          <p:cNvSpPr/>
          <p:nvPr/>
        </p:nvSpPr>
        <p:spPr>
          <a:xfrm>
            <a:off x="680314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2" name="!!tk1899"/>
          <p:cNvSpPr/>
          <p:nvPr/>
        </p:nvSpPr>
        <p:spPr>
          <a:xfrm>
            <a:off x="4287012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3" name="!!tk1907"/>
          <p:cNvSpPr/>
          <p:nvPr/>
        </p:nvSpPr>
        <p:spPr>
          <a:xfrm>
            <a:off x="7172371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4" name="!!tk1910"/>
          <p:cNvSpPr/>
          <p:nvPr/>
        </p:nvSpPr>
        <p:spPr>
          <a:xfrm>
            <a:off x="825438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5" name="!!tk1912"/>
          <p:cNvSpPr/>
          <p:nvPr/>
        </p:nvSpPr>
        <p:spPr>
          <a:xfrm>
            <a:off x="897572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6" name="!!tk1913"/>
          <p:cNvSpPr/>
          <p:nvPr/>
        </p:nvSpPr>
        <p:spPr>
          <a:xfrm>
            <a:off x="933639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7" name="!!tk1914"/>
          <p:cNvSpPr/>
          <p:nvPr/>
        </p:nvSpPr>
        <p:spPr>
          <a:xfrm>
            <a:off x="969706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8" name="!!tk1916"/>
          <p:cNvSpPr/>
          <p:nvPr/>
        </p:nvSpPr>
        <p:spPr>
          <a:xfrm>
            <a:off x="1041839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9" name="!!tk1918"/>
          <p:cNvSpPr/>
          <p:nvPr/>
        </p:nvSpPr>
        <p:spPr>
          <a:xfrm>
            <a:off x="1113973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0" name="!!tk1919"/>
          <p:cNvSpPr/>
          <p:nvPr/>
        </p:nvSpPr>
        <p:spPr>
          <a:xfrm>
            <a:off x="1150040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1" name="!!tlp"/>
          <p:cNvSpPr/>
          <p:nvPr/>
        </p:nvSpPr>
        <p:spPr>
          <a:xfrm>
            <a:off x="685800" y="6392570"/>
            <a:ext cx="9738086" cy="16459"/>
          </a:xfrm>
          <a:prstGeom prst="rect">
            <a:avLst/>
          </a:prstGeom>
          <a:solidFill>
            <a:srgbClr val="C9A15B"/>
          </a:solidFill>
          <a:ln/>
        </p:spPr>
      </p:sp>
      <p:sp>
        <p:nvSpPr>
          <p:cNvPr id="22" name="!!tlh"/>
          <p:cNvSpPr/>
          <p:nvPr/>
        </p:nvSpPr>
        <p:spPr>
          <a:xfrm>
            <a:off x="10286726" y="6263640"/>
            <a:ext cx="274320" cy="274320"/>
          </a:xfrm>
          <a:prstGeom prst="ellipse">
            <a:avLst/>
          </a:prstGeom>
          <a:solidFill>
            <a:srgbClr val="C9A15B">
              <a:alpha val="18000"/>
            </a:srgbClr>
          </a:solidFill>
          <a:ln/>
        </p:spPr>
      </p:sp>
      <p:sp>
        <p:nvSpPr>
          <p:cNvPr id="23" name="!!tld"/>
          <p:cNvSpPr/>
          <p:nvPr/>
        </p:nvSpPr>
        <p:spPr>
          <a:xfrm>
            <a:off x="10369022" y="6345936"/>
            <a:ext cx="109728" cy="109728"/>
          </a:xfrm>
          <a:prstGeom prst="ellipse">
            <a:avLst/>
          </a:prstGeom>
          <a:solidFill>
            <a:srgbClr val="C9A15B"/>
          </a:solidFill>
          <a:ln/>
        </p:spPr>
      </p:sp>
      <p:sp>
        <p:nvSpPr>
          <p:cNvPr id="24" name="!!tly"/>
          <p:cNvSpPr txBox="1"/>
          <p:nvPr/>
        </p:nvSpPr>
        <p:spPr>
          <a:xfrm>
            <a:off x="9966686" y="60716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1916</a:t>
            </a:r>
            <a:endParaRPr lang="en-US" sz="900" dirty="0"/>
          </a:p>
        </p:txBody>
      </p:sp>
      <p:sp>
        <p:nvSpPr>
          <p:cNvPr id="25" name="!!tl0"/>
          <p:cNvSpPr txBox="1"/>
          <p:nvPr/>
        </p:nvSpPr>
        <p:spPr>
          <a:xfrm>
            <a:off x="685800" y="6492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1889</a:t>
            </a:r>
            <a:endParaRPr lang="en-US" sz="800" dirty="0"/>
          </a:p>
        </p:txBody>
      </p:sp>
      <p:sp>
        <p:nvSpPr>
          <p:cNvPr id="26" name="!!tl1"/>
          <p:cNvSpPr txBox="1"/>
          <p:nvPr/>
        </p:nvSpPr>
        <p:spPr>
          <a:xfrm>
            <a:off x="10774375" y="6492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1919</a:t>
            </a:r>
            <a:endParaRPr lang="en-US" sz="800" dirty="0"/>
          </a:p>
        </p:txBody>
      </p:sp>
      <p:sp>
        <p:nvSpPr>
          <p:cNvPr id="27" name="!!count"/>
          <p:cNvSpPr txBox="1"/>
          <p:nvPr/>
        </p:nvSpPr>
        <p:spPr>
          <a:xfrm>
            <a:off x="10225735" y="3108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pic>
        <p:nvPicPr>
          <p:cNvPr id="28" name="!!grain" descr="/root/deckwork/assets/g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work/assets/p_ga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120640" cy="6858000"/>
          </a:xfrm>
          <a:prstGeom prst="rect">
            <a:avLst/>
          </a:prstGeom>
        </p:spPr>
      </p:pic>
      <p:pic>
        <p:nvPicPr>
          <p:cNvPr id="3" name="Image 1" descr="/root/deckwork/assets/ov_g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20640" cy="6858000"/>
          </a:xfrm>
          <a:prstGeom prst="rect">
            <a:avLst/>
          </a:prstGeom>
        </p:spPr>
      </p:pic>
      <p:sp>
        <p:nvSpPr>
          <p:cNvPr id="4" name="!!year"/>
          <p:cNvSpPr txBox="1"/>
          <p:nvPr/>
        </p:nvSpPr>
        <p:spPr>
          <a:xfrm>
            <a:off x="5897880" y="384048"/>
            <a:ext cx="5605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C9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1918</a:t>
            </a:r>
            <a:endParaRPr lang="en-US" sz="6000" dirty="0"/>
          </a:p>
        </p:txBody>
      </p:sp>
      <p:sp>
        <p:nvSpPr>
          <p:cNvPr id="5" name="!!title"/>
          <p:cNvSpPr txBox="1"/>
          <p:nvPr/>
        </p:nvSpPr>
        <p:spPr>
          <a:xfrm>
            <a:off x="5897880" y="1335024"/>
            <a:ext cx="5605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Поражение</a:t>
            </a:r>
            <a:endParaRPr lang="en-US" sz="3600" dirty="0"/>
          </a:p>
        </p:txBody>
      </p:sp>
      <p:sp>
        <p:nvSpPr>
          <p:cNvPr id="6" name="!!body"/>
          <p:cNvSpPr txBox="1"/>
          <p:nvPr/>
        </p:nvSpPr>
        <p:spPr>
          <a:xfrm>
            <a:off x="5897880" y="2212848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ночь на 14 октября 1918 года под Ипром британцы обстреляли немецкие позиции газом. Гитлер временно ослеп и попал в госпиталь в Пазевальке на севере Германии. Там он узнал о революции, отречении кайзера и перемирии 11 ноября. Поражение он объяснил не силой противника, а «предательством тыла». Этот миф об 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«ударе ножом в спину»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станет одной из главных идей нацистской пропаганды.</a:t>
            </a:r>
            <a:endParaRPr lang="en-US" sz="1600" dirty="0"/>
          </a:p>
        </p:txBody>
      </p:sp>
      <p:sp>
        <p:nvSpPr>
          <p:cNvPr id="7" name="!!cap"/>
          <p:cNvSpPr txBox="1"/>
          <p:nvPr/>
        </p:nvSpPr>
        <p:spPr>
          <a:xfrm>
            <a:off x="685800" y="57058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B9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Немецкие солдаты в газовом облаке, 1916–1918 · Wikimedia Commons</a:t>
            </a:r>
            <a:endParaRPr lang="en-US" sz="900" dirty="0"/>
          </a:p>
        </p:txBody>
      </p:sp>
      <p:sp>
        <p:nvSpPr>
          <p:cNvPr id="8" name="!!tl"/>
          <p:cNvSpPr/>
          <p:nvPr/>
        </p:nvSpPr>
        <p:spPr>
          <a:xfrm>
            <a:off x="685800" y="6400800"/>
            <a:ext cx="10820095" cy="0"/>
          </a:xfrm>
          <a:prstGeom prst="line">
            <a:avLst/>
          </a:prstGeom>
          <a:noFill/>
          <a:ln w="9525">
            <a:solidFill>
              <a:srgbClr val="3A3632"/>
            </a:solidFill>
            <a:prstDash val="solid"/>
          </a:ln>
        </p:spPr>
      </p:sp>
      <p:sp>
        <p:nvSpPr>
          <p:cNvPr id="9" name="!!tk1889"/>
          <p:cNvSpPr/>
          <p:nvPr/>
        </p:nvSpPr>
        <p:spPr>
          <a:xfrm>
            <a:off x="680314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0" name="!!tk1899"/>
          <p:cNvSpPr/>
          <p:nvPr/>
        </p:nvSpPr>
        <p:spPr>
          <a:xfrm>
            <a:off x="4287012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1" name="!!tk1907"/>
          <p:cNvSpPr/>
          <p:nvPr/>
        </p:nvSpPr>
        <p:spPr>
          <a:xfrm>
            <a:off x="7172371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2" name="!!tk1910"/>
          <p:cNvSpPr/>
          <p:nvPr/>
        </p:nvSpPr>
        <p:spPr>
          <a:xfrm>
            <a:off x="825438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3" name="!!tk1912"/>
          <p:cNvSpPr/>
          <p:nvPr/>
        </p:nvSpPr>
        <p:spPr>
          <a:xfrm>
            <a:off x="897572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4" name="!!tk1913"/>
          <p:cNvSpPr/>
          <p:nvPr/>
        </p:nvSpPr>
        <p:spPr>
          <a:xfrm>
            <a:off x="933639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5" name="!!tk1914"/>
          <p:cNvSpPr/>
          <p:nvPr/>
        </p:nvSpPr>
        <p:spPr>
          <a:xfrm>
            <a:off x="969706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6" name="!!tk1916"/>
          <p:cNvSpPr/>
          <p:nvPr/>
        </p:nvSpPr>
        <p:spPr>
          <a:xfrm>
            <a:off x="1041839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7" name="!!tk1918"/>
          <p:cNvSpPr/>
          <p:nvPr/>
        </p:nvSpPr>
        <p:spPr>
          <a:xfrm>
            <a:off x="1113973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8" name="!!tk1919"/>
          <p:cNvSpPr/>
          <p:nvPr/>
        </p:nvSpPr>
        <p:spPr>
          <a:xfrm>
            <a:off x="1150040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9" name="!!tlp"/>
          <p:cNvSpPr/>
          <p:nvPr/>
        </p:nvSpPr>
        <p:spPr>
          <a:xfrm>
            <a:off x="685800" y="6392570"/>
            <a:ext cx="10459425" cy="16459"/>
          </a:xfrm>
          <a:prstGeom prst="rect">
            <a:avLst/>
          </a:prstGeom>
          <a:solidFill>
            <a:srgbClr val="C9A15B"/>
          </a:solidFill>
          <a:ln/>
        </p:spPr>
      </p:sp>
      <p:sp>
        <p:nvSpPr>
          <p:cNvPr id="20" name="!!tlh"/>
          <p:cNvSpPr/>
          <p:nvPr/>
        </p:nvSpPr>
        <p:spPr>
          <a:xfrm>
            <a:off x="11008065" y="6263640"/>
            <a:ext cx="274320" cy="274320"/>
          </a:xfrm>
          <a:prstGeom prst="ellipse">
            <a:avLst/>
          </a:prstGeom>
          <a:solidFill>
            <a:srgbClr val="C9A15B">
              <a:alpha val="18000"/>
            </a:srgbClr>
          </a:solidFill>
          <a:ln/>
        </p:spPr>
      </p:sp>
      <p:sp>
        <p:nvSpPr>
          <p:cNvPr id="21" name="!!tld"/>
          <p:cNvSpPr/>
          <p:nvPr/>
        </p:nvSpPr>
        <p:spPr>
          <a:xfrm>
            <a:off x="11090361" y="6345936"/>
            <a:ext cx="109728" cy="109728"/>
          </a:xfrm>
          <a:prstGeom prst="ellipse">
            <a:avLst/>
          </a:prstGeom>
          <a:solidFill>
            <a:srgbClr val="C9A15B"/>
          </a:solidFill>
          <a:ln/>
        </p:spPr>
      </p:sp>
      <p:sp>
        <p:nvSpPr>
          <p:cNvPr id="22" name="!!tly"/>
          <p:cNvSpPr txBox="1"/>
          <p:nvPr/>
        </p:nvSpPr>
        <p:spPr>
          <a:xfrm>
            <a:off x="10688025" y="60716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1918</a:t>
            </a:r>
            <a:endParaRPr lang="en-US" sz="900" dirty="0"/>
          </a:p>
        </p:txBody>
      </p:sp>
      <p:sp>
        <p:nvSpPr>
          <p:cNvPr id="23" name="!!tl0"/>
          <p:cNvSpPr txBox="1"/>
          <p:nvPr/>
        </p:nvSpPr>
        <p:spPr>
          <a:xfrm>
            <a:off x="685800" y="6492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1889</a:t>
            </a:r>
            <a:endParaRPr lang="en-US" sz="800" dirty="0"/>
          </a:p>
        </p:txBody>
      </p:sp>
      <p:sp>
        <p:nvSpPr>
          <p:cNvPr id="24" name="!!tl1"/>
          <p:cNvSpPr txBox="1"/>
          <p:nvPr/>
        </p:nvSpPr>
        <p:spPr>
          <a:xfrm>
            <a:off x="10774375" y="6492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1919</a:t>
            </a:r>
            <a:endParaRPr lang="en-US" sz="800" dirty="0"/>
          </a:p>
        </p:txBody>
      </p:sp>
      <p:sp>
        <p:nvSpPr>
          <p:cNvPr id="25" name="!!count"/>
          <p:cNvSpPr txBox="1"/>
          <p:nvPr/>
        </p:nvSpPr>
        <p:spPr>
          <a:xfrm>
            <a:off x="10225735" y="3108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pic>
        <p:nvPicPr>
          <p:cNvPr id="26" name="!!grain" descr="/root/deckwork/assets/g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work/assets/bg_dem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root/deckwork/assets/ov_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!!year"/>
          <p:cNvSpPr txBox="1"/>
          <p:nvPr/>
        </p:nvSpPr>
        <p:spPr>
          <a:xfrm>
            <a:off x="685800" y="38404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C9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1919</a:t>
            </a:r>
            <a:endParaRPr lang="en-US" sz="6000" dirty="0"/>
          </a:p>
        </p:txBody>
      </p:sp>
      <p:sp>
        <p:nvSpPr>
          <p:cNvPr id="5" name="!!title"/>
          <p:cNvSpPr txBox="1"/>
          <p:nvPr/>
        </p:nvSpPr>
        <p:spPr>
          <a:xfrm>
            <a:off x="685800" y="1335024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Шаг в политику</a:t>
            </a:r>
            <a:endParaRPr lang="en-US" sz="3600" dirty="0"/>
          </a:p>
        </p:txBody>
      </p:sp>
      <p:sp>
        <p:nvSpPr>
          <p:cNvPr id="6" name="!!body"/>
          <p:cNvSpPr txBox="1"/>
          <p:nvPr/>
        </p:nvSpPr>
        <p:spPr>
          <a:xfrm>
            <a:off x="685800" y="2212848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Весной 1919 года в Мюнхене провозгласили Баварскую советскую республику, в мае её жестоко разгромили войска и добровольческие отряды. Гитлер остался в армии: прошёл курсы пропаганды у капитана Карла Майра и стал осведомителем. 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сентября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его отправили на собрание крошечной Немецкой рабочей партии. Он вмешался в спор, понравился, и его позвали в партию.</a:t>
            </a:r>
            <a:endParaRPr lang="en-US" sz="1600" dirty="0"/>
          </a:p>
        </p:txBody>
      </p:sp>
      <p:sp>
        <p:nvSpPr>
          <p:cNvPr id="7" name="!!stat"/>
          <p:cNvSpPr txBox="1"/>
          <p:nvPr/>
        </p:nvSpPr>
        <p:spPr>
          <a:xfrm>
            <a:off x="685800" y="42976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C9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№ 555</a:t>
            </a:r>
            <a:endParaRPr lang="en-US" sz="5400" dirty="0"/>
          </a:p>
        </p:txBody>
      </p:sp>
      <p:sp>
        <p:nvSpPr>
          <p:cNvPr id="8" name="!!statl"/>
          <p:cNvSpPr txBox="1"/>
          <p:nvPr/>
        </p:nvSpPr>
        <p:spPr>
          <a:xfrm>
            <a:off x="704088" y="51023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его партбилет: номера начинали с 501, чтобы партия казалась больше</a:t>
            </a:r>
            <a:endParaRPr lang="en-US" sz="1100" dirty="0"/>
          </a:p>
        </p:txBody>
      </p:sp>
      <p:sp>
        <p:nvSpPr>
          <p:cNvPr id="9" name="!!cap"/>
          <p:cNvSpPr txBox="1"/>
          <p:nvPr/>
        </p:nvSpPr>
        <p:spPr>
          <a:xfrm>
            <a:off x="6933895" y="57058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B9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 на Людвигштрассе, Мюнхен, 22 апреля 1919 · Wikimedia Commons</a:t>
            </a:r>
            <a:endParaRPr lang="en-US" sz="900" dirty="0"/>
          </a:p>
        </p:txBody>
      </p:sp>
      <p:sp>
        <p:nvSpPr>
          <p:cNvPr id="10" name="!!tl"/>
          <p:cNvSpPr/>
          <p:nvPr/>
        </p:nvSpPr>
        <p:spPr>
          <a:xfrm>
            <a:off x="685800" y="6400800"/>
            <a:ext cx="10820095" cy="0"/>
          </a:xfrm>
          <a:prstGeom prst="line">
            <a:avLst/>
          </a:prstGeom>
          <a:noFill/>
          <a:ln w="9525">
            <a:solidFill>
              <a:srgbClr val="3A3632"/>
            </a:solidFill>
            <a:prstDash val="solid"/>
          </a:ln>
        </p:spPr>
      </p:sp>
      <p:sp>
        <p:nvSpPr>
          <p:cNvPr id="11" name="!!tk1889"/>
          <p:cNvSpPr/>
          <p:nvPr/>
        </p:nvSpPr>
        <p:spPr>
          <a:xfrm>
            <a:off x="680314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2" name="!!tk1899"/>
          <p:cNvSpPr/>
          <p:nvPr/>
        </p:nvSpPr>
        <p:spPr>
          <a:xfrm>
            <a:off x="4287012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3" name="!!tk1907"/>
          <p:cNvSpPr/>
          <p:nvPr/>
        </p:nvSpPr>
        <p:spPr>
          <a:xfrm>
            <a:off x="7172371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4" name="!!tk1910"/>
          <p:cNvSpPr/>
          <p:nvPr/>
        </p:nvSpPr>
        <p:spPr>
          <a:xfrm>
            <a:off x="825438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5" name="!!tk1912"/>
          <p:cNvSpPr/>
          <p:nvPr/>
        </p:nvSpPr>
        <p:spPr>
          <a:xfrm>
            <a:off x="897572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6" name="!!tk1913"/>
          <p:cNvSpPr/>
          <p:nvPr/>
        </p:nvSpPr>
        <p:spPr>
          <a:xfrm>
            <a:off x="933639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7" name="!!tk1914"/>
          <p:cNvSpPr/>
          <p:nvPr/>
        </p:nvSpPr>
        <p:spPr>
          <a:xfrm>
            <a:off x="969706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8" name="!!tk1916"/>
          <p:cNvSpPr/>
          <p:nvPr/>
        </p:nvSpPr>
        <p:spPr>
          <a:xfrm>
            <a:off x="1041839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9" name="!!tk1918"/>
          <p:cNvSpPr/>
          <p:nvPr/>
        </p:nvSpPr>
        <p:spPr>
          <a:xfrm>
            <a:off x="1113973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0" name="!!tk1919"/>
          <p:cNvSpPr/>
          <p:nvPr/>
        </p:nvSpPr>
        <p:spPr>
          <a:xfrm>
            <a:off x="1150040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1" name="!!tlp"/>
          <p:cNvSpPr/>
          <p:nvPr/>
        </p:nvSpPr>
        <p:spPr>
          <a:xfrm>
            <a:off x="685800" y="6392570"/>
            <a:ext cx="10820095" cy="16459"/>
          </a:xfrm>
          <a:prstGeom prst="rect">
            <a:avLst/>
          </a:prstGeom>
          <a:solidFill>
            <a:srgbClr val="C9A15B"/>
          </a:solidFill>
          <a:ln/>
        </p:spPr>
      </p:sp>
      <p:sp>
        <p:nvSpPr>
          <p:cNvPr id="22" name="!!tlh"/>
          <p:cNvSpPr/>
          <p:nvPr/>
        </p:nvSpPr>
        <p:spPr>
          <a:xfrm>
            <a:off x="11368735" y="6263640"/>
            <a:ext cx="274320" cy="274320"/>
          </a:xfrm>
          <a:prstGeom prst="ellipse">
            <a:avLst/>
          </a:prstGeom>
          <a:solidFill>
            <a:srgbClr val="C9A15B">
              <a:alpha val="18000"/>
            </a:srgbClr>
          </a:solidFill>
          <a:ln/>
        </p:spPr>
      </p:sp>
      <p:sp>
        <p:nvSpPr>
          <p:cNvPr id="23" name="!!tld"/>
          <p:cNvSpPr/>
          <p:nvPr/>
        </p:nvSpPr>
        <p:spPr>
          <a:xfrm>
            <a:off x="11451031" y="6345936"/>
            <a:ext cx="109728" cy="109728"/>
          </a:xfrm>
          <a:prstGeom prst="ellipse">
            <a:avLst/>
          </a:prstGeom>
          <a:solidFill>
            <a:srgbClr val="C9A15B"/>
          </a:solidFill>
          <a:ln/>
        </p:spPr>
      </p:sp>
      <p:sp>
        <p:nvSpPr>
          <p:cNvPr id="24" name="!!tly"/>
          <p:cNvSpPr txBox="1"/>
          <p:nvPr/>
        </p:nvSpPr>
        <p:spPr>
          <a:xfrm>
            <a:off x="11048695" y="60716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1919</a:t>
            </a:r>
            <a:endParaRPr lang="en-US" sz="900" dirty="0"/>
          </a:p>
        </p:txBody>
      </p:sp>
      <p:sp>
        <p:nvSpPr>
          <p:cNvPr id="25" name="!!tl0"/>
          <p:cNvSpPr txBox="1"/>
          <p:nvPr/>
        </p:nvSpPr>
        <p:spPr>
          <a:xfrm>
            <a:off x="685800" y="6492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1889</a:t>
            </a:r>
            <a:endParaRPr lang="en-US" sz="800" dirty="0"/>
          </a:p>
        </p:txBody>
      </p:sp>
      <p:sp>
        <p:nvSpPr>
          <p:cNvPr id="26" name="!!tl1"/>
          <p:cNvSpPr txBox="1"/>
          <p:nvPr/>
        </p:nvSpPr>
        <p:spPr>
          <a:xfrm>
            <a:off x="10774375" y="6492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1919</a:t>
            </a:r>
            <a:endParaRPr lang="en-US" sz="800" dirty="0"/>
          </a:p>
        </p:txBody>
      </p:sp>
      <p:sp>
        <p:nvSpPr>
          <p:cNvPr id="27" name="!!count"/>
          <p:cNvSpPr txBox="1"/>
          <p:nvPr/>
        </p:nvSpPr>
        <p:spPr>
          <a:xfrm>
            <a:off x="10225735" y="3108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pic>
        <p:nvPicPr>
          <p:cNvPr id="28" name="!!grain" descr="/root/deckwork/assets/g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work/assets/bg_m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root/deckwork/assets/ov_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!!year"/>
          <p:cNvSpPr txBox="1"/>
          <p:nvPr/>
        </p:nvSpPr>
        <p:spPr>
          <a:xfrm>
            <a:off x="685800" y="38404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C9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1889–1919</a:t>
            </a:r>
            <a:endParaRPr lang="en-US" sz="5400" dirty="0"/>
          </a:p>
        </p:txBody>
      </p:sp>
      <p:sp>
        <p:nvSpPr>
          <p:cNvPr id="5" name="!!title"/>
          <p:cNvSpPr txBox="1"/>
          <p:nvPr/>
        </p:nvSpPr>
        <p:spPr>
          <a:xfrm>
            <a:off x="685800" y="1335024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Тридцать лет на одной карте</a:t>
            </a:r>
            <a:endParaRPr lang="en-US" sz="3600" dirty="0"/>
          </a:p>
        </p:txBody>
      </p:sp>
      <p:sp>
        <p:nvSpPr>
          <p:cNvPr id="6" name="!!body"/>
          <p:cNvSpPr txBox="1"/>
          <p:nvPr/>
        </p:nvSpPr>
        <p:spPr>
          <a:xfrm>
            <a:off x="685800" y="2697480"/>
            <a:ext cx="4069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Почти вся его жизнь до 1919 года уместилась между Дунаем и Фландрией. Браунау, Линц и Вена — детство и юность в Австро-Венгрии. Мюнхен — новый дом. Потом окопы Бельгии и Франции, госпитали в Белице и Пазевальке. В 1919 году 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 замкнулся в Мюнхене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где и началась его политическая карьера.</a:t>
            </a:r>
            <a:endParaRPr lang="en-US" sz="1600" dirty="0"/>
          </a:p>
        </p:txBody>
      </p:sp>
      <p:sp>
        <p:nvSpPr>
          <p:cNvPr id="7" name="d0"/>
          <p:cNvSpPr/>
          <p:nvPr/>
        </p:nvSpPr>
        <p:spPr>
          <a:xfrm>
            <a:off x="9774936" y="5257800"/>
            <a:ext cx="128016" cy="128016"/>
          </a:xfrm>
          <a:prstGeom prst="ellipse">
            <a:avLst/>
          </a:prstGeom>
          <a:solidFill>
            <a:srgbClr val="C9A15B"/>
          </a:solidFill>
          <a:ln w="19050">
            <a:solidFill>
              <a:srgbClr val="0A0A0B"/>
            </a:solidFill>
            <a:prstDash val="solid"/>
          </a:ln>
        </p:spPr>
      </p:sp>
      <p:sp>
        <p:nvSpPr>
          <p:cNvPr id="8" name="d1"/>
          <p:cNvSpPr/>
          <p:nvPr/>
        </p:nvSpPr>
        <p:spPr>
          <a:xfrm>
            <a:off x="10369296" y="5193792"/>
            <a:ext cx="128016" cy="128016"/>
          </a:xfrm>
          <a:prstGeom prst="ellipse">
            <a:avLst/>
          </a:prstGeom>
          <a:solidFill>
            <a:srgbClr val="C9A15B"/>
          </a:solidFill>
          <a:ln w="19050">
            <a:solidFill>
              <a:srgbClr val="0A0A0B"/>
            </a:solidFill>
            <a:prstDash val="solid"/>
          </a:ln>
        </p:spPr>
      </p:sp>
      <p:sp>
        <p:nvSpPr>
          <p:cNvPr id="9" name="d2"/>
          <p:cNvSpPr/>
          <p:nvPr/>
        </p:nvSpPr>
        <p:spPr>
          <a:xfrm>
            <a:off x="11365992" y="5193792"/>
            <a:ext cx="128016" cy="128016"/>
          </a:xfrm>
          <a:prstGeom prst="ellipse">
            <a:avLst/>
          </a:prstGeom>
          <a:solidFill>
            <a:srgbClr val="C9A15B"/>
          </a:solidFill>
          <a:ln w="19050">
            <a:solidFill>
              <a:srgbClr val="0A0A0B"/>
            </a:solidFill>
            <a:prstDash val="solid"/>
          </a:ln>
        </p:spPr>
      </p:sp>
      <p:sp>
        <p:nvSpPr>
          <p:cNvPr id="10" name="d3"/>
          <p:cNvSpPr/>
          <p:nvPr/>
        </p:nvSpPr>
        <p:spPr>
          <a:xfrm>
            <a:off x="9089136" y="5367528"/>
            <a:ext cx="128016" cy="128016"/>
          </a:xfrm>
          <a:prstGeom prst="ellipse">
            <a:avLst/>
          </a:prstGeom>
          <a:solidFill>
            <a:srgbClr val="C9A15B"/>
          </a:solidFill>
          <a:ln w="19050">
            <a:solidFill>
              <a:srgbClr val="0A0A0B"/>
            </a:solidFill>
            <a:prstDash val="solid"/>
          </a:ln>
        </p:spPr>
      </p:sp>
      <p:sp>
        <p:nvSpPr>
          <p:cNvPr id="11" name="d4"/>
          <p:cNvSpPr/>
          <p:nvPr/>
        </p:nvSpPr>
        <p:spPr>
          <a:xfrm>
            <a:off x="5129784" y="3282696"/>
            <a:ext cx="128016" cy="128016"/>
          </a:xfrm>
          <a:prstGeom prst="ellipse">
            <a:avLst/>
          </a:prstGeom>
          <a:solidFill>
            <a:srgbClr val="C9A15B"/>
          </a:solidFill>
          <a:ln w="19050">
            <a:solidFill>
              <a:srgbClr val="0A0A0B"/>
            </a:solidFill>
            <a:prstDash val="solid"/>
          </a:ln>
        </p:spPr>
      </p:sp>
      <p:sp>
        <p:nvSpPr>
          <p:cNvPr id="12" name="d5"/>
          <p:cNvSpPr/>
          <p:nvPr/>
        </p:nvSpPr>
        <p:spPr>
          <a:xfrm>
            <a:off x="5020056" y="3849624"/>
            <a:ext cx="109728" cy="109728"/>
          </a:xfrm>
          <a:prstGeom prst="ellipse">
            <a:avLst/>
          </a:prstGeom>
          <a:solidFill>
            <a:srgbClr val="0A0A0B"/>
          </a:solidFill>
          <a:ln w="19050">
            <a:solidFill>
              <a:srgbClr val="C9A15B"/>
            </a:solidFill>
            <a:prstDash val="solid"/>
          </a:ln>
        </p:spPr>
      </p:sp>
      <p:sp>
        <p:nvSpPr>
          <p:cNvPr id="13" name="d6"/>
          <p:cNvSpPr/>
          <p:nvPr/>
        </p:nvSpPr>
        <p:spPr>
          <a:xfrm>
            <a:off x="9637776" y="2423160"/>
            <a:ext cx="109728" cy="109728"/>
          </a:xfrm>
          <a:prstGeom prst="ellipse">
            <a:avLst/>
          </a:prstGeom>
          <a:solidFill>
            <a:srgbClr val="0A0A0B"/>
          </a:solidFill>
          <a:ln w="19050">
            <a:solidFill>
              <a:srgbClr val="C9A15B"/>
            </a:solidFill>
            <a:prstDash val="solid"/>
          </a:ln>
        </p:spPr>
      </p:sp>
      <p:sp>
        <p:nvSpPr>
          <p:cNvPr id="14" name="d7"/>
          <p:cNvSpPr/>
          <p:nvPr/>
        </p:nvSpPr>
        <p:spPr>
          <a:xfrm>
            <a:off x="10030968" y="1490472"/>
            <a:ext cx="128016" cy="128016"/>
          </a:xfrm>
          <a:prstGeom prst="ellipse">
            <a:avLst/>
          </a:prstGeom>
          <a:solidFill>
            <a:srgbClr val="C9A15B"/>
          </a:solidFill>
          <a:ln w="19050">
            <a:solidFill>
              <a:srgbClr val="0A0A0B"/>
            </a:solidFill>
            <a:prstDash val="solid"/>
          </a:ln>
        </p:spPr>
      </p:sp>
      <p:sp>
        <p:nvSpPr>
          <p:cNvPr id="15" name="l0"/>
          <p:cNvSpPr txBox="1"/>
          <p:nvPr/>
        </p:nvSpPr>
        <p:spPr>
          <a:xfrm>
            <a:off x="8723376" y="4809744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3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Браунау</a:t>
            </a:r>
            <a:endParaRPr lang="en-US" sz="11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1889</a:t>
            </a:r>
            <a:endParaRPr lang="en-US" sz="1100" dirty="0"/>
          </a:p>
        </p:txBody>
      </p:sp>
      <p:sp>
        <p:nvSpPr>
          <p:cNvPr id="16" name="l1"/>
          <p:cNvSpPr txBox="1"/>
          <p:nvPr/>
        </p:nvSpPr>
        <p:spPr>
          <a:xfrm>
            <a:off x="9930384" y="4727448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Линц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1898–1907</a:t>
            </a:r>
            <a:endParaRPr lang="en-US" sz="1100" dirty="0"/>
          </a:p>
        </p:txBody>
      </p:sp>
      <p:sp>
        <p:nvSpPr>
          <p:cNvPr id="17" name="l2"/>
          <p:cNvSpPr txBox="1"/>
          <p:nvPr/>
        </p:nvSpPr>
        <p:spPr>
          <a:xfrm>
            <a:off x="10460736" y="4727448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3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Вена</a:t>
            </a:r>
            <a:endParaRPr lang="en-US" sz="11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1907–1913</a:t>
            </a:r>
            <a:endParaRPr lang="en-US" sz="1100" dirty="0"/>
          </a:p>
        </p:txBody>
      </p:sp>
      <p:sp>
        <p:nvSpPr>
          <p:cNvPr id="18" name="l3"/>
          <p:cNvSpPr txBox="1"/>
          <p:nvPr/>
        </p:nvSpPr>
        <p:spPr>
          <a:xfrm>
            <a:off x="7781544" y="534924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3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Мюнхен</a:t>
            </a:r>
            <a:endParaRPr lang="en-US" sz="11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1913, 1919</a:t>
            </a:r>
            <a:endParaRPr lang="en-US" sz="1100" dirty="0"/>
          </a:p>
        </p:txBody>
      </p:sp>
      <p:sp>
        <p:nvSpPr>
          <p:cNvPr id="19" name="l4"/>
          <p:cNvSpPr txBox="1"/>
          <p:nvPr/>
        </p:nvSpPr>
        <p:spPr>
          <a:xfrm>
            <a:off x="5349240" y="283464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3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Ипр, Фландрия</a:t>
            </a:r>
            <a:endParaRPr lang="en-US" sz="11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фронт, 1914–1918</a:t>
            </a:r>
            <a:endParaRPr lang="en-US" sz="1100" dirty="0"/>
          </a:p>
        </p:txBody>
      </p:sp>
      <p:sp>
        <p:nvSpPr>
          <p:cNvPr id="20" name="l5"/>
          <p:cNvSpPr txBox="1"/>
          <p:nvPr/>
        </p:nvSpPr>
        <p:spPr>
          <a:xfrm>
            <a:off x="5230368" y="3931920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3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Сомма</a:t>
            </a:r>
            <a:endParaRPr lang="en-US" sz="11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ранение, 1916</a:t>
            </a:r>
            <a:endParaRPr lang="en-US" sz="1100" dirty="0"/>
          </a:p>
        </p:txBody>
      </p:sp>
      <p:sp>
        <p:nvSpPr>
          <p:cNvPr id="21" name="l6"/>
          <p:cNvSpPr txBox="1"/>
          <p:nvPr/>
        </p:nvSpPr>
        <p:spPr>
          <a:xfrm>
            <a:off x="8302752" y="2304288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3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Белиц</a:t>
            </a:r>
            <a:endParaRPr lang="en-US" sz="11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госпиталь, 1916</a:t>
            </a:r>
            <a:endParaRPr lang="en-US" sz="1100" dirty="0"/>
          </a:p>
        </p:txBody>
      </p:sp>
      <p:sp>
        <p:nvSpPr>
          <p:cNvPr id="22" name="l7"/>
          <p:cNvSpPr txBox="1"/>
          <p:nvPr/>
        </p:nvSpPr>
        <p:spPr>
          <a:xfrm>
            <a:off x="10250424" y="1353312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3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Пазевальк</a:t>
            </a:r>
            <a:endParaRPr lang="en-US" sz="11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госпиталь, 1918</a:t>
            </a:r>
            <a:endParaRPr lang="en-US" sz="1100" dirty="0"/>
          </a:p>
        </p:txBody>
      </p:sp>
      <p:sp>
        <p:nvSpPr>
          <p:cNvPr id="23" name="!!cap"/>
          <p:cNvSpPr txBox="1"/>
          <p:nvPr/>
        </p:nvSpPr>
        <p:spPr>
          <a:xfrm>
            <a:off x="6659575" y="57058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B9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Границы на 1914 год: </a:t>
            </a:r>
            <a:pPr algn="r" indent="0" marL="0">
              <a:buNone/>
            </a:pPr>
            <a:r>
              <a:rPr lang="en-US" sz="900" dirty="0">
                <a:solidFill>
                  <a:srgbClr val="B9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historical-basemaps (A. Ourednik), </a:t>
            </a:r>
            <a:pPr algn="r" indent="0" marL="0">
              <a:buNone/>
            </a:pPr>
            <a:r>
              <a:rPr lang="en-US" sz="900" dirty="0">
                <a:solidFill>
                  <a:srgbClr val="B9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реки и побережье: </a:t>
            </a:r>
            <a:pPr algn="r" indent="0" marL="0">
              <a:buNone/>
            </a:pPr>
            <a:r>
              <a:rPr lang="en-US" sz="900" dirty="0">
                <a:solidFill>
                  <a:srgbClr val="B9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Earth</a:t>
            </a:r>
            <a:endParaRPr lang="en-US" sz="900" dirty="0"/>
          </a:p>
        </p:txBody>
      </p:sp>
      <p:sp>
        <p:nvSpPr>
          <p:cNvPr id="24" name="!!tl"/>
          <p:cNvSpPr/>
          <p:nvPr/>
        </p:nvSpPr>
        <p:spPr>
          <a:xfrm>
            <a:off x="685800" y="6400800"/>
            <a:ext cx="10820095" cy="0"/>
          </a:xfrm>
          <a:prstGeom prst="line">
            <a:avLst/>
          </a:prstGeom>
          <a:noFill/>
          <a:ln w="9525">
            <a:solidFill>
              <a:srgbClr val="3A3632"/>
            </a:solidFill>
            <a:prstDash val="solid"/>
          </a:ln>
        </p:spPr>
      </p:sp>
      <p:sp>
        <p:nvSpPr>
          <p:cNvPr id="25" name="!!tk1889"/>
          <p:cNvSpPr/>
          <p:nvPr/>
        </p:nvSpPr>
        <p:spPr>
          <a:xfrm>
            <a:off x="680314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6" name="!!tk1899"/>
          <p:cNvSpPr/>
          <p:nvPr/>
        </p:nvSpPr>
        <p:spPr>
          <a:xfrm>
            <a:off x="4287012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7" name="!!tk1907"/>
          <p:cNvSpPr/>
          <p:nvPr/>
        </p:nvSpPr>
        <p:spPr>
          <a:xfrm>
            <a:off x="7172371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8" name="!!tk1910"/>
          <p:cNvSpPr/>
          <p:nvPr/>
        </p:nvSpPr>
        <p:spPr>
          <a:xfrm>
            <a:off x="825438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9" name="!!tk1912"/>
          <p:cNvSpPr/>
          <p:nvPr/>
        </p:nvSpPr>
        <p:spPr>
          <a:xfrm>
            <a:off x="897572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30" name="!!tk1913"/>
          <p:cNvSpPr/>
          <p:nvPr/>
        </p:nvSpPr>
        <p:spPr>
          <a:xfrm>
            <a:off x="933639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31" name="!!tk1914"/>
          <p:cNvSpPr/>
          <p:nvPr/>
        </p:nvSpPr>
        <p:spPr>
          <a:xfrm>
            <a:off x="969706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32" name="!!tk1916"/>
          <p:cNvSpPr/>
          <p:nvPr/>
        </p:nvSpPr>
        <p:spPr>
          <a:xfrm>
            <a:off x="1041839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33" name="!!tk1918"/>
          <p:cNvSpPr/>
          <p:nvPr/>
        </p:nvSpPr>
        <p:spPr>
          <a:xfrm>
            <a:off x="1113973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34" name="!!tk1919"/>
          <p:cNvSpPr/>
          <p:nvPr/>
        </p:nvSpPr>
        <p:spPr>
          <a:xfrm>
            <a:off x="1150040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35" name="!!tlp"/>
          <p:cNvSpPr/>
          <p:nvPr/>
        </p:nvSpPr>
        <p:spPr>
          <a:xfrm>
            <a:off x="685800" y="6392570"/>
            <a:ext cx="10820095" cy="16459"/>
          </a:xfrm>
          <a:prstGeom prst="rect">
            <a:avLst/>
          </a:prstGeom>
          <a:solidFill>
            <a:srgbClr val="C9A15B"/>
          </a:solidFill>
          <a:ln/>
        </p:spPr>
      </p:sp>
      <p:sp>
        <p:nvSpPr>
          <p:cNvPr id="36" name="!!tlh"/>
          <p:cNvSpPr/>
          <p:nvPr/>
        </p:nvSpPr>
        <p:spPr>
          <a:xfrm>
            <a:off x="11368735" y="6263640"/>
            <a:ext cx="274320" cy="274320"/>
          </a:xfrm>
          <a:prstGeom prst="ellipse">
            <a:avLst/>
          </a:prstGeom>
          <a:solidFill>
            <a:srgbClr val="C9A15B">
              <a:alpha val="18000"/>
            </a:srgbClr>
          </a:solidFill>
          <a:ln/>
        </p:spPr>
      </p:sp>
      <p:sp>
        <p:nvSpPr>
          <p:cNvPr id="37" name="!!tld"/>
          <p:cNvSpPr/>
          <p:nvPr/>
        </p:nvSpPr>
        <p:spPr>
          <a:xfrm>
            <a:off x="11451031" y="6345936"/>
            <a:ext cx="109728" cy="109728"/>
          </a:xfrm>
          <a:prstGeom prst="ellipse">
            <a:avLst/>
          </a:prstGeom>
          <a:solidFill>
            <a:srgbClr val="C9A15B"/>
          </a:solidFill>
          <a:ln/>
        </p:spPr>
      </p:sp>
      <p:sp>
        <p:nvSpPr>
          <p:cNvPr id="38" name="!!tly"/>
          <p:cNvSpPr txBox="1"/>
          <p:nvPr/>
        </p:nvSpPr>
        <p:spPr>
          <a:xfrm>
            <a:off x="11048695" y="60716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1919</a:t>
            </a:r>
            <a:endParaRPr lang="en-US" sz="900" dirty="0"/>
          </a:p>
        </p:txBody>
      </p:sp>
      <p:sp>
        <p:nvSpPr>
          <p:cNvPr id="39" name="!!tl0"/>
          <p:cNvSpPr txBox="1"/>
          <p:nvPr/>
        </p:nvSpPr>
        <p:spPr>
          <a:xfrm>
            <a:off x="685800" y="6492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1889</a:t>
            </a:r>
            <a:endParaRPr lang="en-US" sz="800" dirty="0"/>
          </a:p>
        </p:txBody>
      </p:sp>
      <p:sp>
        <p:nvSpPr>
          <p:cNvPr id="40" name="!!tl1"/>
          <p:cNvSpPr txBox="1"/>
          <p:nvPr/>
        </p:nvSpPr>
        <p:spPr>
          <a:xfrm>
            <a:off x="10774375" y="6492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1919</a:t>
            </a:r>
            <a:endParaRPr lang="en-US" sz="800" dirty="0"/>
          </a:p>
        </p:txBody>
      </p:sp>
      <p:sp>
        <p:nvSpPr>
          <p:cNvPr id="41" name="!!count"/>
          <p:cNvSpPr txBox="1"/>
          <p:nvPr/>
        </p:nvSpPr>
        <p:spPr>
          <a:xfrm>
            <a:off x="10225735" y="3108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pic>
        <p:nvPicPr>
          <p:cNvPr id="42" name="!!grain" descr="/root/deckwork/assets/g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work/assets/bg_tren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root/deckwork/assets/ov_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!!year"/>
          <p:cNvSpPr txBox="1"/>
          <p:nvPr/>
        </p:nvSpPr>
        <p:spPr>
          <a:xfrm>
            <a:off x="685800" y="384048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C9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1919</a:t>
            </a:r>
            <a:endParaRPr lang="en-US" sz="6000" dirty="0"/>
          </a:p>
        </p:txBody>
      </p:sp>
      <p:sp>
        <p:nvSpPr>
          <p:cNvPr id="5" name="!!title"/>
          <p:cNvSpPr txBox="1"/>
          <p:nvPr/>
        </p:nvSpPr>
        <p:spPr>
          <a:xfrm>
            <a:off x="685800" y="1335024"/>
            <a:ext cx="8686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 чего он сложился</a:t>
            </a:r>
            <a:endParaRPr lang="en-US" sz="3600" dirty="0"/>
          </a:p>
        </p:txBody>
      </p:sp>
      <p:sp>
        <p:nvSpPr>
          <p:cNvPr id="6" name="n0"/>
          <p:cNvSpPr txBox="1"/>
          <p:nvPr/>
        </p:nvSpPr>
        <p:spPr>
          <a:xfrm>
            <a:off x="685800" y="23500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9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ct0"/>
          <p:cNvSpPr txBox="1"/>
          <p:nvPr/>
        </p:nvSpPr>
        <p:spPr>
          <a:xfrm>
            <a:off x="1344168" y="239572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Обиды.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F3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Школа без аттестата, два отказа Академии, нищета в Вене.</a:t>
            </a:r>
            <a:endParaRPr lang="en-US" sz="1500" dirty="0"/>
          </a:p>
        </p:txBody>
      </p:sp>
      <p:sp>
        <p:nvSpPr>
          <p:cNvPr id="8" name="n1"/>
          <p:cNvSpPr txBox="1"/>
          <p:nvPr/>
        </p:nvSpPr>
        <p:spPr>
          <a:xfrm>
            <a:off x="6172200" y="23500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9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ct1"/>
          <p:cNvSpPr txBox="1"/>
          <p:nvPr/>
        </p:nvSpPr>
        <p:spPr>
          <a:xfrm>
            <a:off x="6830568" y="239572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Идеи.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F3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Антисемитизм и национализм, которыми жила венская политика.</a:t>
            </a:r>
            <a:endParaRPr lang="en-US" sz="1500" dirty="0"/>
          </a:p>
        </p:txBody>
      </p:sp>
      <p:sp>
        <p:nvSpPr>
          <p:cNvPr id="10" name="n2"/>
          <p:cNvSpPr txBox="1"/>
          <p:nvPr/>
        </p:nvSpPr>
        <p:spPr>
          <a:xfrm>
            <a:off x="685800" y="3200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9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ct2"/>
          <p:cNvSpPr txBox="1"/>
          <p:nvPr/>
        </p:nvSpPr>
        <p:spPr>
          <a:xfrm>
            <a:off x="1344168" y="32461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Война.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F3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Фронт дал ему то, чего не было в мирной жизни: дело и своё место.</a:t>
            </a:r>
            <a:endParaRPr lang="en-US" sz="1500" dirty="0"/>
          </a:p>
        </p:txBody>
      </p:sp>
      <p:sp>
        <p:nvSpPr>
          <p:cNvPr id="12" name="n3"/>
          <p:cNvSpPr txBox="1"/>
          <p:nvPr/>
        </p:nvSpPr>
        <p:spPr>
          <a:xfrm>
            <a:off x="6172200" y="3200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9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3" name="ct3"/>
          <p:cNvSpPr txBox="1"/>
          <p:nvPr/>
        </p:nvSpPr>
        <p:spPr>
          <a:xfrm>
            <a:off x="6830568" y="32461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Поражение.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F3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Он объяснил его «ударом ножом в спину» — и нашёл виноватых.</a:t>
            </a:r>
            <a:endParaRPr lang="en-US" sz="1500" dirty="0"/>
          </a:p>
        </p:txBody>
      </p:sp>
      <p:sp>
        <p:nvSpPr>
          <p:cNvPr id="14" name="!!body"/>
          <p:cNvSpPr txBox="1"/>
          <p:nvPr/>
        </p:nvSpPr>
        <p:spPr>
          <a:xfrm>
            <a:off x="685800" y="4224528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i="1" dirty="0">
                <a:solidFill>
                  <a:srgbClr val="E8E1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Таких обиженных ветеранов в 1919 году были тысячи. Чтобы один из них стал диктатором, понадобились годы — и миллионы людей, которые пошли за ним.</a:t>
            </a:r>
            <a:endParaRPr lang="en-US" sz="2000" dirty="0"/>
          </a:p>
        </p:txBody>
      </p:sp>
      <p:sp>
        <p:nvSpPr>
          <p:cNvPr id="15" name="!!cap"/>
          <p:cNvSpPr txBox="1"/>
          <p:nvPr/>
        </p:nvSpPr>
        <p:spPr>
          <a:xfrm>
            <a:off x="685800" y="5285232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Литература: Я. Кершоу «Гитлер»; Б. Хаманн «Вена Гитлера»; Т. Вебер «Первая война Гитлера»; Ф. Ульрих «Адольф Гитлер. Годы восхождения»; И. Фест «Гитлер». Изображения — </a:t>
            </a:r>
            <a:pPr indent="0" marL="0">
              <a:buNone/>
            </a:pPr>
            <a:r>
              <a:rPr lang="en-US" sz="900" dirty="0">
                <a:solidFill>
                  <a:srgbClr val="B9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Wikimedia Commons; </a:t>
            </a:r>
            <a:pPr indent="0" marL="0">
              <a:buNone/>
            </a:pPr>
            <a:r>
              <a:rPr lang="en-US" sz="900" dirty="0">
                <a:solidFill>
                  <a:srgbClr val="B9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фон: окоп у Делвиль-Вуд, Сомма, 1916 (</a:t>
            </a:r>
            <a:pPr indent="0" marL="0">
              <a:buNone/>
            </a:pPr>
            <a:r>
              <a:rPr lang="en-US" sz="900" dirty="0">
                <a:solidFill>
                  <a:srgbClr val="B9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W. Brooke).</a:t>
            </a:r>
            <a:endParaRPr lang="en-US" sz="900" dirty="0"/>
          </a:p>
        </p:txBody>
      </p:sp>
      <p:sp>
        <p:nvSpPr>
          <p:cNvPr id="16" name="!!tl"/>
          <p:cNvSpPr/>
          <p:nvPr/>
        </p:nvSpPr>
        <p:spPr>
          <a:xfrm>
            <a:off x="685800" y="6400800"/>
            <a:ext cx="10820095" cy="0"/>
          </a:xfrm>
          <a:prstGeom prst="line">
            <a:avLst/>
          </a:prstGeom>
          <a:noFill/>
          <a:ln w="9525">
            <a:solidFill>
              <a:srgbClr val="3A3632"/>
            </a:solidFill>
            <a:prstDash val="solid"/>
          </a:ln>
        </p:spPr>
      </p:sp>
      <p:sp>
        <p:nvSpPr>
          <p:cNvPr id="17" name="!!tk1889"/>
          <p:cNvSpPr/>
          <p:nvPr/>
        </p:nvSpPr>
        <p:spPr>
          <a:xfrm>
            <a:off x="680314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8" name="!!tk1899"/>
          <p:cNvSpPr/>
          <p:nvPr/>
        </p:nvSpPr>
        <p:spPr>
          <a:xfrm>
            <a:off x="4287012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19" name="!!tk1907"/>
          <p:cNvSpPr/>
          <p:nvPr/>
        </p:nvSpPr>
        <p:spPr>
          <a:xfrm>
            <a:off x="7172371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0" name="!!tk1910"/>
          <p:cNvSpPr/>
          <p:nvPr/>
        </p:nvSpPr>
        <p:spPr>
          <a:xfrm>
            <a:off x="825438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1" name="!!tk1912"/>
          <p:cNvSpPr/>
          <p:nvPr/>
        </p:nvSpPr>
        <p:spPr>
          <a:xfrm>
            <a:off x="897572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2" name="!!tk1913"/>
          <p:cNvSpPr/>
          <p:nvPr/>
        </p:nvSpPr>
        <p:spPr>
          <a:xfrm>
            <a:off x="933639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3" name="!!tk1914"/>
          <p:cNvSpPr/>
          <p:nvPr/>
        </p:nvSpPr>
        <p:spPr>
          <a:xfrm>
            <a:off x="9697060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4" name="!!tk1916"/>
          <p:cNvSpPr/>
          <p:nvPr/>
        </p:nvSpPr>
        <p:spPr>
          <a:xfrm>
            <a:off x="1041839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5" name="!!tk1918"/>
          <p:cNvSpPr/>
          <p:nvPr/>
        </p:nvSpPr>
        <p:spPr>
          <a:xfrm>
            <a:off x="1113973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6" name="!!tk1919"/>
          <p:cNvSpPr/>
          <p:nvPr/>
        </p:nvSpPr>
        <p:spPr>
          <a:xfrm>
            <a:off x="11500409" y="6368796"/>
            <a:ext cx="10973" cy="64008"/>
          </a:xfrm>
          <a:prstGeom prst="rect">
            <a:avLst/>
          </a:prstGeom>
          <a:solidFill>
            <a:srgbClr val="57514A"/>
          </a:solidFill>
          <a:ln/>
        </p:spPr>
      </p:sp>
      <p:sp>
        <p:nvSpPr>
          <p:cNvPr id="27" name="!!tlp"/>
          <p:cNvSpPr/>
          <p:nvPr/>
        </p:nvSpPr>
        <p:spPr>
          <a:xfrm>
            <a:off x="685800" y="6392570"/>
            <a:ext cx="10820095" cy="16459"/>
          </a:xfrm>
          <a:prstGeom prst="rect">
            <a:avLst/>
          </a:prstGeom>
          <a:solidFill>
            <a:srgbClr val="C9A15B"/>
          </a:solidFill>
          <a:ln/>
        </p:spPr>
      </p:sp>
      <p:sp>
        <p:nvSpPr>
          <p:cNvPr id="28" name="!!tlh"/>
          <p:cNvSpPr/>
          <p:nvPr/>
        </p:nvSpPr>
        <p:spPr>
          <a:xfrm>
            <a:off x="11368735" y="6263640"/>
            <a:ext cx="274320" cy="274320"/>
          </a:xfrm>
          <a:prstGeom prst="ellipse">
            <a:avLst/>
          </a:prstGeom>
          <a:solidFill>
            <a:srgbClr val="C9A15B">
              <a:alpha val="18000"/>
            </a:srgbClr>
          </a:solidFill>
          <a:ln/>
        </p:spPr>
      </p:sp>
      <p:sp>
        <p:nvSpPr>
          <p:cNvPr id="29" name="!!tld"/>
          <p:cNvSpPr/>
          <p:nvPr/>
        </p:nvSpPr>
        <p:spPr>
          <a:xfrm>
            <a:off x="11451031" y="6345936"/>
            <a:ext cx="109728" cy="109728"/>
          </a:xfrm>
          <a:prstGeom prst="ellipse">
            <a:avLst/>
          </a:prstGeom>
          <a:solidFill>
            <a:srgbClr val="C9A15B"/>
          </a:solidFill>
          <a:ln/>
        </p:spPr>
      </p:sp>
      <p:sp>
        <p:nvSpPr>
          <p:cNvPr id="30" name="!!tly"/>
          <p:cNvSpPr txBox="1"/>
          <p:nvPr/>
        </p:nvSpPr>
        <p:spPr>
          <a:xfrm>
            <a:off x="11048695" y="60716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1919</a:t>
            </a:r>
            <a:endParaRPr lang="en-US" sz="900" dirty="0"/>
          </a:p>
        </p:txBody>
      </p:sp>
      <p:sp>
        <p:nvSpPr>
          <p:cNvPr id="31" name="!!tl0"/>
          <p:cNvSpPr txBox="1"/>
          <p:nvPr/>
        </p:nvSpPr>
        <p:spPr>
          <a:xfrm>
            <a:off x="685800" y="6492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1889</a:t>
            </a:r>
            <a:endParaRPr lang="en-US" sz="800" dirty="0"/>
          </a:p>
        </p:txBody>
      </p:sp>
      <p:sp>
        <p:nvSpPr>
          <p:cNvPr id="32" name="!!tl1"/>
          <p:cNvSpPr txBox="1"/>
          <p:nvPr/>
        </p:nvSpPr>
        <p:spPr>
          <a:xfrm>
            <a:off x="10774375" y="6492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1919</a:t>
            </a:r>
            <a:endParaRPr lang="en-US" sz="800" dirty="0"/>
          </a:p>
        </p:txBody>
      </p:sp>
      <p:sp>
        <p:nvSpPr>
          <p:cNvPr id="33" name="!!count"/>
          <p:cNvSpPr txBox="1"/>
          <p:nvPr/>
        </p:nvSpPr>
        <p:spPr>
          <a:xfrm>
            <a:off x="10225735" y="3108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  <p:pic>
        <p:nvPicPr>
          <p:cNvPr id="34" name="!!grain" descr="/root/deckwork/assets/g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Адольф Гитлер. До политической карьеры (1889–1919)</dc:title>
  <dc:subject>PptxGenJS Presentation</dc:subject>
  <dc:creator>Пономарев Глеб, 10В класс</dc:creator>
  <cp:lastModifiedBy>Пономарев Глеб, 10В класс</cp:lastModifiedBy>
  <cp:revision>1</cp:revision>
  <dcterms:created xsi:type="dcterms:W3CDTF">2026-10-17T12:40:47Z</dcterms:created>
  <dcterms:modified xsi:type="dcterms:W3CDTF">2026-10-17T12:40:47Z</dcterms:modified>
</cp:coreProperties>
</file>