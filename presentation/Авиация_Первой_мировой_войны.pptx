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2EBDA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F2EBDA"/>
                </a:solidFill>
                <a:latin typeface="Cambria"/>
              </a:rPr>
              <a:t>Самолёты к 1 августа 1914 г.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Самолёты</c:v>
                </c:pt>
              </c:strCache>
            </c:strRef>
          </c:tx>
          <c:spPr>
            <a:solidFill>
              <a:srgbClr val="D8C79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2EBD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Британия*</c:v>
                  </c:pt>
                  <c:pt idx="1">
                    <c:v>Франция</c:v>
                  </c:pt>
                  <c:pt idx="2">
                    <c:v>Германия</c:v>
                  </c:pt>
                  <c:pt idx="3">
                    <c:v>Россия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138</c:v>
                </c:pt>
                <c:pt idx="2">
                  <c:v>232</c:v>
                </c:pt>
                <c:pt idx="3">
                  <c:v>244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2EBD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2EBD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7301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день! Тема моего выступления — авиация Первой мировой войны. В 1914 году самолёт был хрупкой «этажеркой» из дерева и полотна, которую многие генералы считали забавой. Через четыре года небо стало полноценным полем боя: появились истребители, бомбардировщики, асы и первые самостоятельные военно-воздушные силы. Я расскажу, как это произошло, какие изобретения изменили войну в воздухе и какую роль сыграли российские лётчики и конструкторы.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Всего за десять лет до войны братья Райт впервые поднялись в воздух на самолёте с мотором. В 1909 году Блерио перелетел Ла-Манш, а в 1911-м итальянцы в Ливии впервые применили самолёты в бою: лейтенант Гавотти сбросил с аэроплана несколько гранат. В 1913 году наш Пётр Нестеров выполнил «мёртвую петлю». При этом многие генералы считали авиацию спортом. К августу 1914 года у четырёх ведущих держав было лишь около 670 самолётов первой линии, и Россия по их числу была среди лидеров.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первые месяцы войны главной задачей самолёта была разведка. 3 сентября 1914 года британские и французские лётчики увидели, что армия фон Клюка обходит Париж с востока, подставляя фланг. Это помогло союзникам начать контрнаступление на Марне и остановить германский блицкриг. На Восточном фронте немецкие разведчики следили за русскими войсками перед Танненбергом. Вскоре появились корректировка артиллерии по радио и аэрофотосъёмка: к 1915 году по снимкам уже составляли точные карты вражеских окопов.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лётчики противников иногда просто приветствовали друг друга. Но очень быстро в ход пошли пистолеты и карабины. 8 сентября 1914 года Пётр Нестеров, пытаясь помешать австрийскому разведчику, ударил его своим самолётом. Погибли и австрийцы, и сам Нестеров. Это был первый воздушный таран. А 5 октября французский экипаж Франца и Кено сбил немецкий самолёт из пулемёта. С этого момента стало ясно, что самолёту нужно оружие, а войне в воздухе — новая техника.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проблема ранних истребителей — винт перед пилотом. Стрелять вперёд значило рисковать отстрелить собственную лопасть. Француз Ролан Гаррос поставил на винт стальные клинья-отражатели и за две недели сбил три самолёта, но 18 апреля 1915 года сел за линией фронта и попал в плен. Вскоре инженеры фирмы Фоккера создали синхронизатор, который разрешал выстрел только в промежутке между лопастями. Монопланы Fokker E на полгода захватили господство в небе — англичане назвали это «бичом Фоккера».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 войну сложились основные типы боевых самолётов: истребители, разведчики, бомбардировщики и гидросамолёты. Сравните машины 1914 года, летавшие около 100 километров в час, с истребителями 1918-го — они были вдвое быстрее и несли по два синхронных пулемёта. Albatros стал главным оружием немцев в «Кровавом апреле». Sopwith Camel одержал больше побед, чем любой другой самолёт союзников. А Fokker D.VII так ценился, что условия перемирия отдельно требовали передать союзникам все эти машины.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Впервые война пришла к мирным жителям с неба. С 1915 года германские цеппелины бомбили Англию. Долгое время их почти не удавалось сбить, пока не появились зажигательные пули: в сентябре 1916 года Уильям Лиф Робинсон сбил первый дирижабль над Британией. В 1917 году их сменили бомбардировщики «Гота». Налёт 13 июня унёс 162 жизни. В России Игорь Сикорский создал «Илью Муромца» — первый серийный четырёхмоторный бомбардировщик. Его эскадра за войну потеряла в воздушном бою лишь один корабль.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Россия дала мировой авиации немало «первых». Пётр Нестеров выполнил первую «мёртвую петлю» и первый таран. Игорь Сикорский построил гигантов «Русский витязь» и «Илья Муромец». Александр Казаков одержал 17 официальных побед и стал лучшим русским асом. Летающие лодки Григоровича воевали на Балтике и Чёрном море, а Глеб Котельников ещё в 1911 году изобрёл ранцевый парашют. Главной бедой была слабая промышленность: большую часть моторов приходилось покупать у союзников.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Асом называли лётчика, сбившего не менее пяти самолётов противника. Самым результативным стал Манфред фон Рихтгофен — 80 побед. Он летал на ярко-красных машинах, за что его прозвали «Красным бароном». У французов лучшим был Рене Фонк, у британцев — Эдвард Мэннок, у американцев — Эдди Рикенбакер, у нас — Александр Казаков. Интересный факт: гарцующий конь с самолёта итальянского аса Франческо Баракки позже стал эмблемой Ferrari. Освальд Бёльке первым сформулировал правила воздушного боя.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1916 году под Верденом впервые развернулась настоящая борьба за господство в воздухе. Командующий Петен потребовал от майора де Роза «очистить небо», и французы собрали лучших лётчиков в специальные истребительные группы. На Сомме британцы действовали наступательно, а немцы в ответ создали истребительные эскадрильи. В апреле 1917 года под Аррасом британцы потеряли 245 самолётов против 66 немецких. А в сентябре 1918-го при Сен-Мийеле американец Билли Митчелл впервые собрал в одной операции почти полторы тысячи самолётов.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Самолёт быстро пришёл и на флот. Уже в декабре 1914 года британские гидросамолёты атаковали базу цеппелинов в Куксхафене. В 1915 году гидросамолёт впервые применил торпеду. На Чёрном море действовали русские гидрокрейсера, а летающая лодка Григоровича М‑9 стала одной из лучших в мире: лётчик Нагурский даже выполнил на ней «мёртвую петлю». В 1917 году Эдвин Даннинг впервые посадил самолёт на идущий корабль, а в июле 1918-го с авианосца Furious был нанесён первый удар колёсными самолётами.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Романтика неба скрывала тяжёлую реальность. Кабины были открытыми, и на высоте лётчиков сковывал мороз. Ротативные моторы разбрызгивали касторовое масло, выше четырёх-пяти километров не хватало кислорода. Британские и французские лётчики воевали без парашютов: командование опасалось, что пилоты будут покидать машины слишком рано. Немцы получили парашюты лишь в 1918 году. Многие новички погибали в первых же боях. И всё же рыцарские жесты случались: Рихтгофена противники похоронили с воинскими почестями.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показывают, насколько стремительным был рост. В 1914 году у четырёх крупнейших держав было около 670 боевых самолётов. К концу войны только в британских ВВС их насчитывалось более 22 тысяч. Всего за войну было построено свыше 150 тысяч самолётов; лидировали Франция, Великобритания и Германия. Точные цифры в источниках расходятся, поэтому на диаграмме показан разброс. Главный организационный итог: 1 апреля 1918 года появились Королевские ВВС Великобритании — первые в мире самостоятельные военно-воздушные силы.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Первая мировая война определила будущее авиации. Итальянский генерал Дуэ написал книгу о господстве в воздухе, которая повлияла на всю военную мысль. Версальский договор запретил Германии военную авиацию — настолько её стали опасаться. А военные технологии быстро пришли в мирную жизнь: уже в 1919 году Алкок и Браун на бывшем бомбардировщике пересекли Атлантику, и открылись первые регулярные международные авиалинии. Вывод: за четыре года авиация превратилась из забавы в силу, изменившую войны XX века.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E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ne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sp>
        <p:nvSpPr>
          <p:cNvPr id="3" name="!!year"/>
          <p:cNvSpPr txBox="1"/>
          <p:nvPr/>
        </p:nvSpPr>
        <p:spPr>
          <a:xfrm>
            <a:off x="731520" y="1051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1914–1918</a:t>
            </a:r>
            <a:endParaRPr lang="en-US" sz="3000" dirty="0"/>
          </a:p>
        </p:txBody>
      </p:sp>
      <p:sp>
        <p:nvSpPr>
          <p:cNvPr id="4" name="!!count"/>
          <p:cNvSpPr txBox="1"/>
          <p:nvPr/>
        </p:nvSpPr>
        <p:spPr>
          <a:xfrm>
            <a:off x="107743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14</a:t>
            </a:r>
            <a:endParaRPr lang="en-US" sz="1000" dirty="0"/>
          </a:p>
        </p:txBody>
      </p:sp>
      <p:pic>
        <p:nvPicPr>
          <p:cNvPr id="5" name="!!pla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80000">
            <a:off x="6949440" y="822960"/>
            <a:ext cx="4572000" cy="3429000"/>
          </a:xfrm>
          <a:prstGeom prst="rect">
            <a:avLst/>
          </a:prstGeom>
        </p:spPr>
      </p:pic>
      <p:sp>
        <p:nvSpPr>
          <p:cNvPr id="6" name="!!title"/>
          <p:cNvSpPr txBox="1"/>
          <p:nvPr/>
        </p:nvSpPr>
        <p:spPr>
          <a:xfrm>
            <a:off x="731520" y="178308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EB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Авиация Первой мировой войны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069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небо стало полем боя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9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Подготовил(а): ____________________      Класс / группа: ________      2026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E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nel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sp>
        <p:nvSpPr>
          <p:cNvPr id="3" name="!!year"/>
          <p:cNvSpPr txBox="1"/>
          <p:nvPr/>
        </p:nvSpPr>
        <p:spPr>
          <a:xfrm>
            <a:off x="457200" y="457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1903–1913</a:t>
            </a:r>
            <a:endParaRPr lang="en-US" sz="3000" dirty="0"/>
          </a:p>
        </p:txBody>
      </p:sp>
      <p:sp>
        <p:nvSpPr>
          <p:cNvPr id="4" name="!!title"/>
          <p:cNvSpPr txBox="1"/>
          <p:nvPr/>
        </p:nvSpPr>
        <p:spPr>
          <a:xfrm>
            <a:off x="4480560" y="36576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Накануне: спорт или оружие?</a:t>
            </a:r>
            <a:endParaRPr lang="en-US" sz="3200" dirty="0"/>
          </a:p>
        </p:txBody>
      </p:sp>
      <p:sp>
        <p:nvSpPr>
          <p:cNvPr id="5" name="!!count"/>
          <p:cNvSpPr txBox="1"/>
          <p:nvPr/>
        </p:nvSpPr>
        <p:spPr>
          <a:xfrm>
            <a:off x="107743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14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274320" y="1234440"/>
          <a:ext cx="35204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3891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9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Британия — машины первой линии. Оценки численности в источниках различаются.</a:t>
            </a:r>
            <a:endParaRPr lang="en-US" sz="1000" dirty="0"/>
          </a:p>
        </p:txBody>
      </p:sp>
      <p:pic>
        <p:nvPicPr>
          <p:cNvPr id="8" name="!!pla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480000">
            <a:off x="1188720" y="5074920"/>
            <a:ext cx="1645920" cy="12344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26280" y="2103120"/>
            <a:ext cx="7178040" cy="0"/>
          </a:xfrm>
          <a:prstGeom prst="line">
            <a:avLst/>
          </a:prstGeom>
          <a:noFill/>
          <a:ln w="19050">
            <a:solidFill>
              <a:srgbClr val="A8966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480560" y="1417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1903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480560" y="2011680"/>
            <a:ext cx="182880" cy="182880"/>
          </a:xfrm>
          <a:prstGeom prst="ellipse">
            <a:avLst/>
          </a:prstGeom>
          <a:solidFill>
            <a:srgbClr val="27301F"/>
          </a:solidFill>
          <a:ln w="25400">
            <a:solidFill>
              <a:srgbClr val="EFE8D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480560" y="237744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«Флайер» братьев Райт: первый управляемый полёт с мотором длится 12 секунд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1417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1909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309360" y="2011680"/>
            <a:ext cx="182880" cy="182880"/>
          </a:xfrm>
          <a:prstGeom prst="ellipse">
            <a:avLst/>
          </a:prstGeom>
          <a:solidFill>
            <a:srgbClr val="27301F"/>
          </a:solidFill>
          <a:ln w="25400">
            <a:solidFill>
              <a:srgbClr val="EFE8D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237744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Луи Блерио перелетает Ла-Манш за 37 минут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8138160" y="1417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1911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8138160" y="2011680"/>
            <a:ext cx="182880" cy="182880"/>
          </a:xfrm>
          <a:prstGeom prst="ellipse">
            <a:avLst/>
          </a:prstGeom>
          <a:solidFill>
            <a:srgbClr val="27301F"/>
          </a:solidFill>
          <a:ln w="25400">
            <a:solidFill>
              <a:srgbClr val="EFE8D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138160" y="237744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Итало-турецкая война: первая разведка и первая бомбардировка с аэроплана (Дж. Гавотти, 1 ноября)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9966960" y="1417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1913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9966960" y="2011680"/>
            <a:ext cx="182880" cy="182880"/>
          </a:xfrm>
          <a:prstGeom prst="ellipse">
            <a:avLst/>
          </a:prstGeom>
          <a:solidFill>
            <a:srgbClr val="27301F"/>
          </a:solidFill>
          <a:ln w="25400">
            <a:solidFill>
              <a:srgbClr val="EFE8D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966960" y="237744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П. Н. Нестеров впервые выполняет «мёртвую петлю» над Киевом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480560" y="4160520"/>
            <a:ext cx="4343400" cy="2057400"/>
          </a:xfrm>
          <a:prstGeom prst="roundRect">
            <a:avLst>
              <a:gd name="adj" fmla="val 3556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709160" y="4343400"/>
            <a:ext cx="3886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«Авиация — это хороший спорт, но для армии аэроплан — ноль»</a:t>
            </a:r>
            <a:endParaRPr lang="en-US" sz="14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Фраза, приписываемая Фердинанду Фошу (около 1910 г.). До войны военные видели в самолёте в лучшем случае «летающий бинокль».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9098280" y="41148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≈670</a:t>
            </a:r>
            <a:endParaRPr lang="en-US" sz="5400" dirty="0"/>
          </a:p>
        </p:txBody>
      </p:sp>
      <p:sp>
        <p:nvSpPr>
          <p:cNvPr id="25" name="Text 21"/>
          <p:cNvSpPr txBox="1"/>
          <p:nvPr/>
        </p:nvSpPr>
        <p:spPr>
          <a:xfrm>
            <a:off x="9098280" y="502920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самолётов первой линии было у России, Германии, Франции и Британии вместе в начале войны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nel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sp>
        <p:nvSpPr>
          <p:cNvPr id="3" name="!!year"/>
          <p:cNvSpPr txBox="1"/>
          <p:nvPr/>
        </p:nvSpPr>
        <p:spPr>
          <a:xfrm>
            <a:off x="8275320" y="457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1914</a:t>
            </a:r>
            <a:endParaRPr lang="en-US" sz="3000" dirty="0"/>
          </a:p>
        </p:txBody>
      </p:sp>
      <p:sp>
        <p:nvSpPr>
          <p:cNvPr id="4" name="!!title"/>
          <p:cNvSpPr txBox="1"/>
          <p:nvPr/>
        </p:nvSpPr>
        <p:spPr>
          <a:xfrm>
            <a:off x="502920" y="36576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Глаза армии: разведка с воздуха</a:t>
            </a:r>
            <a:endParaRPr lang="en-US" sz="2900" dirty="0"/>
          </a:p>
        </p:txBody>
      </p:sp>
      <p:sp>
        <p:nvSpPr>
          <p:cNvPr id="5" name="!!count"/>
          <p:cNvSpPr txBox="1"/>
          <p:nvPr/>
        </p:nvSpPr>
        <p:spPr>
          <a:xfrm>
            <a:off x="107743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14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280160"/>
            <a:ext cx="3520440" cy="3520440"/>
          </a:xfrm>
          <a:prstGeom prst="rect">
            <a:avLst/>
          </a:prstGeom>
        </p:spPr>
      </p:pic>
      <p:pic>
        <p:nvPicPr>
          <p:cNvPr id="7" name="!!pla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900000">
            <a:off x="10378440" y="3611880"/>
            <a:ext cx="1371600" cy="10287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75320" y="493776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Реконструкция: траншеи на аэрофотоснимке, разбитом сеткой квадратов для артиллерии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02920" y="1325880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85800" y="1563624"/>
            <a:ext cx="640080" cy="640080"/>
          </a:xfrm>
          <a:prstGeom prst="ellipse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8" y="1704442"/>
            <a:ext cx="358445" cy="35844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08760" y="1444752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Марна, сентябрь 1914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сентября лётчики заметили, что 1-я германская армия фон Клюка поворачивает восточнее Парижа. Эти данные помогли союзникам нанести контрудар на Марне.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02920" y="2606040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2843784"/>
            <a:ext cx="640080" cy="640080"/>
          </a:xfrm>
          <a:prstGeom prst="ellipse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8" y="2984602"/>
            <a:ext cx="358445" cy="35844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508760" y="2724912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Корректировка огня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сентября 1914 г. британские экипажи передают поправки артиллерии по радио. Пушки начинают «видеть» за линию горизонта.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02920" y="3886200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85800" y="4123944"/>
            <a:ext cx="640080" cy="640080"/>
          </a:xfrm>
          <a:prstGeom prst="ellipse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618" y="4264762"/>
            <a:ext cx="358445" cy="35844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508760" y="4005072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Аэрофотосъёмка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марте 1915 г. у Нев-Шапеля британцы впервые готовят наступление по картам, составленным с аэроснимков.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502920" y="52578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«Без лётчиков не было бы Танненберга»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Слова, приписываемые П. фон Гинденбургу: германская авиаразведка следила за движением русской 2-й армии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nel"/>
          <p:cNvSpPr/>
          <p:nvPr/>
        </p:nvSpPr>
        <p:spPr>
          <a:xfrm>
            <a:off x="0" y="0"/>
            <a:ext cx="5577840" cy="6858000"/>
          </a:xfrm>
          <a:prstGeom prst="rect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sp>
        <p:nvSpPr>
          <p:cNvPr id="3" name="!!year"/>
          <p:cNvSpPr txBox="1"/>
          <p:nvPr/>
        </p:nvSpPr>
        <p:spPr>
          <a:xfrm>
            <a:off x="502920" y="1143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1914</a:t>
            </a:r>
            <a:endParaRPr lang="en-US" sz="3000" dirty="0"/>
          </a:p>
        </p:txBody>
      </p:sp>
      <p:sp>
        <p:nvSpPr>
          <p:cNvPr id="4" name="!!title"/>
          <p:cNvSpPr txBox="1"/>
          <p:nvPr/>
        </p:nvSpPr>
        <p:spPr>
          <a:xfrm>
            <a:off x="502920" y="365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EB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Первые воздушные бои</a:t>
            </a:r>
            <a:endParaRPr lang="en-US" sz="2700" dirty="0"/>
          </a:p>
        </p:txBody>
      </p:sp>
      <p:sp>
        <p:nvSpPr>
          <p:cNvPr id="5" name="!!count"/>
          <p:cNvSpPr txBox="1"/>
          <p:nvPr/>
        </p:nvSpPr>
        <p:spPr>
          <a:xfrm>
            <a:off x="107743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05740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СЕНТЯБРЯ · ВОСТОЧНЫЙ ФРОНТ</a:t>
            </a:r>
            <a:endParaRPr lang="en-US" sz="14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600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 Жолквой штабс-капитан П. Н. Нестеров таранит австрийский разведчик «Альбатрос». Погибают оба экипажа.</a:t>
            </a:r>
            <a:endParaRPr lang="en-US" sz="14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воздушный таран в истории.</a:t>
            </a:r>
            <a:endParaRPr lang="en-US" sz="1400" dirty="0"/>
          </a:p>
        </p:txBody>
      </p:sp>
      <p:pic>
        <p:nvPicPr>
          <p:cNvPr id="7" name="!!pla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2100000">
            <a:off x="3291840" y="4434840"/>
            <a:ext cx="1828800" cy="1371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475488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Нестеров первым доказал, что самолёт может уничтожить самолёт, но заплатил за это жизнью.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035040" y="132588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3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ОКТЯБРЯ · ЗАПАДНЫЙ ФРОНТ</a:t>
            </a:r>
            <a:endParaRPr lang="en-US" sz="14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6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 Реймсом сержант Жозеф Франц и механик Луи Кено на «Вуазене» сбивают германский «Авиатик» из пулемёта «Гочкис».</a:t>
            </a:r>
            <a:endParaRPr lang="en-US" sz="14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Первая победа, одержанная огнём пулемёта.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39776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Чем воевали в воздухе в 1914 году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035040" y="4526280"/>
            <a:ext cx="685800" cy="685800"/>
          </a:xfrm>
          <a:prstGeom prst="ellipse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916" y="4677156"/>
            <a:ext cx="384048" cy="38404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035040" y="53492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Пистолеты и карабины в руках лётчика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903720" y="46177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89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7955280" y="4526280"/>
            <a:ext cx="685800" cy="685800"/>
          </a:xfrm>
          <a:prstGeom prst="ellipse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56" y="467715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955280" y="53492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Стальные стрелы-флешетты против пехоты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823960" y="46177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896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4"/>
          <p:cNvSpPr/>
          <p:nvPr/>
        </p:nvSpPr>
        <p:spPr>
          <a:xfrm>
            <a:off x="9875520" y="4526280"/>
            <a:ext cx="685800" cy="685800"/>
          </a:xfrm>
          <a:prstGeom prst="ellipse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6396" y="467715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875520" y="53492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Пулемёт у наблюдателя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nel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sp>
        <p:nvSpPr>
          <p:cNvPr id="3" name="!!year"/>
          <p:cNvSpPr txBox="1"/>
          <p:nvPr/>
        </p:nvSpPr>
        <p:spPr>
          <a:xfrm>
            <a:off x="8001000" y="457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1915</a:t>
            </a:r>
            <a:endParaRPr lang="en-US" sz="3000" dirty="0"/>
          </a:p>
        </p:txBody>
      </p:sp>
      <p:sp>
        <p:nvSpPr>
          <p:cNvPr id="4" name="!!title"/>
          <p:cNvSpPr txBox="1"/>
          <p:nvPr/>
        </p:nvSpPr>
        <p:spPr>
          <a:xfrm>
            <a:off x="50292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Стрельба сквозь винт</a:t>
            </a:r>
            <a:endParaRPr lang="en-US" sz="3200" dirty="0"/>
          </a:p>
        </p:txBody>
      </p:sp>
      <p:sp>
        <p:nvSpPr>
          <p:cNvPr id="5" name="!!count"/>
          <p:cNvSpPr txBox="1"/>
          <p:nvPr/>
        </p:nvSpPr>
        <p:spPr>
          <a:xfrm>
            <a:off x="107743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14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188720"/>
            <a:ext cx="3749040" cy="3566160"/>
          </a:xfrm>
          <a:prstGeom prst="rect">
            <a:avLst/>
          </a:prstGeom>
        </p:spPr>
      </p:pic>
      <p:pic>
        <p:nvPicPr>
          <p:cNvPr id="7" name="!!pla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00000">
            <a:off x="10607040" y="320040"/>
            <a:ext cx="1097280" cy="822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001000" y="49377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Синхронизатор связывает пулемёт с мотором: выстрел происходит только тогда, когда перед стволом нет лопасти.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2103120" y="1463040"/>
            <a:ext cx="0" cy="4617720"/>
          </a:xfrm>
          <a:prstGeom prst="line">
            <a:avLst/>
          </a:prstGeom>
          <a:noFill/>
          <a:ln w="19050">
            <a:solidFill>
              <a:srgbClr val="A8966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3258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апреля 1915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020824" y="1389888"/>
            <a:ext cx="164592" cy="164592"/>
          </a:xfrm>
          <a:prstGeom prst="ellipse">
            <a:avLst/>
          </a:prstGeom>
          <a:solidFill>
            <a:srgbClr val="27301F"/>
          </a:solidFill>
          <a:ln w="25400">
            <a:solidFill>
              <a:srgbClr val="EFE8D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377440" y="132588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Ролан Гаррос сбивает первый самолёт, стреляя через винт: стальные клинья на лопастях отражают пули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230428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апреля 1915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2020824" y="2368296"/>
            <a:ext cx="164592" cy="164592"/>
          </a:xfrm>
          <a:prstGeom prst="ellipse">
            <a:avLst/>
          </a:prstGeom>
          <a:solidFill>
            <a:srgbClr val="27301F"/>
          </a:solidFill>
          <a:ln w="25400">
            <a:solidFill>
              <a:srgbClr val="EFE8D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377440" y="230428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Гаррос садится за линией фронта и попадает в плен. Немцы изучают его «Моран-Солнье L»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02920" y="328269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 1915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2020824" y="3346704"/>
            <a:ext cx="164592" cy="164592"/>
          </a:xfrm>
          <a:prstGeom prst="ellipse">
            <a:avLst/>
          </a:prstGeom>
          <a:solidFill>
            <a:srgbClr val="27301F"/>
          </a:solidFill>
          <a:ln w="25400">
            <a:solidFill>
              <a:srgbClr val="EFE8D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377440" y="3282696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Инженеры Антона Фоккера ставят синхронизатор на моноплан Fokker E.I «Айндеккер»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502920" y="426110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3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июля 1915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2020824" y="4325112"/>
            <a:ext cx="164592" cy="164592"/>
          </a:xfrm>
          <a:prstGeom prst="ellipse">
            <a:avLst/>
          </a:prstGeom>
          <a:solidFill>
            <a:srgbClr val="A3262A"/>
          </a:solidFill>
          <a:ln w="25400">
            <a:solidFill>
              <a:srgbClr val="EFE8D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377440" y="4261104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Курт Винтгенс проводит первый бой с синхронным пулемётом. Начинается «бич Фоккера»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02920" y="523951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Начало 1916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2020824" y="5303520"/>
            <a:ext cx="164592" cy="164592"/>
          </a:xfrm>
          <a:prstGeom prst="ellipse">
            <a:avLst/>
          </a:prstGeom>
          <a:solidFill>
            <a:srgbClr val="27301F"/>
          </a:solidFill>
          <a:ln w="25400">
            <a:solidFill>
              <a:srgbClr val="EFE8D8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377440" y="523951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Nieuport 11 и Airco DH.2 возвращают союзникам равенство в воздухе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E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nel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sp>
        <p:nvSpPr>
          <p:cNvPr id="3" name="!!year"/>
          <p:cNvSpPr txBox="1"/>
          <p:nvPr/>
        </p:nvSpPr>
        <p:spPr>
          <a:xfrm>
            <a:off x="457200" y="457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1916–1918</a:t>
            </a:r>
            <a:endParaRPr lang="en-US" sz="2800" dirty="0"/>
          </a:p>
        </p:txBody>
      </p:sp>
      <p:sp>
        <p:nvSpPr>
          <p:cNvPr id="4" name="!!title"/>
          <p:cNvSpPr txBox="1"/>
          <p:nvPr/>
        </p:nvSpPr>
        <p:spPr>
          <a:xfrm>
            <a:off x="4114800" y="3657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 «этажерки» к истребителю</a:t>
            </a:r>
            <a:endParaRPr lang="en-US" sz="3200" dirty="0"/>
          </a:p>
        </p:txBody>
      </p:sp>
      <p:sp>
        <p:nvSpPr>
          <p:cNvPr id="5" name="!!count"/>
          <p:cNvSpPr txBox="1"/>
          <p:nvPr/>
        </p:nvSpPr>
        <p:spPr>
          <a:xfrm>
            <a:off x="107743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640080" cy="640080"/>
          </a:xfrm>
          <a:prstGeom prst="ellipse">
            <a:avLst/>
          </a:prstGeom>
          <a:solidFill>
            <a:srgbClr val="D8C79F"/>
          </a:solidFill>
          <a:ln w="12700">
            <a:solidFill>
              <a:srgbClr val="D8C79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42097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2984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Истребитель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завоёвывает господство в воздухе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2304288"/>
            <a:ext cx="640080" cy="640080"/>
          </a:xfrm>
          <a:prstGeom prst="ellipse">
            <a:avLst/>
          </a:prstGeom>
          <a:solidFill>
            <a:srgbClr val="D8C79F"/>
          </a:solidFill>
          <a:ln w="12700">
            <a:solidFill>
              <a:srgbClr val="D8C79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45106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2322576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Разведчик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двухместный, с фотокамерой и радио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57200" y="3328416"/>
            <a:ext cx="640080" cy="640080"/>
          </a:xfrm>
          <a:prstGeom prst="ellipse">
            <a:avLst/>
          </a:prstGeom>
          <a:solidFill>
            <a:srgbClr val="D8C79F"/>
          </a:solidFill>
          <a:ln w="12700">
            <a:solidFill>
              <a:srgbClr val="D8C79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469234"/>
            <a:ext cx="358445" cy="35844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34440" y="33467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Бомбардировщик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ручных бомб к многомоторным гигантам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457200" y="4352544"/>
            <a:ext cx="640080" cy="640080"/>
          </a:xfrm>
          <a:prstGeom prst="ellipse">
            <a:avLst/>
          </a:prstGeom>
          <a:solidFill>
            <a:srgbClr val="D8C79F"/>
          </a:solidFill>
          <a:ln w="12700">
            <a:solidFill>
              <a:srgbClr val="D8C79F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18" y="4493362"/>
            <a:ext cx="358445" cy="35844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34440" y="437083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Гидросамолёт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морская разведка и охота на подлодки</a:t>
            </a:r>
            <a:endParaRPr lang="en-US" sz="1400" dirty="0"/>
          </a:p>
        </p:txBody>
      </p:sp>
      <p:pic>
        <p:nvPicPr>
          <p:cNvPr id="18" name="!!pla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720000">
            <a:off x="1005840" y="5440680"/>
            <a:ext cx="1371600" cy="10287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234440"/>
          <a:ext cx="7589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417320"/>
                <a:gridCol w="868680"/>
                <a:gridCol w="685800"/>
                <a:gridCol w="30632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EB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Самолёт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EB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Страна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EB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строю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EB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км/ч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EB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знаменит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1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Nieuport 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Франция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лёгкий «полутораплан», очень манёвренный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Albatros D.III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Германия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главная машина «Кровавого апреля»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SPAD S.XIII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Франция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быстрый и прочный; летали Фонк и Рикенбакер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Sopwith Camel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Великобритания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около 1 300 побед — рекорд союзников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Fokker Dr.I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Германия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триплан «Красного барона»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Fokker D.VII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Германия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единственный самолёт, названный в тексте перемирия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</a:tr>
            </a:tbl>
          </a:graphicData>
        </a:graphic>
      </p:graphicFrame>
      <p:sp>
        <p:nvSpPr>
          <p:cNvPr id="20" name="Text 12"/>
          <p:cNvSpPr txBox="1"/>
          <p:nvPr/>
        </p:nvSpPr>
        <p:spPr>
          <a:xfrm>
            <a:off x="4114800" y="45720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→ 200+</a:t>
            </a:r>
            <a:endParaRPr lang="en-US" sz="3000" dirty="0"/>
          </a:p>
        </p:txBody>
      </p:sp>
      <p:sp>
        <p:nvSpPr>
          <p:cNvPr id="21" name="Text 13"/>
          <p:cNvSpPr txBox="1"/>
          <p:nvPr/>
        </p:nvSpPr>
        <p:spPr>
          <a:xfrm>
            <a:off x="4114800" y="5257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км/ч — рост скорости</a:t>
            </a:r>
            <a:endParaRPr lang="en-US" sz="1300" dirty="0"/>
          </a:p>
        </p:txBody>
      </p:sp>
      <p:sp>
        <p:nvSpPr>
          <p:cNvPr id="22" name="Text 14"/>
          <p:cNvSpPr txBox="1"/>
          <p:nvPr/>
        </p:nvSpPr>
        <p:spPr>
          <a:xfrm>
            <a:off x="6720840" y="45720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→ 200+</a:t>
            </a:r>
            <a:endParaRPr lang="en-US" sz="3000" dirty="0"/>
          </a:p>
        </p:txBody>
      </p:sp>
      <p:sp>
        <p:nvSpPr>
          <p:cNvPr id="23" name="Text 15"/>
          <p:cNvSpPr txBox="1"/>
          <p:nvPr/>
        </p:nvSpPr>
        <p:spPr>
          <a:xfrm>
            <a:off x="6720840" y="5257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л. с. — мощность мотора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9326880" y="45720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→ 2</a:t>
            </a:r>
            <a:endParaRPr lang="en-US" sz="3000" dirty="0"/>
          </a:p>
        </p:txBody>
      </p:sp>
      <p:sp>
        <p:nvSpPr>
          <p:cNvPr id="25" name="Text 17"/>
          <p:cNvSpPr txBox="1"/>
          <p:nvPr/>
        </p:nvSpPr>
        <p:spPr>
          <a:xfrm>
            <a:off x="9326880" y="5257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синхронных пулемёта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411480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— максимальная, округлённо; данные разных модификаций различаются.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E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nel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sp>
        <p:nvSpPr>
          <p:cNvPr id="3" name="!!year"/>
          <p:cNvSpPr txBox="1"/>
          <p:nvPr/>
        </p:nvSpPr>
        <p:spPr>
          <a:xfrm>
            <a:off x="8503920" y="457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1915–1918</a:t>
            </a:r>
            <a:endParaRPr lang="en-US" sz="2800" dirty="0"/>
          </a:p>
        </p:txBody>
      </p:sp>
      <p:sp>
        <p:nvSpPr>
          <p:cNvPr id="4" name="!!title"/>
          <p:cNvSpPr txBox="1"/>
          <p:nvPr/>
        </p:nvSpPr>
        <p:spPr>
          <a:xfrm>
            <a:off x="502920" y="3657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Война приходит в города</a:t>
            </a:r>
            <a:endParaRPr lang="en-US" sz="3200" dirty="0"/>
          </a:p>
        </p:txBody>
      </p:sp>
      <p:sp>
        <p:nvSpPr>
          <p:cNvPr id="5" name="!!count"/>
          <p:cNvSpPr txBox="1"/>
          <p:nvPr/>
        </p:nvSpPr>
        <p:spPr>
          <a:xfrm>
            <a:off x="107743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14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960120"/>
            <a:ext cx="2651760" cy="2651760"/>
          </a:xfrm>
          <a:prstGeom prst="rect">
            <a:avLst/>
          </a:prstGeom>
        </p:spPr>
      </p:pic>
      <p:pic>
        <p:nvPicPr>
          <p:cNvPr id="7" name="!!pla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5000000">
            <a:off x="10698480" y="3246120"/>
            <a:ext cx="1005840" cy="7543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03920" y="361188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погибших от налётов цеппелинов на Британию</a:t>
            </a:r>
            <a:endParaRPr lang="en-US" sz="14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44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162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погибших за один налёт «Гот» на Лондон — самый кровавый в войне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02920" y="132588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31520" y="1554480"/>
            <a:ext cx="594360" cy="594360"/>
          </a:xfrm>
          <a:prstGeom prst="ellipse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79" y="1685239"/>
            <a:ext cx="332842" cy="33284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63040" y="1600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Цеппелины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731520" y="22860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января 1915 г. дирижабли бомбят Англию по ночам. Сбивать их научились лишь в 1916 г., когда появились зажигательные пули.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06240" y="132588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434840" y="1554480"/>
            <a:ext cx="594360" cy="594360"/>
          </a:xfrm>
          <a:prstGeom prst="ellipse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5599" y="168523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166360" y="1600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Бомбардировщики «Гота»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4434840" y="22860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июня 1917 г. — дневной налёт на Лондон. Среди погибших — 18 детей в школе на Аппер-Норт-стрит.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502920" y="384048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731520" y="4069080"/>
            <a:ext cx="594360" cy="594360"/>
          </a:xfrm>
          <a:prstGeom prst="ellipse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279" y="4199839"/>
            <a:ext cx="332842" cy="33284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463040" y="4114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Рождение ПВО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731520" y="48006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Прожекторы, зенитки, аэростатные заграждения и ночные истребители. Доклад Я. Смэтса (1917) ведёт к созданию RAF.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4206240" y="384048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4434840" y="4069080"/>
            <a:ext cx="594360" cy="594360"/>
          </a:xfrm>
          <a:prstGeom prst="ellipse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5599" y="4199839"/>
            <a:ext cx="332842" cy="33284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166360" y="4114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«Илья Муромец»</a:t>
            </a:r>
            <a:endParaRPr lang="en-US" sz="1500" dirty="0"/>
          </a:p>
        </p:txBody>
      </p:sp>
      <p:sp>
        <p:nvSpPr>
          <p:cNvPr id="28" name="Text 20"/>
          <p:cNvSpPr txBox="1"/>
          <p:nvPr/>
        </p:nvSpPr>
        <p:spPr>
          <a:xfrm>
            <a:off x="4434840" y="48006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Эскадра воздушных кораблей: около 400 боевых вылетов и 65 т бомб. В воздушном бою потерян лишь один корабль.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E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nel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sp>
        <p:nvSpPr>
          <p:cNvPr id="3" name="!!year"/>
          <p:cNvSpPr txBox="1"/>
          <p:nvPr/>
        </p:nvSpPr>
        <p:spPr>
          <a:xfrm>
            <a:off x="457200" y="457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1913–1917</a:t>
            </a:r>
            <a:endParaRPr lang="en-US" sz="2800" dirty="0"/>
          </a:p>
        </p:txBody>
      </p:sp>
      <p:sp>
        <p:nvSpPr>
          <p:cNvPr id="4" name="!!count"/>
          <p:cNvSpPr txBox="1"/>
          <p:nvPr/>
        </p:nvSpPr>
        <p:spPr>
          <a:xfrm>
            <a:off x="107743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14</a:t>
            </a:r>
            <a:endParaRPr lang="en-US" sz="1000" dirty="0"/>
          </a:p>
        </p:txBody>
      </p:sp>
      <p:sp>
        <p:nvSpPr>
          <p:cNvPr id="5" name="!!title"/>
          <p:cNvSpPr txBox="1"/>
          <p:nvPr/>
        </p:nvSpPr>
        <p:spPr>
          <a:xfrm>
            <a:off x="4983480" y="365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Россия: крылья империи</a:t>
            </a:r>
            <a:endParaRPr lang="en-US" sz="3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25880"/>
            <a:ext cx="3749040" cy="22494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84048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2EB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«Илья Муромец» И. И. Сикорского</a:t>
            </a:r>
            <a:endParaRPr lang="en-US" sz="14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полёт — декабрь 1913 г. Летом 1914 г. совершил перелёт Петербург — Киев и обратно. В войну стал первым серийным четырёхмоторным бомбардировщиком.</a:t>
            </a:r>
            <a:endParaRPr lang="en-US" sz="1400" dirty="0"/>
          </a:p>
        </p:txBody>
      </p:sp>
      <p:pic>
        <p:nvPicPr>
          <p:cNvPr id="8" name="!!pla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0">
            <a:off x="3246120" y="5577840"/>
            <a:ext cx="914400" cy="6858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983480" y="1325880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148072" y="149047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Пётр Нестеров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5148072" y="21945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«Мёртвая петля» (1913) и первый в истории воздушный таран (1914).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269480" y="1325880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34072" y="149047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Игорь Сикорский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434072" y="21945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«Русский витязь» и «Илья Муромец» — начало тяжёлой авиации в мире.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9555480" y="1325880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720072" y="149047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Александр Казаков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9720072" y="21945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Лучший ас России: 17 официальных побед. В 1915 г. протаранил врага и уцелел.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983480" y="3794760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148072" y="395935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Дмитрий Григорович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5148072" y="46634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Летающие лодки М‑5 и М‑9. В 1916 г. Я. Нагурский выполнил на М‑9 первую «петлю» на гидросамолёте.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269480" y="3794760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34072" y="395935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Глеб Котельников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7434072" y="46634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Изобрёл ранцевый парашют РК-1 (1911) — прообраз всех современных парашютов.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9555480" y="3794760"/>
            <a:ext cx="2148840" cy="2286000"/>
          </a:xfrm>
          <a:prstGeom prst="roundRect">
            <a:avLst>
              <a:gd name="adj" fmla="val 3404"/>
            </a:avLst>
          </a:prstGeom>
          <a:solidFill>
            <a:srgbClr val="E6CFC5"/>
          </a:solidFill>
          <a:ln w="12700">
            <a:solidFill>
              <a:srgbClr val="E6CFC5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720072" y="395935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Слабое место — моторы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720072" y="46634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Большую часть двигателей закупали за границей: заводы не успевали за нуждами фронта.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E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nel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sp>
        <p:nvSpPr>
          <p:cNvPr id="3" name="!!year"/>
          <p:cNvSpPr txBox="1"/>
          <p:nvPr/>
        </p:nvSpPr>
        <p:spPr>
          <a:xfrm>
            <a:off x="8595360" y="457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1915–1918</a:t>
            </a:r>
            <a:endParaRPr lang="en-US" sz="2800" dirty="0"/>
          </a:p>
        </p:txBody>
      </p:sp>
      <p:sp>
        <p:nvSpPr>
          <p:cNvPr id="4" name="!!title"/>
          <p:cNvSpPr txBox="1"/>
          <p:nvPr/>
        </p:nvSpPr>
        <p:spPr>
          <a:xfrm>
            <a:off x="502920" y="3657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Асы: рыцари или охотники?</a:t>
            </a:r>
            <a:endParaRPr lang="en-US" sz="3200" dirty="0"/>
          </a:p>
        </p:txBody>
      </p:sp>
      <p:sp>
        <p:nvSpPr>
          <p:cNvPr id="5" name="!!count"/>
          <p:cNvSpPr txBox="1"/>
          <p:nvPr/>
        </p:nvSpPr>
        <p:spPr>
          <a:xfrm>
            <a:off x="107743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14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234440"/>
            <a:ext cx="3246120" cy="1773936"/>
          </a:xfrm>
          <a:prstGeom prst="rect">
            <a:avLst/>
          </a:prstGeom>
        </p:spPr>
      </p:pic>
      <p:pic>
        <p:nvPicPr>
          <p:cNvPr id="7" name="!!pla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0">
            <a:off x="10835640" y="365760"/>
            <a:ext cx="9144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95360" y="320040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побед Манфреда фон Рихтгофена, «Красного барона», — лучший результат войны. Погиб 21 апреля 1918 г.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914400"/>
                <a:gridCol w="182880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EB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EB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Страна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EB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Побед*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EB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Судьба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1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Манфред фон Рихтгофен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Германия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погиб в 1918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Рене Фонк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Франция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пережил войну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Билли Бишоп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Канада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пережил войну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Эдвард Мэннок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Великобритания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погиб в 1918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Жорж Гинемер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Франция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пропал в 1917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Освальд Бёльке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Германия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погиб в 1916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Франческо Баракка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Италия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погиб в 1918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Эдди Рикенбакер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США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пережил войну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Александр Казаков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Россия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погиб в 1919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D8B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Макс Иммельман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Германия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26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1D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погиб в 1916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D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8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02920" y="5120640"/>
            <a:ext cx="7315200" cy="1097280"/>
          </a:xfrm>
          <a:prstGeom prst="roundRect">
            <a:avLst>
              <a:gd name="adj" fmla="val 6667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5212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«Заповеди Бёльке» (1916) — </a:t>
            </a:r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первые правила воздушного боя: добейся преимущества до атаки, заходи со стороны солнца, открывай огонь только с близкой дистанции.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58978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Официально засчитанные победы; в разных источниках числа могут отличаться.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E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nel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sp>
        <p:nvSpPr>
          <p:cNvPr id="3" name="!!year"/>
          <p:cNvSpPr txBox="1"/>
          <p:nvPr/>
        </p:nvSpPr>
        <p:spPr>
          <a:xfrm>
            <a:off x="457200" y="457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1916–1918</a:t>
            </a:r>
            <a:endParaRPr lang="en-US" sz="2800" dirty="0"/>
          </a:p>
        </p:txBody>
      </p:sp>
      <p:sp>
        <p:nvSpPr>
          <p:cNvPr id="4" name="!!title"/>
          <p:cNvSpPr txBox="1"/>
          <p:nvPr/>
        </p:nvSpPr>
        <p:spPr>
          <a:xfrm>
            <a:off x="4389120" y="3657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Битвы за господство в воздухе</a:t>
            </a:r>
            <a:endParaRPr lang="en-US" sz="3200" dirty="0"/>
          </a:p>
        </p:txBody>
      </p:sp>
      <p:sp>
        <p:nvSpPr>
          <p:cNvPr id="5" name="!!count"/>
          <p:cNvSpPr txBox="1"/>
          <p:nvPr/>
        </p:nvSpPr>
        <p:spPr>
          <a:xfrm>
            <a:off x="107743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7160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F2EB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«Роз, очистите мне небо! Я ослеп!»</a:t>
            </a:r>
            <a:endParaRPr lang="en-US" sz="14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13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Генерал Ф. Петен — командиру истребителей Ш. де Розу. Верден, 1916 г.</a:t>
            </a:r>
            <a:endParaRPr lang="en-US" sz="1400" dirty="0"/>
          </a:p>
        </p:txBody>
      </p:sp>
      <p:pic>
        <p:nvPicPr>
          <p:cNvPr id="7" name="!!pla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1200000">
            <a:off x="1097280" y="4206240"/>
            <a:ext cx="1828800" cy="1371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89120" y="1280160"/>
            <a:ext cx="7315200" cy="1115568"/>
          </a:xfrm>
          <a:prstGeom prst="roundRect">
            <a:avLst>
              <a:gd name="adj" fmla="val 6557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0" y="144475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Верден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февр. — дек. 1916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41732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Французы впервые сводят истребители в отдельные группы, чтобы вернуть себе небо над полем боя.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966960" y="14173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303 дня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389120" y="2542032"/>
            <a:ext cx="7315200" cy="1115568"/>
          </a:xfrm>
          <a:prstGeom prst="roundRect">
            <a:avLst>
              <a:gd name="adj" fmla="val 6557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0" y="2706624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Сомма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 — нояб. 1916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2679192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Британцы ведут «непрерывное наступление» в воздухе; немцы отвечают истребительными эскадрильями — Jasta.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966960" y="2679192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 день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4389120" y="3803904"/>
            <a:ext cx="7315200" cy="1115568"/>
          </a:xfrm>
          <a:prstGeom prst="roundRect">
            <a:avLst>
              <a:gd name="adj" fmla="val 6557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0" y="3968496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«Кровавый апрель»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апрель 1917, Аррас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492240" y="3941064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Британцы теряют 245 самолётов, немцы — 66: сказывается превосходство «Альбатросов».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966960" y="3941064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245 : 66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4389120" y="5065776"/>
            <a:ext cx="7315200" cy="1115568"/>
          </a:xfrm>
          <a:prstGeom prst="roundRect">
            <a:avLst>
              <a:gd name="adj" fmla="val 6557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72000" y="5230368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Сен-Мийель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12–15 сент. 1918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92240" y="5202936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Билли Митчелл командует почти 1 500 самолётами союзников — крупнейшая авиаоперация войны.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9966960" y="5202936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≈1 480</a:t>
            </a:r>
            <a:endParaRPr lang="en-US" sz="2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FE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nel"/>
          <p:cNvSpPr/>
          <p:nvPr/>
        </p:nvSpPr>
        <p:spPr>
          <a:xfrm>
            <a:off x="7680960" y="0"/>
            <a:ext cx="4510735" cy="6858000"/>
          </a:xfrm>
          <a:prstGeom prst="rect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sp>
        <p:nvSpPr>
          <p:cNvPr id="3" name="!!year"/>
          <p:cNvSpPr txBox="1"/>
          <p:nvPr/>
        </p:nvSpPr>
        <p:spPr>
          <a:xfrm>
            <a:off x="8092440" y="457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1914–1918</a:t>
            </a:r>
            <a:endParaRPr lang="en-US" sz="2800" dirty="0"/>
          </a:p>
        </p:txBody>
      </p:sp>
      <p:sp>
        <p:nvSpPr>
          <p:cNvPr id="4" name="!!title"/>
          <p:cNvSpPr txBox="1"/>
          <p:nvPr/>
        </p:nvSpPr>
        <p:spPr>
          <a:xfrm>
            <a:off x="502920" y="36576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Крылья над морем</a:t>
            </a:r>
            <a:endParaRPr lang="en-US" sz="3200" dirty="0"/>
          </a:p>
        </p:txBody>
      </p:sp>
      <p:sp>
        <p:nvSpPr>
          <p:cNvPr id="5" name="!!count"/>
          <p:cNvSpPr txBox="1"/>
          <p:nvPr/>
        </p:nvSpPr>
        <p:spPr>
          <a:xfrm>
            <a:off x="107743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1325880"/>
            <a:ext cx="3749040" cy="1956816"/>
          </a:xfrm>
          <a:prstGeom prst="rect">
            <a:avLst/>
          </a:prstGeom>
        </p:spPr>
      </p:pic>
      <p:pic>
        <p:nvPicPr>
          <p:cNvPr id="7" name="!!pla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6000000">
            <a:off x="10835640" y="320040"/>
            <a:ext cx="9144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092440" y="365760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19.07.1918</a:t>
            </a:r>
            <a:endParaRPr lang="en-US" sz="14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400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Рейд на Тондерн: семь Sopwith Camel взлетают с HMS Furious и сжигают цеппелины L 54 и L 60. Первый удар колёсных самолётов с авианосца.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1965960" y="1417320"/>
            <a:ext cx="0" cy="4663440"/>
          </a:xfrm>
          <a:prstGeom prst="line">
            <a:avLst/>
          </a:prstGeom>
          <a:noFill/>
          <a:ln w="19050">
            <a:solidFill>
              <a:srgbClr val="A8966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2801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25.12.1914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883664" y="1344168"/>
            <a:ext cx="164592" cy="164592"/>
          </a:xfrm>
          <a:prstGeom prst="ellipse">
            <a:avLst/>
          </a:prstGeom>
          <a:solidFill>
            <a:srgbClr val="27301F"/>
          </a:solidFill>
          <a:ln w="25400">
            <a:solidFill>
              <a:srgbClr val="EFE8D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240280" y="12801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Куксхафенский рейд: британские гидросамолёты с кораблей атакуют базу цеппелинов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226771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12.08.1915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1883664" y="2331720"/>
            <a:ext cx="164592" cy="164592"/>
          </a:xfrm>
          <a:prstGeom prst="ellipse">
            <a:avLst/>
          </a:prstGeom>
          <a:solidFill>
            <a:srgbClr val="27301F"/>
          </a:solidFill>
          <a:ln w="25400">
            <a:solidFill>
              <a:srgbClr val="EFE8D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240280" y="2267712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Дарданеллы: гидросамолёт Short 184 впервые атакует судно торпедой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02920" y="325526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1916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883664" y="3319272"/>
            <a:ext cx="164592" cy="164592"/>
          </a:xfrm>
          <a:prstGeom prst="ellipse">
            <a:avLst/>
          </a:prstGeom>
          <a:solidFill>
            <a:srgbClr val="27301F"/>
          </a:solidFill>
          <a:ln w="25400">
            <a:solidFill>
              <a:srgbClr val="EFE8D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240280" y="325526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Гидрокрейсера Черноморского флота «Император Николай I» и «Император Александр I» наносят удары по побережью Турции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502920" y="424281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17.09.1916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883664" y="4306824"/>
            <a:ext cx="164592" cy="164592"/>
          </a:xfrm>
          <a:prstGeom prst="ellipse">
            <a:avLst/>
          </a:prstGeom>
          <a:solidFill>
            <a:srgbClr val="27301F"/>
          </a:solidFill>
          <a:ln w="25400">
            <a:solidFill>
              <a:srgbClr val="EFE8D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240280" y="4242816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 Нагурский выполняет «мёртвую петлю» на летающей лодке М‑9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02920" y="52303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02.08.1917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883664" y="5294376"/>
            <a:ext cx="164592" cy="164592"/>
          </a:xfrm>
          <a:prstGeom prst="ellipse">
            <a:avLst/>
          </a:prstGeom>
          <a:solidFill>
            <a:srgbClr val="27301F"/>
          </a:solidFill>
          <a:ln w="25400">
            <a:solidFill>
              <a:srgbClr val="EFE8D8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240280" y="523036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Эдвин Даннинг впервые сажает самолёт на идущий корабль — HMS Furious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E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nel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sp>
        <p:nvSpPr>
          <p:cNvPr id="3" name="!!year"/>
          <p:cNvSpPr txBox="1"/>
          <p:nvPr/>
        </p:nvSpPr>
        <p:spPr>
          <a:xfrm>
            <a:off x="457200" y="457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1914–1918</a:t>
            </a:r>
            <a:endParaRPr lang="en-US" sz="2800" dirty="0"/>
          </a:p>
        </p:txBody>
      </p:sp>
      <p:sp>
        <p:nvSpPr>
          <p:cNvPr id="4" name="!!title"/>
          <p:cNvSpPr txBox="1"/>
          <p:nvPr/>
        </p:nvSpPr>
        <p:spPr>
          <a:xfrm>
            <a:off x="4663440" y="36576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Жизнь на высоте 5 000 метров</a:t>
            </a:r>
            <a:endParaRPr lang="en-US" sz="3200" dirty="0"/>
          </a:p>
        </p:txBody>
      </p:sp>
      <p:sp>
        <p:nvSpPr>
          <p:cNvPr id="5" name="!!count"/>
          <p:cNvSpPr txBox="1"/>
          <p:nvPr/>
        </p:nvSpPr>
        <p:spPr>
          <a:xfrm>
            <a:off x="107743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1188720" cy="1188720"/>
          </a:xfrm>
          <a:prstGeom prst="rect">
            <a:avLst/>
          </a:prstGeom>
        </p:spPr>
      </p:pic>
      <p:pic>
        <p:nvPicPr>
          <p:cNvPr id="7" name="!!pla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000000">
            <a:off x="2377440" y="1188720"/>
            <a:ext cx="1371600" cy="10287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2606040"/>
            <a:ext cx="3383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2EB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 парашюта</a:t>
            </a:r>
            <a:endParaRPr lang="en-US" sz="14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4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Лётчикам Антанты парашюты так и не выдали — их имели лишь наблюдатели на аэростатах. Немецкие пилоты получили парашюты Хайнеке только в 1918 г.</a:t>
            </a:r>
            <a:endParaRPr lang="en-US" sz="14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400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июня 1918 г. ас Эрнст Удет одним из первых спасся на парашюте из подбитого истребителя.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663440" y="128016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846320" y="1463040"/>
            <a:ext cx="548640" cy="548640"/>
          </a:xfrm>
          <a:prstGeom prst="ellipse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021" y="1583741"/>
            <a:ext cx="307238" cy="30723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532120" y="14630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846320" y="2103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кабина: на высоте 5–6 км мороз до −25…−30 °C. Меховые комбинезоны и жир на лице от обморожения.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8229600" y="128016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8412480" y="1463040"/>
            <a:ext cx="548640" cy="548640"/>
          </a:xfrm>
          <a:prstGeom prst="ellipse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3181" y="1583741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98280" y="14630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Масло и выхлоп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412480" y="2103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Ротативные моторы разбрызгивали касторовое масло прямо в лицо пилоту — отсюда постоянные отравления.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4663440" y="3218688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846320" y="3401568"/>
            <a:ext cx="548640" cy="548640"/>
          </a:xfrm>
          <a:prstGeom prst="ellipse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7021" y="3522269"/>
            <a:ext cx="307238" cy="30723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532120" y="340156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Нехватка кислорода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4846320" y="404164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Выше 4–5 км — головная боль и замедленная реакция. Кислородные приборы были редкостью.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229600" y="3218688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412480" y="3401568"/>
            <a:ext cx="548640" cy="548640"/>
          </a:xfrm>
          <a:prstGeom prst="ellipse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3181" y="3522269"/>
            <a:ext cx="307238" cy="30723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98280" y="340156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Короткое обучение</a:t>
            </a:r>
            <a:endParaRPr lang="en-US" sz="1500" dirty="0"/>
          </a:p>
        </p:txBody>
      </p:sp>
      <p:sp>
        <p:nvSpPr>
          <p:cNvPr id="28" name="Text 20"/>
          <p:cNvSpPr txBox="1"/>
          <p:nvPr/>
        </p:nvSpPr>
        <p:spPr>
          <a:xfrm>
            <a:off x="8412480" y="404164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Новичков отправляли на фронт после считанных часов самостоятельного налёта; многие разбивались ещё в учебных полётах.</a:t>
            </a:r>
            <a:endParaRPr lang="en-US" sz="1250" dirty="0"/>
          </a:p>
        </p:txBody>
      </p:sp>
      <p:sp>
        <p:nvSpPr>
          <p:cNvPr id="29" name="Text 21"/>
          <p:cNvSpPr txBox="1"/>
          <p:nvPr/>
        </p:nvSpPr>
        <p:spPr>
          <a:xfrm>
            <a:off x="4663440" y="5303520"/>
            <a:ext cx="6995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3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Рыцарский миф и реальность. </a:t>
            </a:r>
            <a:pPr indent="0" marL="0">
              <a:buNone/>
            </a:pPr>
            <a:r>
              <a:rPr lang="en-US" sz="14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апреля 1918 г. австралийские лётчики похоронили Рихтгофена с воинскими почестями. Но чаще в небе побеждал тот, кто атаковал внезапно и со спины.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FE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nel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sp>
        <p:nvSpPr>
          <p:cNvPr id="3" name="!!year"/>
          <p:cNvSpPr txBox="1"/>
          <p:nvPr/>
        </p:nvSpPr>
        <p:spPr>
          <a:xfrm>
            <a:off x="502920" y="1188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1918</a:t>
            </a:r>
            <a:endParaRPr lang="en-US" sz="2800" dirty="0"/>
          </a:p>
        </p:txBody>
      </p:sp>
      <p:sp>
        <p:nvSpPr>
          <p:cNvPr id="4" name="!!title"/>
          <p:cNvSpPr txBox="1"/>
          <p:nvPr/>
        </p:nvSpPr>
        <p:spPr>
          <a:xfrm>
            <a:off x="502920" y="3657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EB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 в цифрах</a:t>
            </a:r>
            <a:endParaRPr lang="en-US" sz="3200" dirty="0"/>
          </a:p>
        </p:txBody>
      </p:sp>
      <p:sp>
        <p:nvSpPr>
          <p:cNvPr id="5" name="!!count"/>
          <p:cNvSpPr txBox="1"/>
          <p:nvPr/>
        </p:nvSpPr>
        <p:spPr>
          <a:xfrm>
            <a:off x="107743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82880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≈670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самолётов первой линии у четырёх ведущих держав в августе 1914 г.</a:t>
            </a:r>
            <a:endParaRPr lang="en-US" sz="1400" dirty="0"/>
          </a:p>
          <a:p>
            <a:pPr indent="0" marL="0">
              <a:spcBef>
                <a:spcPts val="1400"/>
              </a:spcBef>
              <a:buNone/>
            </a:pPr>
            <a:r>
              <a:rPr lang="en-US" sz="44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22 647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самолётов было только в британских Королевских ВВС к 11 ноября 1918 г. — крупнейших ВВС мира</a:t>
            </a:r>
            <a:endParaRPr lang="en-US" sz="1400" dirty="0"/>
          </a:p>
        </p:txBody>
      </p:sp>
      <p:pic>
        <p:nvPicPr>
          <p:cNvPr id="7" name="!!pla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800000">
            <a:off x="3794760" y="4754880"/>
            <a:ext cx="1280160" cy="960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53492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апреля 1918 г. созданы Королевские ВВС (RAF) — первые в мире самостоятельные военно-воздушные силы.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4114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D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Выпуск самолётов в 1914–1918 гг., тыс.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7498080" y="1234440"/>
            <a:ext cx="0" cy="2880360"/>
          </a:xfrm>
          <a:prstGeom prst="line">
            <a:avLst/>
          </a:prstGeom>
          <a:noFill/>
          <a:ln w="9525">
            <a:solidFill>
              <a:srgbClr val="C9BD9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223760" y="4160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621486" y="1234440"/>
            <a:ext cx="0" cy="2880360"/>
          </a:xfrm>
          <a:prstGeom prst="line">
            <a:avLst/>
          </a:prstGeom>
          <a:noFill/>
          <a:ln w="9525">
            <a:solidFill>
              <a:srgbClr val="C9BD9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47166" y="4160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744891" y="1234440"/>
            <a:ext cx="0" cy="2880360"/>
          </a:xfrm>
          <a:prstGeom prst="line">
            <a:avLst/>
          </a:prstGeom>
          <a:noFill/>
          <a:ln w="9525">
            <a:solidFill>
              <a:srgbClr val="C9BD9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70571" y="4160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0868297" y="1234440"/>
            <a:ext cx="0" cy="2880360"/>
          </a:xfrm>
          <a:prstGeom prst="line">
            <a:avLst/>
          </a:prstGeom>
          <a:noFill/>
          <a:ln w="9525">
            <a:solidFill>
              <a:srgbClr val="C9BD9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593977" y="4160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Франция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498080" y="1463040"/>
            <a:ext cx="2920855" cy="411480"/>
          </a:xfrm>
          <a:prstGeom prst="rect">
            <a:avLst/>
          </a:prstGeom>
          <a:solidFill>
            <a:srgbClr val="4A5A2E"/>
          </a:solidFill>
          <a:ln w="12700">
            <a:solidFill>
              <a:srgbClr val="4A5A2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418935" y="1463040"/>
            <a:ext cx="898725" cy="411480"/>
          </a:xfrm>
          <a:prstGeom prst="rect">
            <a:avLst/>
          </a:prstGeom>
          <a:solidFill>
            <a:srgbClr val="A8966C">
              <a:alpha val="65000"/>
            </a:srgbClr>
          </a:solidFill>
          <a:ln w="12700">
            <a:solidFill>
              <a:srgbClr val="A8966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1409099" y="14173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52–68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0" y="231343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Британия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498080" y="2359152"/>
            <a:ext cx="1853619" cy="411480"/>
          </a:xfrm>
          <a:prstGeom prst="rect">
            <a:avLst/>
          </a:prstGeom>
          <a:solidFill>
            <a:srgbClr val="4A5A2E"/>
          </a:solidFill>
          <a:ln w="12700">
            <a:solidFill>
              <a:srgbClr val="4A5A2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51699" y="2359152"/>
            <a:ext cx="1235746" cy="411480"/>
          </a:xfrm>
          <a:prstGeom prst="rect">
            <a:avLst/>
          </a:prstGeom>
          <a:solidFill>
            <a:srgbClr val="A8966C">
              <a:alpha val="65000"/>
            </a:srgbClr>
          </a:solidFill>
          <a:ln w="12700">
            <a:solidFill>
              <a:srgbClr val="A8966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678886" y="2313432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33–55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43600" y="32095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Германия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7498080" y="3255264"/>
            <a:ext cx="2696174" cy="411480"/>
          </a:xfrm>
          <a:prstGeom prst="rect">
            <a:avLst/>
          </a:prstGeom>
          <a:solidFill>
            <a:srgbClr val="4A5A2E"/>
          </a:solidFill>
          <a:ln w="12700">
            <a:solidFill>
              <a:srgbClr val="4A5A2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285694" y="3209544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2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≈48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0" y="4526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75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Тёмная часть — минимальная оценка, светлая — разброс данных: источники по-разному учитывают учебные машины и недостроенные планеры.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943600" y="521208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E3D8BE"/>
          </a:solidFill>
          <a:ln w="12700">
            <a:solidFill>
              <a:srgbClr val="E3D8B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126480" y="53035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32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150 000+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8641080" y="53035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самолётов построили воюющие страны за четыре года войны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FE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ne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301F"/>
          </a:solidFill>
          <a:ln w="12700">
            <a:solidFill>
              <a:srgbClr val="27301F"/>
            </a:solidFill>
            <a:prstDash val="solid"/>
          </a:ln>
        </p:spPr>
      </p:sp>
      <p:sp>
        <p:nvSpPr>
          <p:cNvPr id="3" name="!!year"/>
          <p:cNvSpPr txBox="1"/>
          <p:nvPr/>
        </p:nvSpPr>
        <p:spPr>
          <a:xfrm>
            <a:off x="548640" y="1143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8C7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после 1918</a:t>
            </a:r>
            <a:endParaRPr lang="en-US" sz="2600" dirty="0"/>
          </a:p>
        </p:txBody>
      </p:sp>
      <p:sp>
        <p:nvSpPr>
          <p:cNvPr id="4" name="!!title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EB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Наследие: небо после войны</a:t>
            </a:r>
            <a:endParaRPr lang="en-US" sz="3200" dirty="0"/>
          </a:p>
        </p:txBody>
      </p:sp>
      <p:sp>
        <p:nvSpPr>
          <p:cNvPr id="5" name="!!count"/>
          <p:cNvSpPr txBox="1"/>
          <p:nvPr/>
        </p:nvSpPr>
        <p:spPr>
          <a:xfrm>
            <a:off x="107743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000" dirty="0"/>
          </a:p>
        </p:txBody>
      </p:sp>
      <p:pic>
        <p:nvPicPr>
          <p:cNvPr id="6" name="!!pla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3000000">
            <a:off x="10424160" y="274320"/>
            <a:ext cx="1188720" cy="8915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D8C79F"/>
          </a:solidFill>
          <a:ln w="12700">
            <a:solidFill>
              <a:srgbClr val="D8C79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58" y="1969618"/>
            <a:ext cx="358445" cy="35844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182880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1921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Джулио Дуэ, «Господство в воздухе»: теория, по которой войну выигрывает авиация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389120" y="1828800"/>
            <a:ext cx="640080" cy="640080"/>
          </a:xfrm>
          <a:prstGeom prst="ellipse">
            <a:avLst/>
          </a:prstGeom>
          <a:solidFill>
            <a:srgbClr val="D8C79F"/>
          </a:solidFill>
          <a:ln w="12700">
            <a:solidFill>
              <a:srgbClr val="D8C79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9938" y="1969618"/>
            <a:ext cx="358445" cy="35844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12080" y="182880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Версальский договор (ст. 198) запрещает Германии иметь военную авиацию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48640" y="3429000"/>
            <a:ext cx="640080" cy="640080"/>
          </a:xfrm>
          <a:prstGeom prst="ellipse">
            <a:avLst/>
          </a:prstGeom>
          <a:solidFill>
            <a:srgbClr val="D8C79F"/>
          </a:solidFill>
          <a:ln w="12700">
            <a:solidFill>
              <a:srgbClr val="D8C79F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8" y="3569818"/>
            <a:ext cx="358445" cy="35844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71600" y="342900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14–15 июня 1919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Алкок и Браун без посадки пересекают Атлантику на бомбардировщике Vickers Vimy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4389120" y="3429000"/>
            <a:ext cx="640080" cy="640080"/>
          </a:xfrm>
          <a:prstGeom prst="ellipse">
            <a:avLst/>
          </a:prstGeom>
          <a:solidFill>
            <a:srgbClr val="D8C79F"/>
          </a:solidFill>
          <a:ln w="12700">
            <a:solidFill>
              <a:srgbClr val="D8C79F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9938" y="3569818"/>
            <a:ext cx="358445" cy="35844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212080" y="342900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августа 1919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2E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Открывается регулярная международная авиалиния Лондон — Париж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548640" y="51206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2EB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четыре года авиация прошла путь от «спорта» и разведки до самостоятельного рода войск и навсегда изменила войны XX века.</a:t>
            </a:r>
            <a:endParaRPr lang="en-US" sz="1900" dirty="0"/>
          </a:p>
        </p:txBody>
      </p:sp>
      <p:sp>
        <p:nvSpPr>
          <p:cNvPr id="20" name="Text 13"/>
          <p:cNvSpPr txBox="1"/>
          <p:nvPr/>
        </p:nvSpPr>
        <p:spPr>
          <a:xfrm>
            <a:off x="8412480" y="1828800"/>
            <a:ext cx="3291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Morrow J. H. The Great War in the Air: Military Aviation from 1909 to 1921. Washington, 1993.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Shores C., Franks N., Guest R. Above the Trenches. London: Grub Street, 1990.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Хайрулин М. А. «Илья Муромец»: гордость русской авиации. М.: Яуза; Эксмо, 2010.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Imperial War Museums: The Air Raids That Shook Britain (iwm.org.uk).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D8C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1914-1918-online. International Encyclopedia of the First World War.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Авиация Первой мировой войны</dc:title>
  <dc:subject>История. Презентация на 14 слайдов</dc:subject>
  <dc:creator>PptxGenJS</dc:creator>
  <cp:lastModifiedBy>PptxGenJS</cp:lastModifiedBy>
  <cp:revision>1</cp:revision>
  <dcterms:created xsi:type="dcterms:W3CDTF">2026-09-27T05:13:39Z</dcterms:created>
  <dcterms:modified xsi:type="dcterms:W3CDTF">2026-09-27T05:13:39Z</dcterms:modified>
</cp:coreProperties>
</file>