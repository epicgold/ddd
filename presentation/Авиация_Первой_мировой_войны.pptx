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Добрый день! Моя презентация посвящена авиации Первой мировой войны. На слайде настоящий немецкий истребитель Pfalz D.XII 1918 года из Национального музея авиации и космонавтики США. В 1914 году самолёт был хрупкой машиной из дерева и ткани, и многие генералы видели в нём забаву. За четыре года небо стало полем боя: появились истребители, бомбардировщики, асы и самостоятельные военно-воздушные силы. Все фотографии в презентации — настоящие музейные экспонаты, рисунки сделаны военными художниками в 1918 году, а карты построены по реальным географическим данным.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Вот Европа накануне войны: синим показаны страны Антанты, красным — Центральные державы. Цифры — сколько самолётов было у держав к 1 августа 1914 года: у России 244, у Германии 232, у Франции 138. Всего десятью годами раньше братья Райт впервые пролетели 36 метров, а в 1909 году Блерио перелетел Ла-Манш. Первая бомбардировка с самолёта случилась в 1911 году в Ливии, а в 1913-м Нестеров выполнил «мёртвую петлю». Но многие военные всё ещё считали авиацию спортом.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первые месяцы войны главной задачей самолёта была разведка. 3 сентября 1914 года лётчики заметили, что армия фон Клюка поворачивает восточнее Парижа и открывает фланг. Это помогло союзникам начать контрнаступление на Марне. На Востоке немецкая авиаразведка следила за русскими армиями перед Танненбергом. Вскоре появились корректировка огня по радио и аэрофотосъёмка. Интересный факт: камера на слайде принадлежала Уэсли Арчеру, американцу на службе в британской авиации, который после войны снимал «воздушные бои» на моделях, и подделку разоблачили лишь в 1980-х.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Сначала лётчики противников даже приветствовали друг друга, но очень скоро в ход пошли пистолеты и карабины. 8 сентября 1914 года Пётр Нестеров, пытаясь остановить австрийского разведчика, ударил его своим самолётом. Погибли все. Это был первый воздушный таран. А 5 октября француз Жозеф Франц и механик Луи Кено сбили немецкий самолёт из пулемёта. Они летели на «Вуазене» — самолёте того же семейства, что и на фотографии. Так родился воздушный бой.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проблема первых истребителей — винт перед лётчиком: стреляя вперёд, можно было отстрелить собственную лопасть. Француз Ролан Гаррос поставил на лопасти стальные клинья и сбил несколько самолётов, но 18 апреля 1915 года попал в плен. Вскоре фирма Фоккера создала синхронизатор: механизм связывал пулемёт с мотором, и выстрел происходил только в промежутке между лопастями. Истребители Фоккера полгода господствовали в небе — англичане назвали это «бичом Фоккера». На фото — синхронный пулемёт настоящего Fokker D.VII.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войну самолёты изменились до неузнаваемости. Слева «Вуазен» — медленная «этажерка» с толкающим винтом, около 100 километров в час. Справа истребители 1917–1918 годов: SPAD, Sopwith Camel, Fokker D.VII и Pfalz, вдвое быстрее и с двумя синхронными пулемётами. SPAD выпустили почти в 8,5 тысяч экземпляров, а Camel сбил 1294 самолёта — больше всех истребителей союзников. Fokker D.VII так ценился, что перемирие отдельно требовало передать все эти машины союзникам. Все фото — настоящие самолёты из Смитсоновского музея.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Впервые война пришла к мирным жителям с неба. С 1915 года германские цеппелины бомбили Англию: за войну их налёты унесли 557 жизней. Альтиметр на слайде — с настоящего цеппелина L 49, который французские лётчики принудили к посадке в 1917 году. С 1917 года Лондон бомбили самолёты «Гота»: налёт 13 июня унёс 162 жизни. Союзники тоже создали бомбардировочную авиацию, например французские «Вуазены». В ответ появилась противовоздушная оборона: прожекторы, зенитки и ночные истребители. На картине американский военный художник изобразил ночной налёт.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Россия дала мировой авиации немало первых. Пётр Нестеров выполнил первую «мёртвую петлю» и первый воздушный таран. Игорь Сикорский построил «Русский витязь», первый в мире четырёхмоторный самолёт, а затем «Илью Муромца», чертёж которого вы видите. Эскадра этих гигантов совершила около 400 вылетов и потеряла в воздушном бою лишь один корабль. Александр Казаков одержал 17 официальных побед, Дмитрий Григорович создал летающие лодки, а Глеб Котельников изобрёл ранцевый парашют. Главной бедой были моторы: большую часть закупали за границей.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Асом называли лётчика, сбившего не менее пяти самолётов. Самым результативным стал Манфред фон Рихтгофен — «Красный барон», 80 побед. У французов лучшим был Рене Фонк, у британцев Эдвард Мэннок, у американцев Эдди Рикенбакер, а у нас Александр Казаков. Лётчики стали настоящими кумирами: солдаты даже делали модели самолётов из металла — такое «окопное искусство» вы видите на слайде. Освальд Бёльке первым записал правила воздушного боя. А ярко-красный Pfalz на фото после войны снимался в голливудском фильме «Утренний патруль».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Карта показывает Западный фронт: красная линия — окопы, которые почти не двигались с 1915 по 1917 год. Под Верденом в 1916 году впервые развернулась настоящая борьба за господство в воздухе, и французы собрали истребители в отдельные группы. На Сомме британцы наступали и в небе, а немцы ответили истребительными эскадрильями. В апреле 1917 года под Аррасом британцы потеряли 245 самолётов против 66 немецких. А в сентябре 1918-го при Сен-Мийеле американец Билли Митчелл собрал почти полторы тысячи машин — крупнейшую авиаоперацию войны.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Карта смещается на север, к Северному морю. Уже в декабре 1914 года британские гидросамолёты атаковали базу цеппелинов у Куксхафена. В 1915 году в Дарданеллах гидросамолёт впервые применил торпеду. На Чёрном море действовали русские гидрокрейсера, а лётчик Нагурский выполнил «мёртвую петлю» на летающей лодке Григоровича М-9. В июле 1918 года семь истребителей Camel взлетели с авианосца Furious и уничтожили два цеппелина в Тондерне. На фото — Curtiss N-9H, на котором подготовили 2 500 лётчиков ВМС США.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Романтика неба скрывала тяжёлую жизнь. Кабины были открытыми, и на высоте лётчиков сковывал мороз, поэтому они носили кожаные комбинезоны, маски и очки — на слайде настоящее снаряжение американского лётчика 1918 года. Выше четырёх-пяти километров не хватало воздуха, и немецкие экипажи брали с собой жидкий кислород. Лётчики Антанты воевали без парашютов, их имели только наблюдатели на аэростатах, как на рисунке военного художника. Опасной была даже учёба: на Camel почти столько же лётчиков погибло в авариях, сколько в боях.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Цифры показывают, насколько стремительным был рост. В 1914 году у четырёх крупнейших держав было около 670 самолётов первой линии. К концу войны только в британских ВВС насчитывалось 22 647 машин. Всего было построено больше 150 тысяч самолётов, а точные цифры по странам в источниках расходятся, поэтому я показываю разброс. Авиация стала отраслью промышленности: американские автозаводы Ford, Packard и Buick выпустили больше двадцати тысяч моторов Liberty. А 1 апреля 1918 года появились британские Королевские ВВС — первые самостоятельные военно-воздушные силы в мире.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Первая мировая война определила будущее авиации. Версальский договор запретил Германии военную авиацию, настолько её стали опасаться. Военные технологии быстро пришли в мирную жизнь: уже в 1919 году Алкок и Браун на бывшем бомбардировщике перелетели Атлантику, открылась авиалиния Лондон — Париж, а в США с мая 1918 года летала авиапочта. Марка «Перевёрнутая Дженни» напечатана к её открытию и стала самой знаменитой ошибкой в истории филателии. Вывод: за четыре года авиация превратилась из забавы в силу, изменившую войны XX века. Спасибо за внимание!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1-3.png"/><Relationship Id="rId5" Type="http://schemas.openxmlformats.org/officeDocument/2006/relationships/image" Target="../media/image-1-2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3-2.png"/><Relationship Id="rId3" Type="http://schemas.openxmlformats.org/officeDocument/2006/relationships/image" Target="../media/image-2-2.png"/><Relationship Id="rId4" Type="http://schemas.openxmlformats.org/officeDocument/2006/relationships/image" Target="../media/image-2-6.png"/><Relationship Id="rId5" Type="http://schemas.openxmlformats.org/officeDocument/2006/relationships/image" Target="../media/image-1-3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3-6.png"/><Relationship Id="rId3" Type="http://schemas.openxmlformats.org/officeDocument/2006/relationships/image" Target="../media/image-2-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3-2.png"/><Relationship Id="rId3" Type="http://schemas.openxmlformats.org/officeDocument/2006/relationships/image" Target="../media/image-2-2.png"/><Relationship Id="rId4" Type="http://schemas.openxmlformats.org/officeDocument/2006/relationships/image" Target="../media/image-3-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6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1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3-2.png"/><Relationship Id="rId3" Type="http://schemas.openxmlformats.org/officeDocument/2006/relationships/image" Target="../media/image-7-3.png"/><Relationship Id="rId4" Type="http://schemas.openxmlformats.org/officeDocument/2006/relationships/image" Target="../media/image-3-6.png"/><Relationship Id="rId5" Type="http://schemas.openxmlformats.org/officeDocument/2006/relationships/image" Target="../media/image-7-5.png"/><Relationship Id="rId6" Type="http://schemas.openxmlformats.org/officeDocument/2006/relationships/image" Target="../media/image-1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3-6.png"/><Relationship Id="rId4" Type="http://schemas.openxmlformats.org/officeDocument/2006/relationships/image" Target="../media/image-1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3-2.png"/><Relationship Id="rId3" Type="http://schemas.openxmlformats.org/officeDocument/2006/relationships/image" Target="../media/image-2-2.png"/><Relationship Id="rId4" Type="http://schemas.openxmlformats.org/officeDocument/2006/relationships/image" Target="../media/image-1-2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3-2.png"/><Relationship Id="rId3" Type="http://schemas.openxmlformats.org/officeDocument/2006/relationships/image" Target="../media/image-2-2.png"/><Relationship Id="rId4" Type="http://schemas.openxmlformats.org/officeDocument/2006/relationships/image" Target="../media/image-10-5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1-5.png"/><Relationship Id="rId3" Type="http://schemas.openxmlformats.org/officeDocument/2006/relationships/image" Target="../media/image-11-6.png"/><Relationship Id="rId4" Type="http://schemas.openxmlformats.org/officeDocument/2006/relationships/image" Target="../media/image-11-7.png"/><Relationship Id="rId5" Type="http://schemas.openxmlformats.org/officeDocument/2006/relationships/image" Target="../media/image-11-8.png"/><Relationship Id="rId6" Type="http://schemas.openxmlformats.org/officeDocument/2006/relationships/image" Target="../media/image-10-5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jp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7.png"/><Relationship Id="rId2" Type="http://schemas.openxmlformats.org/officeDocument/2006/relationships/image" Target="../media/image-11-5.png"/><Relationship Id="rId3" Type="http://schemas.openxmlformats.org/officeDocument/2006/relationships/image" Target="../media/image-11-6.png"/><Relationship Id="rId4" Type="http://schemas.openxmlformats.org/officeDocument/2006/relationships/image" Target="../media/image-11-7.png"/><Relationship Id="rId5" Type="http://schemas.openxmlformats.org/officeDocument/2006/relationships/image" Target="../media/image-11-8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3-6.png"/><Relationship Id="rId3" Type="http://schemas.openxmlformats.org/officeDocument/2006/relationships/image" Target="../media/image-12-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rack"/>
          <p:cNvSpPr/>
          <p:nvPr/>
        </p:nvSpPr>
        <p:spPr>
          <a:xfrm>
            <a:off x="548640" y="6519672"/>
            <a:ext cx="2194560" cy="32004"/>
          </a:xfrm>
          <a:prstGeom prst="rect">
            <a:avLst/>
          </a:prstGeom>
          <a:solidFill>
            <a:srgbClr val="2A2F38"/>
          </a:solidFill>
          <a:ln w="12700">
            <a:solidFill>
              <a:srgbClr val="2A2F38"/>
            </a:solidFill>
            <a:prstDash val="solid"/>
          </a:ln>
        </p:spPr>
      </p:sp>
      <p:sp>
        <p:nvSpPr>
          <p:cNvPr id="3" name="!!prog"/>
          <p:cNvSpPr/>
          <p:nvPr/>
        </p:nvSpPr>
        <p:spPr>
          <a:xfrm>
            <a:off x="548640" y="6519672"/>
            <a:ext cx="156754" cy="32004"/>
          </a:xfrm>
          <a:prstGeom prst="rect">
            <a:avLst/>
          </a:prstGeom>
          <a:solidFill>
            <a:srgbClr val="FF453A"/>
          </a:solidFill>
          <a:ln w="12700">
            <a:solidFill>
              <a:srgbClr val="FF453A"/>
            </a:solidFill>
            <a:prstDash val="solid"/>
          </a:ln>
        </p:spPr>
      </p:sp>
      <p:sp>
        <p:nvSpPr>
          <p:cNvPr id="4" name="!!pg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14</a:t>
            </a:r>
            <a:endParaRPr lang="en-US" sz="1000" dirty="0"/>
          </a:p>
        </p:txBody>
      </p:sp>
      <p:pic>
        <p:nvPicPr>
          <p:cNvPr id="5" name="Image 0" descr="/root/deck2/assets/glow_r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4754880" y="-914400"/>
            <a:ext cx="8229600" cy="8229600"/>
          </a:xfrm>
          <a:prstGeom prst="rect">
            <a:avLst/>
          </a:prstGeom>
        </p:spPr>
      </p:pic>
      <p:sp>
        <p:nvSpPr>
          <p:cNvPr id="6" name="!!big"/>
          <p:cNvSpPr txBox="1"/>
          <p:nvPr/>
        </p:nvSpPr>
        <p:spPr>
          <a:xfrm>
            <a:off x="320040" y="45720"/>
            <a:ext cx="11704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600" b="1" spc="-600" kern="0" dirty="0">
                <a:solidFill>
                  <a:srgbClr val="16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1914–1918</a:t>
            </a:r>
            <a:endParaRPr lang="en-US" sz="19600" dirty="0"/>
          </a:p>
        </p:txBody>
      </p:sp>
      <p:pic>
        <p:nvPicPr>
          <p:cNvPr id="7" name="!!pfalz" descr="/root/deck2/assets/pfalz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240000">
            <a:off x="4434840" y="685800"/>
            <a:ext cx="7589520" cy="3867205"/>
          </a:xfrm>
          <a:prstGeom prst="rect">
            <a:avLst/>
          </a:prstGeom>
        </p:spPr>
      </p:pic>
      <p:sp>
        <p:nvSpPr>
          <p:cNvPr id="8" name="!!kicker"/>
          <p:cNvSpPr txBox="1"/>
          <p:nvPr/>
        </p:nvSpPr>
        <p:spPr>
          <a:xfrm>
            <a:off x="548640" y="3931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FF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ПРЕЗЕНТАЦИЯ ПО ИСТОРИИ</a:t>
            </a:r>
            <a:endParaRPr lang="en-US" sz="1200" dirty="0"/>
          </a:p>
        </p:txBody>
      </p:sp>
      <p:sp>
        <p:nvSpPr>
          <p:cNvPr id="9" name="!!title"/>
          <p:cNvSpPr txBox="1"/>
          <p:nvPr/>
        </p:nvSpPr>
        <p:spPr>
          <a:xfrm>
            <a:off x="548640" y="420624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spc="-100" kern="0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Авиация Первой мировой войны</a:t>
            </a:r>
            <a:endParaRPr lang="en-US" sz="50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58978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небо стало полем боя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62453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Пономарев Глеб, 10В класс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6766560" y="47091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7C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Pfalz D.XII, Германия, 1918 · Музей авиации и космонавтики США</a:t>
            </a:r>
            <a:endParaRPr lang="en-US" sz="950" dirty="0"/>
          </a:p>
        </p:txBody>
      </p:sp>
      <p:pic>
        <p:nvPicPr>
          <p:cNvPr id="13" name="!!flyer" descr="/root/deck2/assets/fly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206240" y="2103120"/>
            <a:ext cx="2651760" cy="1281132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map" descr="/root/deck2/assets/europe19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pic>
        <p:nvPicPr>
          <p:cNvPr id="3" name="Image 1" descr="/root/deck2/assets/grad_botto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97680"/>
            <a:ext cx="12191695" cy="2560320"/>
          </a:xfrm>
          <a:prstGeom prst="rect">
            <a:avLst/>
          </a:prstGeom>
        </p:spPr>
      </p:pic>
      <p:pic>
        <p:nvPicPr>
          <p:cNvPr id="4" name="Image 2" descr="/root/deck2/assets/grad_t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737360"/>
          </a:xfrm>
          <a:prstGeom prst="rect">
            <a:avLst/>
          </a:prstGeom>
        </p:spPr>
      </p:pic>
      <p:sp>
        <p:nvSpPr>
          <p:cNvPr id="5" name="!!kicker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3B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ПРОЛОГ · 1903–1913</a:t>
            </a:r>
            <a:endParaRPr lang="en-US" sz="1200" dirty="0"/>
          </a:p>
        </p:txBody>
      </p:sp>
      <p:sp>
        <p:nvSpPr>
          <p:cNvPr id="6" name="!!title"/>
          <p:cNvSpPr txBox="1"/>
          <p:nvPr/>
        </p:nvSpPr>
        <p:spPr>
          <a:xfrm>
            <a:off x="548640" y="658368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50" kern="0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Накануне: спорт или оружие?</a:t>
            </a:r>
            <a:endParaRPr lang="en-US" sz="3800" dirty="0"/>
          </a:p>
        </p:txBody>
      </p:sp>
      <p:sp>
        <p:nvSpPr>
          <p:cNvPr id="7" name="!!track"/>
          <p:cNvSpPr/>
          <p:nvPr/>
        </p:nvSpPr>
        <p:spPr>
          <a:xfrm>
            <a:off x="548640" y="6519672"/>
            <a:ext cx="2194560" cy="32004"/>
          </a:xfrm>
          <a:prstGeom prst="rect">
            <a:avLst/>
          </a:prstGeom>
          <a:solidFill>
            <a:srgbClr val="2A2F38"/>
          </a:solidFill>
          <a:ln w="12700">
            <a:solidFill>
              <a:srgbClr val="2A2F38"/>
            </a:solidFill>
            <a:prstDash val="solid"/>
          </a:ln>
        </p:spPr>
      </p:sp>
      <p:sp>
        <p:nvSpPr>
          <p:cNvPr id="8" name="!!prog"/>
          <p:cNvSpPr/>
          <p:nvPr/>
        </p:nvSpPr>
        <p:spPr>
          <a:xfrm>
            <a:off x="548640" y="6519672"/>
            <a:ext cx="313509" cy="32004"/>
          </a:xfrm>
          <a:prstGeom prst="rect">
            <a:avLst/>
          </a:prstGeom>
          <a:solidFill>
            <a:srgbClr val="E3B64E"/>
          </a:solidFill>
          <a:ln w="12700">
            <a:solidFill>
              <a:srgbClr val="E3B64E"/>
            </a:solidFill>
            <a:prstDash val="solid"/>
          </a:ln>
        </p:spPr>
      </p:sp>
      <p:sp>
        <p:nvSpPr>
          <p:cNvPr id="9" name="!!pg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14</a:t>
            </a:r>
            <a:endParaRPr lang="en-US" sz="1000" dirty="0"/>
          </a:p>
        </p:txBody>
      </p:sp>
      <p:sp>
        <p:nvSpPr>
          <p:cNvPr id="10" name="Shape 5"/>
          <p:cNvSpPr/>
          <p:nvPr/>
        </p:nvSpPr>
        <p:spPr>
          <a:xfrm>
            <a:off x="9013815" y="1656620"/>
            <a:ext cx="100584" cy="100584"/>
          </a:xfrm>
          <a:prstGeom prst="ellipse">
            <a:avLst/>
          </a:prstGeom>
          <a:solidFill>
            <a:srgbClr val="F5F3E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8241147" y="1798352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244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самолёта · Россия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5194232" y="3034776"/>
            <a:ext cx="100584" cy="100584"/>
          </a:xfrm>
          <a:prstGeom prst="ellipse">
            <a:avLst/>
          </a:prstGeom>
          <a:solidFill>
            <a:srgbClr val="F5F3E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4421564" y="3194796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232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Германия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3806473" y="3922847"/>
            <a:ext cx="100584" cy="100584"/>
          </a:xfrm>
          <a:prstGeom prst="ellipse">
            <a:avLst/>
          </a:prstGeom>
          <a:solidFill>
            <a:srgbClr val="F5F3E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3033805" y="4082867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Франция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3475800" y="2408642"/>
            <a:ext cx="100584" cy="100584"/>
          </a:xfrm>
          <a:prstGeom prst="ellipse">
            <a:avLst/>
          </a:prstGeom>
          <a:solidFill>
            <a:srgbClr val="F5F3E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3727260" y="2138894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56*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Британия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9464040" y="4983480"/>
            <a:ext cx="137160" cy="137160"/>
          </a:xfrm>
          <a:prstGeom prst="ellipse">
            <a:avLst/>
          </a:prstGeom>
          <a:solidFill>
            <a:srgbClr val="4E93D8"/>
          </a:solidFill>
          <a:ln w="6350">
            <a:solidFill>
              <a:srgbClr val="4E93D8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9692640" y="493776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Антанта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464040" y="5248656"/>
            <a:ext cx="137160" cy="137160"/>
          </a:xfrm>
          <a:prstGeom prst="ellipse">
            <a:avLst/>
          </a:prstGeom>
          <a:solidFill>
            <a:srgbClr val="E4543F"/>
          </a:solidFill>
          <a:ln w="6350">
            <a:solidFill>
              <a:srgbClr val="E4543F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9692640" y="520293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Центральные державы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9464040" y="5513832"/>
            <a:ext cx="137160" cy="137160"/>
          </a:xfrm>
          <a:prstGeom prst="ellipse">
            <a:avLst/>
          </a:prstGeom>
          <a:solidFill>
            <a:srgbClr val="4E93D8">
              <a:alpha val="45000"/>
            </a:srgbClr>
          </a:solidFill>
          <a:ln w="6350">
            <a:solidFill>
              <a:srgbClr val="4E93D8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9692640" y="546811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светлее — вступили в войну позже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9464040" y="5779008"/>
            <a:ext cx="137160" cy="137160"/>
          </a:xfrm>
          <a:prstGeom prst="ellipse">
            <a:avLst/>
          </a:prstGeom>
          <a:solidFill>
            <a:srgbClr val="6B7078"/>
          </a:solidFill>
          <a:ln w="6350">
            <a:solidFill>
              <a:srgbClr val="6B7078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9692640" y="573328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нейтральные страны</a:t>
            </a:r>
            <a:endParaRPr lang="en-US" sz="1050" dirty="0"/>
          </a:p>
        </p:txBody>
      </p:sp>
      <p:sp>
        <p:nvSpPr>
          <p:cNvPr id="26" name="Text 21"/>
          <p:cNvSpPr txBox="1"/>
          <p:nvPr/>
        </p:nvSpPr>
        <p:spPr>
          <a:xfrm>
            <a:off x="9464040" y="601675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C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машины первой линии; данные на 1.08.1914, оценки различаются</a:t>
            </a:r>
            <a:endParaRPr lang="en-US" sz="850" dirty="0"/>
          </a:p>
        </p:txBody>
      </p:sp>
      <p:pic>
        <p:nvPicPr>
          <p:cNvPr id="27" name="!!flyer" descr="/root/deck2/assets/fly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874520"/>
            <a:ext cx="2651760" cy="1281132"/>
          </a:xfrm>
          <a:prstGeom prst="rect">
            <a:avLst/>
          </a:prstGeom>
        </p:spPr>
      </p:pic>
      <p:pic>
        <p:nvPicPr>
          <p:cNvPr id="28" name="!!pfalz" descr="/root/deck2/assets/pfalz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60000">
            <a:off x="13350240" y="-3108960"/>
            <a:ext cx="4754880" cy="2422827"/>
          </a:xfrm>
          <a:prstGeom prst="rect">
            <a:avLst/>
          </a:prstGeom>
        </p:spPr>
      </p:pic>
      <p:pic>
        <p:nvPicPr>
          <p:cNvPr id="29" name="!!camera" descr="/root/deck2/assets/camer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7498080"/>
            <a:ext cx="1691640" cy="1437894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457200" y="32186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C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«Флайер» братьев Райт, 1903. Оригинал хранится в Смитсоновском музее</a:t>
            </a:r>
            <a:endParaRPr lang="en-US" sz="950" dirty="0"/>
          </a:p>
        </p:txBody>
      </p:sp>
      <p:sp>
        <p:nvSpPr>
          <p:cNvPr id="31" name="Text 23"/>
          <p:cNvSpPr txBox="1"/>
          <p:nvPr/>
        </p:nvSpPr>
        <p:spPr>
          <a:xfrm>
            <a:off x="548640" y="50474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3B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1903</a:t>
            </a:r>
            <a:endParaRPr lang="en-US" sz="2200" dirty="0"/>
          </a:p>
        </p:txBody>
      </p:sp>
      <p:sp>
        <p:nvSpPr>
          <p:cNvPr id="32" name="Text 24"/>
          <p:cNvSpPr txBox="1"/>
          <p:nvPr/>
        </p:nvSpPr>
        <p:spPr>
          <a:xfrm>
            <a:off x="548640" y="54406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Братья Райт: первый управляемый полёт с мотором — 12 секунд, 36 метров</a:t>
            </a:r>
            <a:endParaRPr lang="en-US" sz="1150" dirty="0"/>
          </a:p>
        </p:txBody>
      </p:sp>
      <p:sp>
        <p:nvSpPr>
          <p:cNvPr id="33" name="Text 25"/>
          <p:cNvSpPr txBox="1"/>
          <p:nvPr/>
        </p:nvSpPr>
        <p:spPr>
          <a:xfrm>
            <a:off x="2761488" y="50474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3B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1909</a:t>
            </a:r>
            <a:endParaRPr lang="en-US" sz="2200" dirty="0"/>
          </a:p>
        </p:txBody>
      </p:sp>
      <p:sp>
        <p:nvSpPr>
          <p:cNvPr id="34" name="Text 26"/>
          <p:cNvSpPr txBox="1"/>
          <p:nvPr/>
        </p:nvSpPr>
        <p:spPr>
          <a:xfrm>
            <a:off x="2761488" y="54406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Луи Блерио перелетел Ла-Манш: 40 км за 36,5 минуты</a:t>
            </a:r>
            <a:endParaRPr lang="en-US" sz="1150" dirty="0"/>
          </a:p>
        </p:txBody>
      </p:sp>
      <p:sp>
        <p:nvSpPr>
          <p:cNvPr id="35" name="Text 27"/>
          <p:cNvSpPr txBox="1"/>
          <p:nvPr/>
        </p:nvSpPr>
        <p:spPr>
          <a:xfrm>
            <a:off x="4974336" y="50474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3B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1911</a:t>
            </a:r>
            <a:endParaRPr lang="en-US" sz="2200" dirty="0"/>
          </a:p>
        </p:txBody>
      </p:sp>
      <p:sp>
        <p:nvSpPr>
          <p:cNvPr id="36" name="Text 28"/>
          <p:cNvSpPr txBox="1"/>
          <p:nvPr/>
        </p:nvSpPr>
        <p:spPr>
          <a:xfrm>
            <a:off x="4974336" y="54406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Итало-турецкая война: первая бомбардировка с самолёта (Дж. Гавотти)</a:t>
            </a:r>
            <a:endParaRPr lang="en-US" sz="1150" dirty="0"/>
          </a:p>
        </p:txBody>
      </p:sp>
      <p:sp>
        <p:nvSpPr>
          <p:cNvPr id="37" name="Text 29"/>
          <p:cNvSpPr txBox="1"/>
          <p:nvPr/>
        </p:nvSpPr>
        <p:spPr>
          <a:xfrm>
            <a:off x="7187184" y="50474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3B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1913</a:t>
            </a:r>
            <a:endParaRPr lang="en-US" sz="2200" dirty="0"/>
          </a:p>
        </p:txBody>
      </p:sp>
      <p:sp>
        <p:nvSpPr>
          <p:cNvPr id="38" name="Text 30"/>
          <p:cNvSpPr txBox="1"/>
          <p:nvPr/>
        </p:nvSpPr>
        <p:spPr>
          <a:xfrm>
            <a:off x="7187184" y="54406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Пётр Нестеров впервые выполнил «мёртвую петлю» над Киевом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8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map" descr="/root/deck2/assets/europe19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739072" y="-2520652"/>
            <a:ext cx="23787170" cy="13380283"/>
          </a:xfrm>
          <a:prstGeom prst="rect">
            <a:avLst/>
          </a:prstGeom>
        </p:spPr>
      </p:pic>
      <p:pic>
        <p:nvPicPr>
          <p:cNvPr id="3" name="Image 1" descr="/root/deck2/assets/grad_le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66560" cy="6858000"/>
          </a:xfrm>
          <a:prstGeom prst="rect">
            <a:avLst/>
          </a:prstGeom>
        </p:spPr>
      </p:pic>
      <p:pic>
        <p:nvPicPr>
          <p:cNvPr id="4" name="Image 2" descr="/root/deck2/assets/grad_bott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937760"/>
            <a:ext cx="12191695" cy="1920240"/>
          </a:xfrm>
          <a:prstGeom prst="rect">
            <a:avLst/>
          </a:prstGeom>
        </p:spPr>
      </p:pic>
      <p:sp>
        <p:nvSpPr>
          <p:cNvPr id="5" name="!!kicker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3B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1 · 1914</a:t>
            </a:r>
            <a:endParaRPr lang="en-US" sz="1200" dirty="0"/>
          </a:p>
        </p:txBody>
      </p:sp>
      <p:sp>
        <p:nvSpPr>
          <p:cNvPr id="6" name="!!title"/>
          <p:cNvSpPr txBox="1"/>
          <p:nvPr/>
        </p:nvSpPr>
        <p:spPr>
          <a:xfrm>
            <a:off x="548640" y="658368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50" kern="0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Глаза армии</a:t>
            </a:r>
            <a:endParaRPr lang="en-US" sz="3800" dirty="0"/>
          </a:p>
        </p:txBody>
      </p:sp>
      <p:sp>
        <p:nvSpPr>
          <p:cNvPr id="7" name="!!track"/>
          <p:cNvSpPr/>
          <p:nvPr/>
        </p:nvSpPr>
        <p:spPr>
          <a:xfrm>
            <a:off x="548640" y="6519672"/>
            <a:ext cx="2194560" cy="32004"/>
          </a:xfrm>
          <a:prstGeom prst="rect">
            <a:avLst/>
          </a:prstGeom>
          <a:solidFill>
            <a:srgbClr val="2A2F38"/>
          </a:solidFill>
          <a:ln w="12700">
            <a:solidFill>
              <a:srgbClr val="2A2F38"/>
            </a:solidFill>
            <a:prstDash val="solid"/>
          </a:ln>
        </p:spPr>
      </p:sp>
      <p:sp>
        <p:nvSpPr>
          <p:cNvPr id="8" name="!!prog"/>
          <p:cNvSpPr/>
          <p:nvPr/>
        </p:nvSpPr>
        <p:spPr>
          <a:xfrm>
            <a:off x="548640" y="6519672"/>
            <a:ext cx="470263" cy="32004"/>
          </a:xfrm>
          <a:prstGeom prst="rect">
            <a:avLst/>
          </a:prstGeom>
          <a:solidFill>
            <a:srgbClr val="E3B64E"/>
          </a:solidFill>
          <a:ln w="12700">
            <a:solidFill>
              <a:srgbClr val="E3B64E"/>
            </a:solidFill>
            <a:prstDash val="solid"/>
          </a:ln>
        </p:spPr>
      </p:sp>
      <p:sp>
        <p:nvSpPr>
          <p:cNvPr id="9" name="!!pg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14</a:t>
            </a:r>
            <a:endParaRPr lang="en-US" sz="1000" dirty="0"/>
          </a:p>
        </p:txBody>
      </p:sp>
      <p:sp>
        <p:nvSpPr>
          <p:cNvPr id="10" name="Shape 5"/>
          <p:cNvSpPr/>
          <p:nvPr/>
        </p:nvSpPr>
        <p:spPr>
          <a:xfrm>
            <a:off x="5042136" y="4083015"/>
            <a:ext cx="460858" cy="460858"/>
          </a:xfrm>
          <a:prstGeom prst="ellipse">
            <a:avLst/>
          </a:prstGeom>
          <a:solidFill>
            <a:srgbClr val="E3B64E">
              <a:alpha val="22000"/>
            </a:srgbClr>
          </a:solidFill>
          <a:ln w="12700">
            <a:solidFill>
              <a:srgbClr val="E3B64E">
                <a:alpha val="70000"/>
              </a:srgbClr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5190268" y="4231148"/>
            <a:ext cx="164592" cy="164592"/>
          </a:xfrm>
          <a:prstGeom prst="ellipse">
            <a:avLst/>
          </a:prstGeom>
          <a:solidFill>
            <a:srgbClr val="E3B64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5592604" y="4130564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Марна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сентября 1914: лётчики замечают, что армия фон Клюка поворачивает восточнее Парижа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10193731" y="2196158"/>
            <a:ext cx="460858" cy="460858"/>
          </a:xfrm>
          <a:prstGeom prst="ellipse">
            <a:avLst/>
          </a:prstGeom>
          <a:solidFill>
            <a:srgbClr val="E3B64E">
              <a:alpha val="22000"/>
            </a:srgbClr>
          </a:solidFill>
          <a:ln w="12700">
            <a:solidFill>
              <a:srgbClr val="E3B64E">
                <a:alpha val="7000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10341864" y="2344291"/>
            <a:ext cx="164592" cy="164592"/>
          </a:xfrm>
          <a:prstGeom prst="ellipse">
            <a:avLst/>
          </a:prstGeom>
          <a:solidFill>
            <a:srgbClr val="E3B64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7360920" y="1237867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Танненберг</a:t>
            </a:r>
            <a:endParaRPr lang="en-US" sz="1400" dirty="0"/>
          </a:p>
          <a:p>
            <a:pPr algn="r" indent="0" marL="0">
              <a:buNone/>
            </a:pPr>
            <a:r>
              <a:rPr lang="en-US" sz="115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август 1914: немецкие лётчики следят за движением русской 2-й армии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892040" y="4251960"/>
            <a:ext cx="91440" cy="91440"/>
          </a:xfrm>
          <a:prstGeom prst="ellipse">
            <a:avLst/>
          </a:prstGeom>
          <a:solidFill>
            <a:srgbClr val="F5F3EF"/>
          </a:solidFill>
          <a:ln w="12700">
            <a:solidFill>
              <a:srgbClr val="F5F3EF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3749040" y="41879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Париж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8436851" y="2872412"/>
            <a:ext cx="91440" cy="91440"/>
          </a:xfrm>
          <a:prstGeom prst="ellipse">
            <a:avLst/>
          </a:prstGeom>
          <a:solidFill>
            <a:srgbClr val="F5F3EF"/>
          </a:solidFill>
          <a:ln w="12700">
            <a:solidFill>
              <a:srgbClr val="F5F3EF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574011" y="280840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Берлин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397512" y="2843958"/>
            <a:ext cx="91440" cy="91440"/>
          </a:xfrm>
          <a:prstGeom prst="ellipse">
            <a:avLst/>
          </a:prstGeom>
          <a:solidFill>
            <a:srgbClr val="F5F3EF"/>
          </a:solidFill>
          <a:ln w="12700">
            <a:solidFill>
              <a:srgbClr val="F5F3EF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4534672" y="277995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Лондон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10681709" y="2975190"/>
            <a:ext cx="91440" cy="91440"/>
          </a:xfrm>
          <a:prstGeom prst="ellipse">
            <a:avLst/>
          </a:prstGeom>
          <a:solidFill>
            <a:srgbClr val="F5F3EF"/>
          </a:solidFill>
          <a:ln w="12700">
            <a:solidFill>
              <a:srgbClr val="F5F3EF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10818869" y="291118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Варшава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548640" y="150876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Разведка — главная работа самолёта в 1914 году. </a:t>
            </a:r>
            <a:pPr indent="0" marL="0">
              <a:buNone/>
            </a:pPr>
            <a:r>
              <a:rPr lang="en-US" sz="135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сентября лётчики корректируют огонь артиллерии по радио, а в марте 1915-го у Нев-Шапеля британцы впервые готовят наступление по картам, составленным по аэроснимкам.</a:t>
            </a:r>
            <a:endParaRPr lang="en-US" sz="1350" dirty="0"/>
          </a:p>
        </p:txBody>
      </p:sp>
      <p:sp>
        <p:nvSpPr>
          <p:cNvPr id="25" name="Text 20"/>
          <p:cNvSpPr txBox="1"/>
          <p:nvPr/>
        </p:nvSpPr>
        <p:spPr>
          <a:xfrm>
            <a:off x="548640" y="30632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E3B6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«Без лётчиков не было бы Танненберга»</a:t>
            </a:r>
            <a:endParaRPr lang="en-US" sz="2000" dirty="0"/>
          </a:p>
        </p:txBody>
      </p:sp>
      <p:sp>
        <p:nvSpPr>
          <p:cNvPr id="26" name="Text 21"/>
          <p:cNvSpPr txBox="1"/>
          <p:nvPr/>
        </p:nvSpPr>
        <p:spPr>
          <a:xfrm>
            <a:off x="548640" y="3794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C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Слова, приписываемые П. фон Гинденбургу</a:t>
            </a:r>
            <a:endParaRPr lang="en-US" sz="1000" dirty="0"/>
          </a:p>
        </p:txBody>
      </p:sp>
      <p:pic>
        <p:nvPicPr>
          <p:cNvPr id="27" name="!!camera" descr="/root/deck2/assets/camer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389120"/>
            <a:ext cx="1691640" cy="1437894"/>
          </a:xfrm>
          <a:prstGeom prst="rect">
            <a:avLst/>
          </a:prstGeom>
        </p:spPr>
      </p:pic>
      <p:pic>
        <p:nvPicPr>
          <p:cNvPr id="28" name="!!flyer" descr="/root/deck2/assets/fly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720000">
            <a:off x="13167360" y="-2194560"/>
            <a:ext cx="2194560" cy="1060247"/>
          </a:xfrm>
          <a:prstGeom prst="rect">
            <a:avLst/>
          </a:prstGeom>
        </p:spPr>
      </p:pic>
      <p:pic>
        <p:nvPicPr>
          <p:cNvPr id="29" name="!!voisin" descr="/root/deck2/assets/voisi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40000">
            <a:off x="-8778240" y="2194560"/>
            <a:ext cx="7315200" cy="2757673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2377440" y="452628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 Уэсли Арчера — американца, служившего в британской авиации. </a:t>
            </a:r>
            <a:pPr indent="0" marL="0">
              <a:buNone/>
            </a:pPr>
            <a:r>
              <a:rPr lang="en-US" sz="110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войны он «фотографировал» воздушные бои на моделях — подделку раскрыли только в 1980-х.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FF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2 · 1914</a:t>
            </a:r>
            <a:endParaRPr lang="en-US" sz="1200" dirty="0"/>
          </a:p>
        </p:txBody>
      </p:sp>
      <p:sp>
        <p:nvSpPr>
          <p:cNvPr id="3" name="!!title"/>
          <p:cNvSpPr txBox="1"/>
          <p:nvPr/>
        </p:nvSpPr>
        <p:spPr>
          <a:xfrm>
            <a:off x="548640" y="658368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50" kern="0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Первые воздушные бои</a:t>
            </a:r>
            <a:endParaRPr lang="en-US" sz="3800" dirty="0"/>
          </a:p>
        </p:txBody>
      </p:sp>
      <p:sp>
        <p:nvSpPr>
          <p:cNvPr id="4" name="!!track"/>
          <p:cNvSpPr/>
          <p:nvPr/>
        </p:nvSpPr>
        <p:spPr>
          <a:xfrm>
            <a:off x="548640" y="6519672"/>
            <a:ext cx="2194560" cy="32004"/>
          </a:xfrm>
          <a:prstGeom prst="rect">
            <a:avLst/>
          </a:prstGeom>
          <a:solidFill>
            <a:srgbClr val="2A2F38"/>
          </a:solidFill>
          <a:ln w="12700">
            <a:solidFill>
              <a:srgbClr val="2A2F38"/>
            </a:solidFill>
            <a:prstDash val="solid"/>
          </a:ln>
        </p:spPr>
      </p:sp>
      <p:sp>
        <p:nvSpPr>
          <p:cNvPr id="5" name="!!prog"/>
          <p:cNvSpPr/>
          <p:nvPr/>
        </p:nvSpPr>
        <p:spPr>
          <a:xfrm>
            <a:off x="548640" y="6519672"/>
            <a:ext cx="627017" cy="32004"/>
          </a:xfrm>
          <a:prstGeom prst="rect">
            <a:avLst/>
          </a:prstGeom>
          <a:solidFill>
            <a:srgbClr val="FF453A"/>
          </a:solidFill>
          <a:ln w="12700">
            <a:solidFill>
              <a:srgbClr val="FF453A"/>
            </a:solidFill>
            <a:prstDash val="solid"/>
          </a:ln>
        </p:spPr>
      </p:sp>
      <p:sp>
        <p:nvSpPr>
          <p:cNvPr id="6" name="!!pg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14</a:t>
            </a:r>
            <a:endParaRPr lang="en-US" sz="1000" dirty="0"/>
          </a:p>
        </p:txBody>
      </p:sp>
      <p:pic>
        <p:nvPicPr>
          <p:cNvPr id="7" name="Image 0" descr="/root/deck2/assets/glow_r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5120640" y="-548640"/>
            <a:ext cx="7498080" cy="7498080"/>
          </a:xfrm>
          <a:prstGeom prst="rect">
            <a:avLst/>
          </a:prstGeom>
        </p:spPr>
      </p:pic>
      <p:pic>
        <p:nvPicPr>
          <p:cNvPr id="8" name="!!voisin" descr="/root/deck2/assets/vois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180000">
            <a:off x="4663440" y="1417320"/>
            <a:ext cx="7315200" cy="275767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1691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СЕНТЯБРЯ 1914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19842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Таран Нестерова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2496312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 Жолквой Пётр Нестеров ударил своим самолётом австрийский «Альбатрос». Погибли оба экипажа — это первый воздушный таран в истории.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3749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ОКТЯБРЯ 1914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0416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Первая победа пулемётом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4553712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 Реймсом Жозеф Франц и Луи Кено на «Вуазене III» сбили германский «Авиатик» из пулемёта «Гочкис».</a:t>
            </a:r>
            <a:endParaRPr lang="en-US" sz="1300" dirty="0"/>
          </a:p>
        </p:txBody>
      </p:sp>
      <p:pic>
        <p:nvPicPr>
          <p:cNvPr id="15" name="!!camera" descr="/root/deck2/assets/camer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7589520"/>
            <a:ext cx="1691640" cy="143789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48640" y="58978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7C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этого лётчики стреляли друг в друга из пистолетов и карабинов.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6675120" y="48006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7C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«Вуазен» тип 8 (1916) — прямой потомок «Вуазена III». Экземпляр Смитсоновского музея — старейший сохранившийся самолёт, построенный как бомбардировщик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FF9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2 · 1915</a:t>
            </a:r>
            <a:endParaRPr lang="en-US" sz="1200" dirty="0"/>
          </a:p>
        </p:txBody>
      </p:sp>
      <p:sp>
        <p:nvSpPr>
          <p:cNvPr id="3" name="!!title"/>
          <p:cNvSpPr txBox="1"/>
          <p:nvPr/>
        </p:nvSpPr>
        <p:spPr>
          <a:xfrm>
            <a:off x="548640" y="65836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50" kern="0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Стрельба сквозь винт</a:t>
            </a:r>
            <a:endParaRPr lang="en-US" sz="3800" dirty="0"/>
          </a:p>
        </p:txBody>
      </p:sp>
      <p:sp>
        <p:nvSpPr>
          <p:cNvPr id="4" name="!!track"/>
          <p:cNvSpPr/>
          <p:nvPr/>
        </p:nvSpPr>
        <p:spPr>
          <a:xfrm>
            <a:off x="548640" y="6519672"/>
            <a:ext cx="2194560" cy="32004"/>
          </a:xfrm>
          <a:prstGeom prst="rect">
            <a:avLst/>
          </a:prstGeom>
          <a:solidFill>
            <a:srgbClr val="2A2F38"/>
          </a:solidFill>
          <a:ln w="12700">
            <a:solidFill>
              <a:srgbClr val="2A2F38"/>
            </a:solidFill>
            <a:prstDash val="solid"/>
          </a:ln>
        </p:spPr>
      </p:sp>
      <p:sp>
        <p:nvSpPr>
          <p:cNvPr id="5" name="!!prog"/>
          <p:cNvSpPr/>
          <p:nvPr/>
        </p:nvSpPr>
        <p:spPr>
          <a:xfrm>
            <a:off x="548640" y="6519672"/>
            <a:ext cx="783771" cy="32004"/>
          </a:xfrm>
          <a:prstGeom prst="rect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</p:sp>
      <p:sp>
        <p:nvSpPr>
          <p:cNvPr id="6" name="!!pg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14</a:t>
            </a:r>
            <a:endParaRPr lang="en-US" sz="1000" dirty="0"/>
          </a:p>
        </p:txBody>
      </p:sp>
      <p:pic>
        <p:nvPicPr>
          <p:cNvPr id="7" name="Image 0" descr="/root/deck2/assets/gun_phot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0"/>
            <a:ext cx="7162495" cy="6858000"/>
          </a:xfrm>
          <a:prstGeom prst="rect">
            <a:avLst/>
          </a:prstGeom>
        </p:spPr>
      </p:pic>
      <p:pic>
        <p:nvPicPr>
          <p:cNvPr id="8" name="Image 1" descr="/root/deck2/assets/grad_le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0"/>
            <a:ext cx="3108960" cy="6858000"/>
          </a:xfrm>
          <a:prstGeom prst="rect">
            <a:avLst/>
          </a:prstGeom>
        </p:spPr>
      </p:pic>
      <p:pic>
        <p:nvPicPr>
          <p:cNvPr id="9" name="Image 2" descr="/root/deck2/assets/grad_bott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5120640"/>
            <a:ext cx="7162495" cy="173736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58368" y="1627632"/>
            <a:ext cx="0" cy="4343400"/>
          </a:xfrm>
          <a:prstGeom prst="line">
            <a:avLst/>
          </a:prstGeom>
          <a:noFill/>
          <a:ln w="19050">
            <a:solidFill>
              <a:srgbClr val="2A2F38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585216" y="1554480"/>
            <a:ext cx="146304" cy="146304"/>
          </a:xfrm>
          <a:prstGeom prst="ellipse">
            <a:avLst/>
          </a:prstGeom>
          <a:solidFill>
            <a:srgbClr val="7C838F"/>
          </a:solidFill>
          <a:ln w="25400">
            <a:solidFill>
              <a:srgbClr val="07090D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914400" y="14813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апр. 1915</a:t>
            </a:r>
            <a:endParaRPr lang="en-US" sz="1250" dirty="0"/>
          </a:p>
        </p:txBody>
      </p:sp>
      <p:sp>
        <p:nvSpPr>
          <p:cNvPr id="13" name="Text 8"/>
          <p:cNvSpPr txBox="1"/>
          <p:nvPr/>
        </p:nvSpPr>
        <p:spPr>
          <a:xfrm>
            <a:off x="2194560" y="148132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Ролан Гаррос сбивает самолёт, стреляя сквозь винт: стальные клинья на лопастях отражают пули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85216" y="2487168"/>
            <a:ext cx="146304" cy="146304"/>
          </a:xfrm>
          <a:prstGeom prst="ellipse">
            <a:avLst/>
          </a:prstGeom>
          <a:solidFill>
            <a:srgbClr val="7C838F"/>
          </a:solidFill>
          <a:ln w="25400">
            <a:solidFill>
              <a:srgbClr val="07090D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914400" y="24140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апр. 1915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2194560" y="2414016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Гаррос садится за линией фронта и попадает в плен. Немцы изучают его самолёт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85216" y="3419856"/>
            <a:ext cx="146304" cy="146304"/>
          </a:xfrm>
          <a:prstGeom prst="ellipse">
            <a:avLst/>
          </a:prstGeom>
          <a:solidFill>
            <a:srgbClr val="FF9F0A"/>
          </a:solidFill>
          <a:ln w="25400">
            <a:solidFill>
              <a:srgbClr val="07090D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914400" y="33467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9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лето 1915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2194560" y="3346704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Фирма Фоккера ставит синхронизатор: мотор «разрешает» выстрел, только когда перед стволом нет лопасти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85216" y="4352544"/>
            <a:ext cx="146304" cy="146304"/>
          </a:xfrm>
          <a:prstGeom prst="ellipse">
            <a:avLst/>
          </a:prstGeom>
          <a:solidFill>
            <a:srgbClr val="7C838F"/>
          </a:solidFill>
          <a:ln w="25400">
            <a:solidFill>
              <a:srgbClr val="07090D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914400" y="42793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июля 1915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2194560" y="427939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Курт Винтгенс ведёт первый бой с синхронным пулемётом. Начинается «бич Фоккера»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85216" y="5285232"/>
            <a:ext cx="146304" cy="146304"/>
          </a:xfrm>
          <a:prstGeom prst="ellipse">
            <a:avLst/>
          </a:prstGeom>
          <a:solidFill>
            <a:srgbClr val="7C838F"/>
          </a:solidFill>
          <a:ln w="25400">
            <a:solidFill>
              <a:srgbClr val="07090D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914400" y="5212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начало 1916</a:t>
            </a:r>
            <a:endParaRPr lang="en-US" sz="1250" dirty="0"/>
          </a:p>
        </p:txBody>
      </p:sp>
      <p:sp>
        <p:nvSpPr>
          <p:cNvPr id="25" name="Text 20"/>
          <p:cNvSpPr txBox="1"/>
          <p:nvPr/>
        </p:nvSpPr>
        <p:spPr>
          <a:xfrm>
            <a:off x="2194560" y="52120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Nieuport 11 и Airco DH.2 возвращают союзникам равенство в воздухе</a:t>
            </a:r>
            <a:endParaRPr lang="en-US" sz="1200" dirty="0"/>
          </a:p>
        </p:txBody>
      </p:sp>
      <p:pic>
        <p:nvPicPr>
          <p:cNvPr id="26" name="!!voisin" descr="/root/deck2/assets/vois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840000">
            <a:off x="13350240" y="-2926080"/>
            <a:ext cx="5943600" cy="2240609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589520" y="5989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Синхронный пулемёт LMG 08/15 на истребителе Fokker D.VII (1918). За ним — «ромбовый» камуфляж крыла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3 · 1914–1918</a:t>
            </a:r>
            <a:endParaRPr lang="en-US" sz="1200" dirty="0"/>
          </a:p>
        </p:txBody>
      </p:sp>
      <p:sp>
        <p:nvSpPr>
          <p:cNvPr id="3" name="!!title"/>
          <p:cNvSpPr txBox="1"/>
          <p:nvPr/>
        </p:nvSpPr>
        <p:spPr>
          <a:xfrm>
            <a:off x="548640" y="65836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50" kern="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«этажерки» к истребителю</a:t>
            </a:r>
            <a:endParaRPr lang="en-US" sz="3800" dirty="0"/>
          </a:p>
        </p:txBody>
      </p:sp>
      <p:sp>
        <p:nvSpPr>
          <p:cNvPr id="4" name="!!track"/>
          <p:cNvSpPr/>
          <p:nvPr/>
        </p:nvSpPr>
        <p:spPr>
          <a:xfrm>
            <a:off x="548640" y="6519672"/>
            <a:ext cx="2194560" cy="32004"/>
          </a:xfrm>
          <a:prstGeom prst="rect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5" name="!!prog"/>
          <p:cNvSpPr/>
          <p:nvPr/>
        </p:nvSpPr>
        <p:spPr>
          <a:xfrm>
            <a:off x="548640" y="6519672"/>
            <a:ext cx="940526" cy="32004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6" name="!!pg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14</a:t>
            </a:r>
            <a:endParaRPr lang="en-US" sz="1000" dirty="0"/>
          </a:p>
        </p:txBody>
      </p:sp>
      <p:pic>
        <p:nvPicPr>
          <p:cNvPr id="7" name="!!voisin" descr="/root/deck2/assets/vois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142248"/>
            <a:ext cx="2176272" cy="8204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3246120"/>
            <a:ext cx="109728" cy="109728"/>
          </a:xfrm>
          <a:prstGeom prst="ellipse">
            <a:avLst/>
          </a:prstGeom>
          <a:solidFill>
            <a:srgbClr val="4E93D8"/>
          </a:solidFill>
          <a:ln w="12700">
            <a:solidFill>
              <a:srgbClr val="4E93D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314553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«Вуазен»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34930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15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Франция · 1914–1916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39319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≈100–120</a:t>
            </a:r>
            <a:endParaRPr lang="en-US" sz="380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464515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км/ч максимальная скорость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507492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15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Бомбардировщик-«этажерка» с толкающим винтом</a:t>
            </a:r>
            <a:endParaRPr lang="en-US" sz="1150" dirty="0"/>
          </a:p>
        </p:txBody>
      </p:sp>
      <p:pic>
        <p:nvPicPr>
          <p:cNvPr id="14" name="Image 1" descr="/root/deck2/assets/sp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2043181"/>
            <a:ext cx="2176272" cy="919475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788920" y="3246120"/>
            <a:ext cx="109728" cy="109728"/>
          </a:xfrm>
          <a:prstGeom prst="ellipse">
            <a:avLst/>
          </a:prstGeom>
          <a:solidFill>
            <a:srgbClr val="4E93D8"/>
          </a:solidFill>
          <a:ln w="12700">
            <a:solidFill>
              <a:srgbClr val="4E93D8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971800" y="314553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SPAD S.XIII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2788920" y="34930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15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Франция · 1917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2788920" y="39319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≈210</a:t>
            </a:r>
            <a:endParaRPr lang="en-US" sz="3800" dirty="0"/>
          </a:p>
        </p:txBody>
      </p:sp>
      <p:sp>
        <p:nvSpPr>
          <p:cNvPr id="19" name="Text 15"/>
          <p:cNvSpPr txBox="1"/>
          <p:nvPr/>
        </p:nvSpPr>
        <p:spPr>
          <a:xfrm>
            <a:off x="2788920" y="464515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км/ч максимальная скорость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2788920" y="507492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15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8 472 машины к концу 1918 г. Летали Фонк, Гинемер, Рикенбакер</a:t>
            </a:r>
            <a:endParaRPr lang="en-US" sz="1150" dirty="0"/>
          </a:p>
        </p:txBody>
      </p:sp>
      <p:pic>
        <p:nvPicPr>
          <p:cNvPr id="21" name="Image 2" descr="/root/deck2/assets/cam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2054062"/>
            <a:ext cx="2176272" cy="908594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5074920" y="3246120"/>
            <a:ext cx="109728" cy="109728"/>
          </a:xfrm>
          <a:prstGeom prst="ellipse">
            <a:avLst/>
          </a:prstGeom>
          <a:solidFill>
            <a:srgbClr val="4E93D8"/>
          </a:solidFill>
          <a:ln w="12700">
            <a:solidFill>
              <a:srgbClr val="4E93D8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5257800" y="314553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Sopwith Camel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5074920" y="34930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15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Великобритания · 1917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5074920" y="39319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≈185</a:t>
            </a:r>
            <a:endParaRPr lang="en-US" sz="3800" dirty="0"/>
          </a:p>
        </p:txBody>
      </p:sp>
      <p:sp>
        <p:nvSpPr>
          <p:cNvPr id="26" name="Text 21"/>
          <p:cNvSpPr txBox="1"/>
          <p:nvPr/>
        </p:nvSpPr>
        <p:spPr>
          <a:xfrm>
            <a:off x="5074920" y="464515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км/ч максимальная скорость</a:t>
            </a:r>
            <a:endParaRPr lang="en-US" sz="1050" dirty="0"/>
          </a:p>
        </p:txBody>
      </p:sp>
      <p:sp>
        <p:nvSpPr>
          <p:cNvPr id="27" name="Text 22"/>
          <p:cNvSpPr txBox="1"/>
          <p:nvPr/>
        </p:nvSpPr>
        <p:spPr>
          <a:xfrm>
            <a:off x="5074920" y="507492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15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1 294 сбитых самолёта — рекорд среди истребителей союзников</a:t>
            </a:r>
            <a:endParaRPr lang="en-US" sz="1150" dirty="0"/>
          </a:p>
        </p:txBody>
      </p:sp>
      <p:pic>
        <p:nvPicPr>
          <p:cNvPr id="28" name="Image 3" descr="/root/deck2/assets/fokk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1950690"/>
            <a:ext cx="2176272" cy="1011966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7360920" y="3246120"/>
            <a:ext cx="109728" cy="109728"/>
          </a:xfrm>
          <a:prstGeom prst="ellipse">
            <a:avLst/>
          </a:prstGeom>
          <a:solidFill>
            <a:srgbClr val="E4543F"/>
          </a:solidFill>
          <a:ln w="12700">
            <a:solidFill>
              <a:srgbClr val="E4543F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7543800" y="314553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Fokker D.VII</a:t>
            </a:r>
            <a:endParaRPr lang="en-US" sz="1600" dirty="0"/>
          </a:p>
        </p:txBody>
      </p:sp>
      <p:sp>
        <p:nvSpPr>
          <p:cNvPr id="31" name="Text 25"/>
          <p:cNvSpPr txBox="1"/>
          <p:nvPr/>
        </p:nvSpPr>
        <p:spPr>
          <a:xfrm>
            <a:off x="7360920" y="34930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15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Германия · 1918</a:t>
            </a:r>
            <a:endParaRPr lang="en-US" sz="1100" dirty="0"/>
          </a:p>
        </p:txBody>
      </p:sp>
      <p:sp>
        <p:nvSpPr>
          <p:cNvPr id="32" name="Text 26"/>
          <p:cNvSpPr txBox="1"/>
          <p:nvPr/>
        </p:nvSpPr>
        <p:spPr>
          <a:xfrm>
            <a:off x="7360920" y="39319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≈190</a:t>
            </a:r>
            <a:endParaRPr lang="en-US" sz="3800" dirty="0"/>
          </a:p>
        </p:txBody>
      </p:sp>
      <p:sp>
        <p:nvSpPr>
          <p:cNvPr id="33" name="Text 27"/>
          <p:cNvSpPr txBox="1"/>
          <p:nvPr/>
        </p:nvSpPr>
        <p:spPr>
          <a:xfrm>
            <a:off x="7360920" y="464515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км/ч максимальная скорость</a:t>
            </a:r>
            <a:endParaRPr lang="en-US" sz="1050" dirty="0"/>
          </a:p>
        </p:txBody>
      </p:sp>
      <p:sp>
        <p:nvSpPr>
          <p:cNvPr id="34" name="Text 28"/>
          <p:cNvSpPr txBox="1"/>
          <p:nvPr/>
        </p:nvSpPr>
        <p:spPr>
          <a:xfrm>
            <a:off x="7360920" y="507492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15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Единственный самолёт, названный в тексте перемирия</a:t>
            </a:r>
            <a:endParaRPr lang="en-US" sz="1150" dirty="0"/>
          </a:p>
        </p:txBody>
      </p:sp>
      <p:pic>
        <p:nvPicPr>
          <p:cNvPr id="35" name="!!pfalz" descr="/root/deck2/assets/pfalz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6920" y="1853746"/>
            <a:ext cx="2176272" cy="1108910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9646920" y="3246120"/>
            <a:ext cx="109728" cy="109728"/>
          </a:xfrm>
          <a:prstGeom prst="ellipse">
            <a:avLst/>
          </a:prstGeom>
          <a:solidFill>
            <a:srgbClr val="E4543F"/>
          </a:solidFill>
          <a:ln w="12700">
            <a:solidFill>
              <a:srgbClr val="E4543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9829800" y="314553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Pfalz D.XII</a:t>
            </a:r>
            <a:endParaRPr lang="en-US" sz="1600" dirty="0"/>
          </a:p>
        </p:txBody>
      </p:sp>
      <p:sp>
        <p:nvSpPr>
          <p:cNvPr id="38" name="Text 31"/>
          <p:cNvSpPr txBox="1"/>
          <p:nvPr/>
        </p:nvSpPr>
        <p:spPr>
          <a:xfrm>
            <a:off x="9646920" y="34930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15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Германия · 1918</a:t>
            </a:r>
            <a:endParaRPr lang="en-US" sz="1100" dirty="0"/>
          </a:p>
        </p:txBody>
      </p:sp>
      <p:sp>
        <p:nvSpPr>
          <p:cNvPr id="39" name="Text 32"/>
          <p:cNvSpPr txBox="1"/>
          <p:nvPr/>
        </p:nvSpPr>
        <p:spPr>
          <a:xfrm>
            <a:off x="9646920" y="39319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</a:t>
            </a:r>
            <a:endParaRPr lang="en-US" sz="3800" dirty="0"/>
          </a:p>
        </p:txBody>
      </p:sp>
      <p:sp>
        <p:nvSpPr>
          <p:cNvPr id="40" name="Text 33"/>
          <p:cNvSpPr txBox="1"/>
          <p:nvPr/>
        </p:nvSpPr>
        <p:spPr>
          <a:xfrm>
            <a:off x="9646920" y="464515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км/ч максимальная скорость</a:t>
            </a:r>
            <a:endParaRPr lang="en-US" sz="1050" dirty="0"/>
          </a:p>
        </p:txBody>
      </p:sp>
      <p:sp>
        <p:nvSpPr>
          <p:cNvPr id="41" name="Text 34"/>
          <p:cNvSpPr txBox="1"/>
          <p:nvPr/>
        </p:nvSpPr>
        <p:spPr>
          <a:xfrm>
            <a:off x="9646920" y="507492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15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Около 800 машин успели попасть на фронт</a:t>
            </a:r>
            <a:endParaRPr lang="en-US" sz="1150" dirty="0"/>
          </a:p>
        </p:txBody>
      </p:sp>
      <p:sp>
        <p:nvSpPr>
          <p:cNvPr id="42" name="Text 35"/>
          <p:cNvSpPr txBox="1"/>
          <p:nvPr/>
        </p:nvSpPr>
        <p:spPr>
          <a:xfrm>
            <a:off x="502920" y="589788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четыре года скорость выросла примерно вдвое, мощность моторов — в 2,5–3 раза, а вместо карабина появились два синхронных пулемёта.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7D7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4 · 1915–1918</a:t>
            </a:r>
            <a:endParaRPr lang="en-US" sz="1200" dirty="0"/>
          </a:p>
        </p:txBody>
      </p:sp>
      <p:sp>
        <p:nvSpPr>
          <p:cNvPr id="3" name="!!title"/>
          <p:cNvSpPr txBox="1"/>
          <p:nvPr/>
        </p:nvSpPr>
        <p:spPr>
          <a:xfrm>
            <a:off x="548640" y="658368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50" kern="0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Война приходит в города</a:t>
            </a:r>
            <a:endParaRPr lang="en-US" sz="3800" dirty="0"/>
          </a:p>
        </p:txBody>
      </p:sp>
      <p:sp>
        <p:nvSpPr>
          <p:cNvPr id="4" name="!!track"/>
          <p:cNvSpPr/>
          <p:nvPr/>
        </p:nvSpPr>
        <p:spPr>
          <a:xfrm>
            <a:off x="548640" y="6519672"/>
            <a:ext cx="2194560" cy="32004"/>
          </a:xfrm>
          <a:prstGeom prst="rect">
            <a:avLst/>
          </a:prstGeom>
          <a:solidFill>
            <a:srgbClr val="2A2F38"/>
          </a:solidFill>
          <a:ln w="12700">
            <a:solidFill>
              <a:srgbClr val="2A2F38"/>
            </a:solidFill>
            <a:prstDash val="solid"/>
          </a:ln>
        </p:spPr>
      </p:sp>
      <p:sp>
        <p:nvSpPr>
          <p:cNvPr id="5" name="!!prog"/>
          <p:cNvSpPr/>
          <p:nvPr/>
        </p:nvSpPr>
        <p:spPr>
          <a:xfrm>
            <a:off x="548640" y="6519672"/>
            <a:ext cx="1097280" cy="32004"/>
          </a:xfrm>
          <a:prstGeom prst="rect">
            <a:avLst/>
          </a:prstGeom>
          <a:solidFill>
            <a:srgbClr val="7D7AFF"/>
          </a:solidFill>
          <a:ln w="12700">
            <a:solidFill>
              <a:srgbClr val="7D7AFF"/>
            </a:solidFill>
            <a:prstDash val="solid"/>
          </a:ln>
        </p:spPr>
      </p:sp>
      <p:sp>
        <p:nvSpPr>
          <p:cNvPr id="6" name="!!pg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14</a:t>
            </a:r>
            <a:endParaRPr lang="en-US" sz="1000" dirty="0"/>
          </a:p>
        </p:txBody>
      </p:sp>
      <p:pic>
        <p:nvPicPr>
          <p:cNvPr id="7" name="Image 0" descr="/root/deck2/assets/art_rai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55280" y="0"/>
            <a:ext cx="4236415" cy="6858000"/>
          </a:xfrm>
          <a:prstGeom prst="rect">
            <a:avLst/>
          </a:prstGeom>
        </p:spPr>
      </p:pic>
      <p:pic>
        <p:nvPicPr>
          <p:cNvPr id="8" name="Image 1" descr="/root/deck2/assets/grad_le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0"/>
            <a:ext cx="2194560" cy="6858000"/>
          </a:xfrm>
          <a:prstGeom prst="rect">
            <a:avLst/>
          </a:prstGeom>
        </p:spPr>
      </p:pic>
      <p:pic>
        <p:nvPicPr>
          <p:cNvPr id="9" name="Image 2" descr="/root/deck2/assets/glow_violet.png">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3108960" y="-822960"/>
            <a:ext cx="6583680" cy="6583680"/>
          </a:xfrm>
          <a:prstGeom prst="rect">
            <a:avLst/>
          </a:prstGeom>
        </p:spPr>
      </p:pic>
      <p:pic>
        <p:nvPicPr>
          <p:cNvPr id="10" name="!!voisin" descr="/root/deck2/assets/vois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540000">
            <a:off x="3520440" y="1097280"/>
            <a:ext cx="5852160" cy="2206138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548640" y="36118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557</a:t>
            </a:r>
            <a:endParaRPr lang="en-US" sz="5400" dirty="0"/>
          </a:p>
        </p:txBody>
      </p:sp>
      <p:sp>
        <p:nvSpPr>
          <p:cNvPr id="12" name="Text 6"/>
          <p:cNvSpPr txBox="1"/>
          <p:nvPr/>
        </p:nvSpPr>
        <p:spPr>
          <a:xfrm>
            <a:off x="2240280" y="377647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погибших от налётов цеппелинов на Британию</a:t>
            </a:r>
            <a:endParaRPr lang="en-US" sz="1200" dirty="0"/>
          </a:p>
        </p:txBody>
      </p:sp>
      <p:sp>
        <p:nvSpPr>
          <p:cNvPr id="13" name="Text 7"/>
          <p:cNvSpPr txBox="1"/>
          <p:nvPr/>
        </p:nvSpPr>
        <p:spPr>
          <a:xfrm>
            <a:off x="548640" y="49377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</a:t>
            </a:r>
            <a:endParaRPr lang="en-US" sz="5400" dirty="0"/>
          </a:p>
        </p:txBody>
      </p:sp>
      <p:sp>
        <p:nvSpPr>
          <p:cNvPr id="14" name="Text 8"/>
          <p:cNvSpPr txBox="1"/>
          <p:nvPr/>
        </p:nvSpPr>
        <p:spPr>
          <a:xfrm>
            <a:off x="2240280" y="510235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жертвы налёта бомбардировщиков «Гота» на Лондон 13 июня 1917 г. — самого кровавого за войну</a:t>
            </a:r>
            <a:endParaRPr lang="en-US" sz="1200" dirty="0"/>
          </a:p>
        </p:txBody>
      </p:sp>
      <p:sp>
        <p:nvSpPr>
          <p:cNvPr id="15" name="Text 9"/>
          <p:cNvSpPr txBox="1"/>
          <p:nvPr/>
        </p:nvSpPr>
        <p:spPr>
          <a:xfrm>
            <a:off x="548640" y="150876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января 1915 г. Англию бомбят германские дирижабли, с 1917-го — тяжёлые бомбардировщики «Гота». В ответ рождается ПВО: прожекторы, зенитки, ночные истребители.</a:t>
            </a:r>
            <a:endParaRPr lang="en-US" sz="1300" dirty="0"/>
          </a:p>
        </p:txBody>
      </p:sp>
      <p:pic>
        <p:nvPicPr>
          <p:cNvPr id="16" name="Image 4" descr="/root/deck2/assets/altimet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4023360"/>
            <a:ext cx="1371600" cy="1391702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6126480" y="416052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Альтиметр с цеппелина L 49. </a:t>
            </a:r>
            <a:pPr indent="0" marL="0">
              <a:buNone/>
            </a:pPr>
            <a:r>
              <a:rPr lang="en-US" sz="105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Шкала — до 8 км. Дирижабль посадили французские лётчики в октябре 1917 г.</a:t>
            </a:r>
            <a:endParaRPr lang="en-US" sz="1050" dirty="0"/>
          </a:p>
        </p:txBody>
      </p:sp>
      <p:sp>
        <p:nvSpPr>
          <p:cNvPr id="18" name="Text 11"/>
          <p:cNvSpPr txBox="1"/>
          <p:nvPr/>
        </p:nvSpPr>
        <p:spPr>
          <a:xfrm>
            <a:off x="5577840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C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«Вуазен» 8 — ночной бомбардировщик, 1916</a:t>
            </a:r>
            <a:endParaRPr lang="en-US" sz="950" dirty="0"/>
          </a:p>
        </p:txBody>
      </p:sp>
      <p:pic>
        <p:nvPicPr>
          <p:cNvPr id="19" name="!!pfalz" descr="/root/deck2/assets/pfalz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960000">
            <a:off x="13350240" y="-3108960"/>
            <a:ext cx="4754880" cy="2422827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8412480" y="6126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Дж. Хардинг. «Воздушный налёт, Фер-ан-Тарденуа», около 1918 г.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64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5 · РОССИЯ</a:t>
            </a:r>
            <a:endParaRPr lang="en-US" sz="1200" dirty="0"/>
          </a:p>
        </p:txBody>
      </p:sp>
      <p:sp>
        <p:nvSpPr>
          <p:cNvPr id="3" name="!!title"/>
          <p:cNvSpPr txBox="1"/>
          <p:nvPr/>
        </p:nvSpPr>
        <p:spPr>
          <a:xfrm>
            <a:off x="548640" y="65836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50" kern="0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Россия: крылья империи</a:t>
            </a:r>
            <a:endParaRPr lang="en-US" sz="3800" dirty="0"/>
          </a:p>
        </p:txBody>
      </p:sp>
      <p:sp>
        <p:nvSpPr>
          <p:cNvPr id="4" name="!!track"/>
          <p:cNvSpPr/>
          <p:nvPr/>
        </p:nvSpPr>
        <p:spPr>
          <a:xfrm>
            <a:off x="548640" y="6519672"/>
            <a:ext cx="2194560" cy="32004"/>
          </a:xfrm>
          <a:prstGeom prst="rect">
            <a:avLst/>
          </a:prstGeom>
          <a:solidFill>
            <a:srgbClr val="2A2F38"/>
          </a:solidFill>
          <a:ln w="12700">
            <a:solidFill>
              <a:srgbClr val="2A2F38"/>
            </a:solidFill>
            <a:prstDash val="solid"/>
          </a:ln>
        </p:spPr>
      </p:sp>
      <p:sp>
        <p:nvSpPr>
          <p:cNvPr id="5" name="!!prog"/>
          <p:cNvSpPr/>
          <p:nvPr/>
        </p:nvSpPr>
        <p:spPr>
          <a:xfrm>
            <a:off x="548640" y="6519672"/>
            <a:ext cx="1254034" cy="32004"/>
          </a:xfrm>
          <a:prstGeom prst="rect">
            <a:avLst/>
          </a:prstGeom>
          <a:solidFill>
            <a:srgbClr val="64D2FF"/>
          </a:solidFill>
          <a:ln w="12700">
            <a:solidFill>
              <a:srgbClr val="64D2FF"/>
            </a:solidFill>
            <a:prstDash val="solid"/>
          </a:ln>
        </p:spPr>
      </p:sp>
      <p:sp>
        <p:nvSpPr>
          <p:cNvPr id="6" name="!!pg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14</a:t>
            </a:r>
            <a:endParaRPr lang="en-US" sz="1000" dirty="0"/>
          </a:p>
        </p:txBody>
      </p:sp>
      <p:pic>
        <p:nvPicPr>
          <p:cNvPr id="7" name="Image 0" descr="/root/deck2/assets/muromets_b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37360"/>
            <a:ext cx="6126480" cy="428853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«ИЛЬЯ МУРОМЕЦ» · И. И. СИКОРСКИЙ · 1913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94360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в мире серийный четырёхмоторный бомбардировщик. </a:t>
            </a:r>
            <a:pPr indent="0" marL="0">
              <a:buNone/>
            </a:pPr>
            <a:r>
              <a:rPr lang="en-US" sz="1100" dirty="0">
                <a:solidFill>
                  <a:srgbClr val="C9D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Эскадра воздушных кораблей совершила около 400 боевых вылетов и сбросила 65 т бомб, а в воздушном бою потеряла лишь один корабль.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589520" y="1435608"/>
            <a:ext cx="4023360" cy="0"/>
          </a:xfrm>
          <a:prstGeom prst="line">
            <a:avLst/>
          </a:prstGeom>
          <a:noFill/>
          <a:ln w="9525">
            <a:solidFill>
              <a:srgbClr val="3E6E9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589520" y="1508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Пётр Нестеров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589520" y="18013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«мёртвая петля» (1913) и первый воздушный таран (1914)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589520" y="2258568"/>
            <a:ext cx="4023360" cy="0"/>
          </a:xfrm>
          <a:prstGeom prst="line">
            <a:avLst/>
          </a:prstGeom>
          <a:noFill/>
          <a:ln w="9525">
            <a:solidFill>
              <a:srgbClr val="3E6E9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589520" y="2331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Игорь Сикорский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589520" y="26243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«Русский витязь» (1913) — первый в мире четырёхмоторный самолёт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589520" y="3081528"/>
            <a:ext cx="4023360" cy="0"/>
          </a:xfrm>
          <a:prstGeom prst="line">
            <a:avLst/>
          </a:prstGeom>
          <a:noFill/>
          <a:ln w="9525">
            <a:solidFill>
              <a:srgbClr val="3E6E9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589520" y="3154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Александр Казаков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589520" y="344728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лучший ас России: 17 официальных побед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589520" y="3904488"/>
            <a:ext cx="4023360" cy="0"/>
          </a:xfrm>
          <a:prstGeom prst="line">
            <a:avLst/>
          </a:prstGeom>
          <a:noFill/>
          <a:ln w="9525">
            <a:solidFill>
              <a:srgbClr val="3E6E9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589520" y="3977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Дмитрий Григорович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589520" y="42702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летающие лодки М‑5 и М‑9 для Балтики и Чёрного моря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589520" y="4727448"/>
            <a:ext cx="4023360" cy="0"/>
          </a:xfrm>
          <a:prstGeom prst="line">
            <a:avLst/>
          </a:prstGeom>
          <a:noFill/>
          <a:ln w="9525">
            <a:solidFill>
              <a:srgbClr val="3E6E9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589520" y="4800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Глеб Котельников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7589520" y="50932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ранцевый парашют РК‑1 (1911)</a:t>
            </a:r>
            <a:endParaRPr lang="en-US" sz="1200" dirty="0"/>
          </a:p>
        </p:txBody>
      </p:sp>
      <p:pic>
        <p:nvPicPr>
          <p:cNvPr id="25" name="!!voisin" descr="/root/deck2/assets/vois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200000">
            <a:off x="-7772400" y="-3291840"/>
            <a:ext cx="5943600" cy="2240609"/>
          </a:xfrm>
          <a:prstGeom prst="rect">
            <a:avLst/>
          </a:prstGeom>
        </p:spPr>
      </p:pic>
      <p:pic>
        <p:nvPicPr>
          <p:cNvPr id="26" name="!!pfalz" descr="/root/deck2/assets/pfalz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960000">
            <a:off x="13350240" y="-3108960"/>
            <a:ext cx="4754880" cy="2422827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7589520" y="57150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9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Слабое место — моторы: </a:t>
            </a:r>
            <a:pPr indent="0" marL="0">
              <a:buNone/>
            </a:pPr>
            <a:r>
              <a:rPr lang="en-US" sz="1200" dirty="0">
                <a:solidFill>
                  <a:srgbClr val="C9D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большую часть двигателей закупали за границей.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FF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6 · 1915–1918</a:t>
            </a:r>
            <a:endParaRPr lang="en-US" sz="1200" dirty="0"/>
          </a:p>
        </p:txBody>
      </p:sp>
      <p:sp>
        <p:nvSpPr>
          <p:cNvPr id="3" name="!!title"/>
          <p:cNvSpPr txBox="1"/>
          <p:nvPr/>
        </p:nvSpPr>
        <p:spPr>
          <a:xfrm>
            <a:off x="548640" y="65836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50" kern="0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Асы: рыцари неба или охотники?</a:t>
            </a:r>
            <a:endParaRPr lang="en-US" sz="3800" dirty="0"/>
          </a:p>
        </p:txBody>
      </p:sp>
      <p:sp>
        <p:nvSpPr>
          <p:cNvPr id="4" name="!!track"/>
          <p:cNvSpPr/>
          <p:nvPr/>
        </p:nvSpPr>
        <p:spPr>
          <a:xfrm>
            <a:off x="548640" y="6519672"/>
            <a:ext cx="2194560" cy="32004"/>
          </a:xfrm>
          <a:prstGeom prst="rect">
            <a:avLst/>
          </a:prstGeom>
          <a:solidFill>
            <a:srgbClr val="2A2F38"/>
          </a:solidFill>
          <a:ln w="12700">
            <a:solidFill>
              <a:srgbClr val="2A2F38"/>
            </a:solidFill>
            <a:prstDash val="solid"/>
          </a:ln>
        </p:spPr>
      </p:sp>
      <p:sp>
        <p:nvSpPr>
          <p:cNvPr id="5" name="!!prog"/>
          <p:cNvSpPr/>
          <p:nvPr/>
        </p:nvSpPr>
        <p:spPr>
          <a:xfrm>
            <a:off x="548640" y="6519672"/>
            <a:ext cx="1410789" cy="32004"/>
          </a:xfrm>
          <a:prstGeom prst="rect">
            <a:avLst/>
          </a:prstGeom>
          <a:solidFill>
            <a:srgbClr val="FF453A"/>
          </a:solidFill>
          <a:ln w="12700">
            <a:solidFill>
              <a:srgbClr val="FF453A"/>
            </a:solidFill>
            <a:prstDash val="solid"/>
          </a:ln>
        </p:spPr>
      </p:sp>
      <p:sp>
        <p:nvSpPr>
          <p:cNvPr id="6" name="!!pg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14</a:t>
            </a:r>
            <a:endParaRPr lang="en-US" sz="1000" dirty="0"/>
          </a:p>
        </p:txBody>
      </p:sp>
      <p:pic>
        <p:nvPicPr>
          <p:cNvPr id="7" name="Image 0" descr="/root/deck2/assets/glow_r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6583680" y="-1097280"/>
            <a:ext cx="6400800" cy="6400800"/>
          </a:xfrm>
          <a:prstGeom prst="rect">
            <a:avLst/>
          </a:prstGeom>
        </p:spPr>
      </p:pic>
      <p:pic>
        <p:nvPicPr>
          <p:cNvPr id="8" name="!!pfalz" descr="/root/deck2/assets/pfalz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360000">
            <a:off x="6720840" y="1234440"/>
            <a:ext cx="5120640" cy="260919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15727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Манфред фон Рихтгофен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2788920" y="1627632"/>
            <a:ext cx="2926080" cy="182880"/>
          </a:xfrm>
          <a:prstGeom prst="roundRect">
            <a:avLst>
              <a:gd name="adj" fmla="val 25000"/>
            </a:avLst>
          </a:prstGeom>
          <a:solidFill>
            <a:srgbClr val="E4543F"/>
          </a:solidFill>
          <a:ln w="12700">
            <a:solidFill>
              <a:srgbClr val="E4543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788152" y="157276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197510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Рене Фонк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2788920" y="2029968"/>
            <a:ext cx="2743200" cy="182880"/>
          </a:xfrm>
          <a:prstGeom prst="roundRect">
            <a:avLst>
              <a:gd name="adj" fmla="val 25000"/>
            </a:avLst>
          </a:prstGeom>
          <a:solidFill>
            <a:srgbClr val="4E93D8"/>
          </a:solidFill>
          <a:ln w="12700">
            <a:solidFill>
              <a:srgbClr val="4E93D8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605272" y="197510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23774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Билли Бишоп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2788920" y="2432304"/>
            <a:ext cx="2633472" cy="182880"/>
          </a:xfrm>
          <a:prstGeom prst="roundRect">
            <a:avLst>
              <a:gd name="adj" fmla="val 25000"/>
            </a:avLst>
          </a:prstGeom>
          <a:solidFill>
            <a:srgbClr val="4E93D8"/>
          </a:solidFill>
          <a:ln w="12700">
            <a:solidFill>
              <a:srgbClr val="4E93D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495544" y="237744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277977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Эдвард Мэннок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2788920" y="2834640"/>
            <a:ext cx="2231136" cy="182880"/>
          </a:xfrm>
          <a:prstGeom prst="roundRect">
            <a:avLst>
              <a:gd name="adj" fmla="val 25000"/>
            </a:avLst>
          </a:prstGeom>
          <a:solidFill>
            <a:srgbClr val="4E93D8"/>
          </a:solidFill>
          <a:ln w="12700">
            <a:solidFill>
              <a:srgbClr val="4E93D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093208" y="277977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31821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Жорж Гинемер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2788920" y="3236976"/>
            <a:ext cx="1938528" cy="182880"/>
          </a:xfrm>
          <a:prstGeom prst="roundRect">
            <a:avLst>
              <a:gd name="adj" fmla="val 25000"/>
            </a:avLst>
          </a:prstGeom>
          <a:solidFill>
            <a:srgbClr val="4E93D8"/>
          </a:solidFill>
          <a:ln w="12700">
            <a:solidFill>
              <a:srgbClr val="4E93D8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800600" y="318211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548640" y="35844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Освальд Бёльке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2788920" y="3639312"/>
            <a:ext cx="1463040" cy="182880"/>
          </a:xfrm>
          <a:prstGeom prst="roundRect">
            <a:avLst>
              <a:gd name="adj" fmla="val 25000"/>
            </a:avLst>
          </a:prstGeom>
          <a:solidFill>
            <a:srgbClr val="E4543F"/>
          </a:solidFill>
          <a:ln w="12700">
            <a:solidFill>
              <a:srgbClr val="E4543F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4325112" y="35844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548640" y="398678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Франческо Баракка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2788920" y="4041648"/>
            <a:ext cx="1243584" cy="182880"/>
          </a:xfrm>
          <a:prstGeom prst="roundRect">
            <a:avLst>
              <a:gd name="adj" fmla="val 25000"/>
            </a:avLst>
          </a:prstGeom>
          <a:solidFill>
            <a:srgbClr val="4E93D8"/>
          </a:solidFill>
          <a:ln w="12700">
            <a:solidFill>
              <a:srgbClr val="4E93D8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4105656" y="398678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300" dirty="0"/>
          </a:p>
        </p:txBody>
      </p:sp>
      <p:sp>
        <p:nvSpPr>
          <p:cNvPr id="30" name="Text 26"/>
          <p:cNvSpPr txBox="1"/>
          <p:nvPr/>
        </p:nvSpPr>
        <p:spPr>
          <a:xfrm>
            <a:off x="548640" y="43891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Эдди Рикенбакер</a:t>
            </a:r>
            <a:endParaRPr lang="en-US" sz="1250" dirty="0"/>
          </a:p>
        </p:txBody>
      </p:sp>
      <p:sp>
        <p:nvSpPr>
          <p:cNvPr id="31" name="Shape 27"/>
          <p:cNvSpPr/>
          <p:nvPr/>
        </p:nvSpPr>
        <p:spPr>
          <a:xfrm>
            <a:off x="2788920" y="4443984"/>
            <a:ext cx="950976" cy="182880"/>
          </a:xfrm>
          <a:prstGeom prst="roundRect">
            <a:avLst>
              <a:gd name="adj" fmla="val 25000"/>
            </a:avLst>
          </a:prstGeom>
          <a:solidFill>
            <a:srgbClr val="4E93D8"/>
          </a:solidFill>
          <a:ln w="12700">
            <a:solidFill>
              <a:srgbClr val="4E93D8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3813048" y="43891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300" dirty="0"/>
          </a:p>
        </p:txBody>
      </p:sp>
      <p:sp>
        <p:nvSpPr>
          <p:cNvPr id="33" name="Text 29"/>
          <p:cNvSpPr txBox="1"/>
          <p:nvPr/>
        </p:nvSpPr>
        <p:spPr>
          <a:xfrm>
            <a:off x="548640" y="479145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Александр Казаков</a:t>
            </a:r>
            <a:endParaRPr lang="en-US" sz="1250" dirty="0"/>
          </a:p>
        </p:txBody>
      </p:sp>
      <p:sp>
        <p:nvSpPr>
          <p:cNvPr id="34" name="Shape 30"/>
          <p:cNvSpPr/>
          <p:nvPr/>
        </p:nvSpPr>
        <p:spPr>
          <a:xfrm>
            <a:off x="2788920" y="4846320"/>
            <a:ext cx="621792" cy="182880"/>
          </a:xfrm>
          <a:prstGeom prst="roundRect">
            <a:avLst>
              <a:gd name="adj" fmla="val 25000"/>
            </a:avLst>
          </a:prstGeom>
          <a:solidFill>
            <a:srgbClr val="E3B64E"/>
          </a:solidFill>
          <a:ln w="12700">
            <a:solidFill>
              <a:srgbClr val="E3B64E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3483864" y="479145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300" dirty="0"/>
          </a:p>
        </p:txBody>
      </p:sp>
      <p:sp>
        <p:nvSpPr>
          <p:cNvPr id="36" name="Text 32"/>
          <p:cNvSpPr txBox="1"/>
          <p:nvPr/>
        </p:nvSpPr>
        <p:spPr>
          <a:xfrm>
            <a:off x="548640" y="51937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 Иммельман</a:t>
            </a:r>
            <a:endParaRPr lang="en-US" sz="1250" dirty="0"/>
          </a:p>
        </p:txBody>
      </p:sp>
      <p:sp>
        <p:nvSpPr>
          <p:cNvPr id="37" name="Shape 33"/>
          <p:cNvSpPr/>
          <p:nvPr/>
        </p:nvSpPr>
        <p:spPr>
          <a:xfrm>
            <a:off x="2788920" y="5248656"/>
            <a:ext cx="548640" cy="182880"/>
          </a:xfrm>
          <a:prstGeom prst="roundRect">
            <a:avLst>
              <a:gd name="adj" fmla="val 25000"/>
            </a:avLst>
          </a:prstGeom>
          <a:solidFill>
            <a:srgbClr val="E4543F"/>
          </a:solidFill>
          <a:ln w="12700">
            <a:solidFill>
              <a:srgbClr val="E4543F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3410712" y="51937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39" name="Shape 35"/>
          <p:cNvSpPr/>
          <p:nvPr/>
        </p:nvSpPr>
        <p:spPr>
          <a:xfrm>
            <a:off x="548640" y="5715000"/>
            <a:ext cx="118872" cy="118872"/>
          </a:xfrm>
          <a:prstGeom prst="ellipse">
            <a:avLst/>
          </a:prstGeom>
          <a:solidFill>
            <a:srgbClr val="E4543F"/>
          </a:solidFill>
          <a:ln w="12700">
            <a:solidFill>
              <a:srgbClr val="E4543F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731520" y="56509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Германия</a:t>
            </a:r>
            <a:endParaRPr lang="en-US" sz="1050" dirty="0"/>
          </a:p>
        </p:txBody>
      </p:sp>
      <p:sp>
        <p:nvSpPr>
          <p:cNvPr id="41" name="Shape 37"/>
          <p:cNvSpPr/>
          <p:nvPr/>
        </p:nvSpPr>
        <p:spPr>
          <a:xfrm>
            <a:off x="1874520" y="5715000"/>
            <a:ext cx="118872" cy="118872"/>
          </a:xfrm>
          <a:prstGeom prst="ellipse">
            <a:avLst/>
          </a:prstGeom>
          <a:solidFill>
            <a:srgbClr val="4E93D8"/>
          </a:solidFill>
          <a:ln w="12700">
            <a:solidFill>
              <a:srgbClr val="4E93D8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2057400" y="56509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Антанта</a:t>
            </a:r>
            <a:endParaRPr lang="en-US" sz="1050" dirty="0"/>
          </a:p>
        </p:txBody>
      </p:sp>
      <p:sp>
        <p:nvSpPr>
          <p:cNvPr id="43" name="Shape 39"/>
          <p:cNvSpPr/>
          <p:nvPr/>
        </p:nvSpPr>
        <p:spPr>
          <a:xfrm>
            <a:off x="3200400" y="5715000"/>
            <a:ext cx="118872" cy="118872"/>
          </a:xfrm>
          <a:prstGeom prst="ellipse">
            <a:avLst/>
          </a:prstGeom>
          <a:solidFill>
            <a:srgbClr val="E3B64E"/>
          </a:solidFill>
          <a:ln w="12700">
            <a:solidFill>
              <a:srgbClr val="E3B64E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3383280" y="56509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Россия</a:t>
            </a:r>
            <a:endParaRPr lang="en-US" sz="1050" dirty="0"/>
          </a:p>
        </p:txBody>
      </p:sp>
      <p:sp>
        <p:nvSpPr>
          <p:cNvPr id="45" name="Text 41"/>
          <p:cNvSpPr txBox="1"/>
          <p:nvPr/>
        </p:nvSpPr>
        <p:spPr>
          <a:xfrm>
            <a:off x="54864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C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Официально засчитанные победы; в источниках числа могут отличаться.</a:t>
            </a:r>
            <a:endParaRPr lang="en-US" sz="950" dirty="0"/>
          </a:p>
        </p:txBody>
      </p:sp>
      <p:sp>
        <p:nvSpPr>
          <p:cNvPr id="46" name="Text 42"/>
          <p:cNvSpPr txBox="1"/>
          <p:nvPr/>
        </p:nvSpPr>
        <p:spPr>
          <a:xfrm>
            <a:off x="7498080" y="39776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7C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Pfalz D.XII в «киношной» раскраске: после войны он снимался в Голливуде, в фильме «Утренний патруль» (1930)</a:t>
            </a:r>
            <a:endParaRPr lang="en-US" sz="950" dirty="0"/>
          </a:p>
        </p:txBody>
      </p:sp>
      <p:pic>
        <p:nvPicPr>
          <p:cNvPr id="47" name="Image 2" descr="/root/deck2/assets/tren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4526280"/>
            <a:ext cx="1508760" cy="1200722"/>
          </a:xfrm>
          <a:prstGeom prst="rect">
            <a:avLst/>
          </a:prstGeom>
        </p:spPr>
      </p:pic>
      <p:sp>
        <p:nvSpPr>
          <p:cNvPr id="48" name="Text 43"/>
          <p:cNvSpPr txBox="1"/>
          <p:nvPr/>
        </p:nvSpPr>
        <p:spPr>
          <a:xfrm>
            <a:off x="8595360" y="4572000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Лётчики стали кумирами. </a:t>
            </a:r>
            <a:pPr indent="0" marL="0">
              <a:buNone/>
            </a:pPr>
            <a:r>
              <a:rPr lang="en-US" sz="110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Солдаты делали модели самолётов из металла — «окопное искусство». Этот самолётик сделан во Франции.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C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«Заповеди Бёльке» (1916) — первые правила боя: атакуй сверху, со стороны солнца, стреляй в упор.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mapw" descr="/root/deck2/assets/west19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9663721" y="-10486634"/>
            <a:ext cx="35119487" cy="19754712"/>
          </a:xfrm>
          <a:prstGeom prst="rect">
            <a:avLst/>
          </a:prstGeom>
        </p:spPr>
      </p:pic>
      <p:pic>
        <p:nvPicPr>
          <p:cNvPr id="3" name="Image 1" descr="/root/deck2/assets/grad_le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35040" cy="6858000"/>
          </a:xfrm>
          <a:prstGeom prst="rect">
            <a:avLst/>
          </a:prstGeom>
        </p:spPr>
      </p:pic>
      <p:pic>
        <p:nvPicPr>
          <p:cNvPr id="4" name="Image 2" descr="/root/deck2/assets/grad_bott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86400"/>
            <a:ext cx="12191695" cy="1371600"/>
          </a:xfrm>
          <a:prstGeom prst="rect">
            <a:avLst/>
          </a:prstGeom>
        </p:spPr>
      </p:pic>
      <p:sp>
        <p:nvSpPr>
          <p:cNvPr id="5" name="!!kicker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FF9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7 · 1916–1918</a:t>
            </a:r>
            <a:endParaRPr lang="en-US" sz="1200" dirty="0"/>
          </a:p>
        </p:txBody>
      </p:sp>
      <p:sp>
        <p:nvSpPr>
          <p:cNvPr id="6" name="!!title"/>
          <p:cNvSpPr txBox="1"/>
          <p:nvPr/>
        </p:nvSpPr>
        <p:spPr>
          <a:xfrm>
            <a:off x="548640" y="65836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50" kern="0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Битвы за небо</a:t>
            </a:r>
            <a:endParaRPr lang="en-US" sz="3800" dirty="0"/>
          </a:p>
        </p:txBody>
      </p:sp>
      <p:sp>
        <p:nvSpPr>
          <p:cNvPr id="7" name="!!track"/>
          <p:cNvSpPr/>
          <p:nvPr/>
        </p:nvSpPr>
        <p:spPr>
          <a:xfrm>
            <a:off x="548640" y="6519672"/>
            <a:ext cx="2194560" cy="32004"/>
          </a:xfrm>
          <a:prstGeom prst="rect">
            <a:avLst/>
          </a:prstGeom>
          <a:solidFill>
            <a:srgbClr val="2A2F38"/>
          </a:solidFill>
          <a:ln w="12700">
            <a:solidFill>
              <a:srgbClr val="2A2F38"/>
            </a:solidFill>
            <a:prstDash val="solid"/>
          </a:ln>
        </p:spPr>
      </p:sp>
      <p:sp>
        <p:nvSpPr>
          <p:cNvPr id="8" name="!!prog"/>
          <p:cNvSpPr/>
          <p:nvPr/>
        </p:nvSpPr>
        <p:spPr>
          <a:xfrm>
            <a:off x="548640" y="6519672"/>
            <a:ext cx="1567543" cy="32004"/>
          </a:xfrm>
          <a:prstGeom prst="rect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</p:sp>
      <p:sp>
        <p:nvSpPr>
          <p:cNvPr id="9" name="!!pg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000" dirty="0"/>
          </a:p>
        </p:txBody>
      </p:sp>
      <p:sp>
        <p:nvSpPr>
          <p:cNvPr id="10" name="Shape 5"/>
          <p:cNvSpPr/>
          <p:nvPr/>
        </p:nvSpPr>
        <p:spPr>
          <a:xfrm>
            <a:off x="5967374" y="2584818"/>
            <a:ext cx="409651" cy="409651"/>
          </a:xfrm>
          <a:prstGeom prst="ellipse">
            <a:avLst/>
          </a:prstGeom>
          <a:solidFill>
            <a:srgbClr val="FF9F0A">
              <a:alpha val="22000"/>
            </a:srgbClr>
          </a:solidFill>
          <a:ln w="12700">
            <a:solidFill>
              <a:srgbClr val="FF9F0A">
                <a:alpha val="70000"/>
              </a:srgbClr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6099048" y="2716492"/>
            <a:ext cx="146304" cy="146304"/>
          </a:xfrm>
          <a:prstGeom prst="ellipse">
            <a:avLst/>
          </a:prstGeom>
          <a:solidFill>
            <a:srgbClr val="FF9F0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6446520" y="2195284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Аррас  </a:t>
            </a:r>
            <a:pPr algn="l" indent="0" marL="0">
              <a:buNone/>
            </a:pPr>
            <a:r>
              <a:rPr lang="en-US" sz="1500" b="1" dirty="0">
                <a:solidFill>
                  <a:srgbClr val="FF9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245 : 66</a:t>
            </a:r>
            <a:endParaRPr lang="en-US" sz="14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«Кровавый апрель» 1917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799886" y="3117595"/>
            <a:ext cx="409651" cy="409651"/>
          </a:xfrm>
          <a:prstGeom prst="ellipse">
            <a:avLst/>
          </a:prstGeom>
          <a:solidFill>
            <a:srgbClr val="FF9F0A">
              <a:alpha val="22000"/>
            </a:srgbClr>
          </a:solidFill>
          <a:ln w="12700">
            <a:solidFill>
              <a:srgbClr val="FF9F0A">
                <a:alpha val="7000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5931560" y="3249269"/>
            <a:ext cx="146304" cy="146304"/>
          </a:xfrm>
          <a:prstGeom prst="ellipse">
            <a:avLst/>
          </a:prstGeom>
          <a:solidFill>
            <a:srgbClr val="FF9F0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9032" y="3093821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Сомма  </a:t>
            </a:r>
            <a:pPr algn="l" indent="0" marL="0">
              <a:buNone/>
            </a:pPr>
            <a:r>
              <a:rPr lang="en-US" sz="1500" b="1" dirty="0">
                <a:solidFill>
                  <a:srgbClr val="FF9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 день</a:t>
            </a:r>
            <a:endParaRPr lang="en-US" sz="14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июль — ноябрь 1916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9074994" y="4693238"/>
            <a:ext cx="409651" cy="409651"/>
          </a:xfrm>
          <a:prstGeom prst="ellipse">
            <a:avLst/>
          </a:prstGeom>
          <a:solidFill>
            <a:srgbClr val="FF9F0A">
              <a:alpha val="22000"/>
            </a:srgbClr>
          </a:solidFill>
          <a:ln w="12700">
            <a:solidFill>
              <a:srgbClr val="FF9F0A">
                <a:alpha val="7000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206667" y="4824912"/>
            <a:ext cx="146304" cy="146304"/>
          </a:xfrm>
          <a:prstGeom prst="ellipse">
            <a:avLst/>
          </a:prstGeom>
          <a:solidFill>
            <a:srgbClr val="FF9F0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948099" y="400195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Верден  </a:t>
            </a:r>
            <a:pPr algn="r" indent="0" marL="0">
              <a:buNone/>
            </a:pPr>
            <a:r>
              <a:rPr lang="en-US" sz="1500" b="1" dirty="0">
                <a:solidFill>
                  <a:srgbClr val="FF9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303 дня</a:t>
            </a:r>
            <a:endParaRPr lang="en-US" sz="140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февраль — декабрь 1916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9276117" y="5190134"/>
            <a:ext cx="409651" cy="409651"/>
          </a:xfrm>
          <a:prstGeom prst="ellipse">
            <a:avLst/>
          </a:prstGeom>
          <a:solidFill>
            <a:srgbClr val="FF9F0A">
              <a:alpha val="22000"/>
            </a:srgbClr>
          </a:solidFill>
          <a:ln w="12700">
            <a:solidFill>
              <a:srgbClr val="FF9F0A">
                <a:alpha val="7000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407791" y="5321808"/>
            <a:ext cx="146304" cy="146304"/>
          </a:xfrm>
          <a:prstGeom prst="ellipse">
            <a:avLst/>
          </a:prstGeom>
          <a:solidFill>
            <a:srgbClr val="FF9F0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9755263" y="5230368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Сен-Мийель  </a:t>
            </a:r>
            <a:pPr algn="l" indent="0" marL="0">
              <a:buNone/>
            </a:pPr>
            <a:r>
              <a:rPr lang="en-US" sz="1500" b="1" dirty="0">
                <a:solidFill>
                  <a:srgbClr val="FF9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≈1 480</a:t>
            </a:r>
            <a:endParaRPr lang="en-US" sz="14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12–15 сентября 1918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5540563" y="5375388"/>
            <a:ext cx="91440" cy="91440"/>
          </a:xfrm>
          <a:prstGeom prst="ellipse">
            <a:avLst/>
          </a:prstGeom>
          <a:solidFill>
            <a:srgbClr val="F5F3EF"/>
          </a:solidFill>
          <a:ln w="12700">
            <a:solidFill>
              <a:srgbClr val="F5F3EF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5677723" y="53113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Париж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7990131" y="1731213"/>
            <a:ext cx="91440" cy="91440"/>
          </a:xfrm>
          <a:prstGeom prst="ellipse">
            <a:avLst/>
          </a:prstGeom>
          <a:solidFill>
            <a:srgbClr val="F5F3EF"/>
          </a:solidFill>
          <a:ln w="12700">
            <a:solidFill>
              <a:srgbClr val="F5F3EF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8127291" y="1667205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Брюссель</a:t>
            </a:r>
            <a:endParaRPr lang="en-US" sz="1050" dirty="0"/>
          </a:p>
        </p:txBody>
      </p:sp>
      <p:sp>
        <p:nvSpPr>
          <p:cNvPr id="26" name="Text 21"/>
          <p:cNvSpPr txBox="1"/>
          <p:nvPr/>
        </p:nvSpPr>
        <p:spPr>
          <a:xfrm>
            <a:off x="548640" y="15727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Верден, 1916</a:t>
            </a:r>
            <a:endParaRPr lang="en-US" sz="1400" dirty="0"/>
          </a:p>
        </p:txBody>
      </p:sp>
      <p:sp>
        <p:nvSpPr>
          <p:cNvPr id="27" name="Text 22"/>
          <p:cNvSpPr txBox="1"/>
          <p:nvPr/>
        </p:nvSpPr>
        <p:spPr>
          <a:xfrm>
            <a:off x="548640" y="186537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Французы впервые сводят истребители в отдельные группы, чтобы вернуть себе небо.</a:t>
            </a:r>
            <a:endParaRPr lang="en-US" sz="1150" dirty="0"/>
          </a:p>
        </p:txBody>
      </p:sp>
      <p:sp>
        <p:nvSpPr>
          <p:cNvPr id="28" name="Text 23"/>
          <p:cNvSpPr txBox="1"/>
          <p:nvPr/>
        </p:nvSpPr>
        <p:spPr>
          <a:xfrm>
            <a:off x="548640" y="25054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Сомма, 1916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548640" y="2798064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Британцы наступают и в воздухе; немцы в ответ создают истребительные эскадрильи.</a:t>
            </a:r>
            <a:endParaRPr lang="en-US" sz="1150" dirty="0"/>
          </a:p>
        </p:txBody>
      </p:sp>
      <p:sp>
        <p:nvSpPr>
          <p:cNvPr id="30" name="Text 25"/>
          <p:cNvSpPr txBox="1"/>
          <p:nvPr/>
        </p:nvSpPr>
        <p:spPr>
          <a:xfrm>
            <a:off x="548640" y="34381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Аррас, апрель 1917</a:t>
            </a:r>
            <a:endParaRPr lang="en-US" sz="1400" dirty="0"/>
          </a:p>
        </p:txBody>
      </p:sp>
      <p:sp>
        <p:nvSpPr>
          <p:cNvPr id="31" name="Text 26"/>
          <p:cNvSpPr txBox="1"/>
          <p:nvPr/>
        </p:nvSpPr>
        <p:spPr>
          <a:xfrm>
            <a:off x="548640" y="373075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«Кровавый апрель»: британцы теряют 245 самолётов, немцы — 66.</a:t>
            </a:r>
            <a:endParaRPr lang="en-US" sz="1150" dirty="0"/>
          </a:p>
        </p:txBody>
      </p:sp>
      <p:sp>
        <p:nvSpPr>
          <p:cNvPr id="32" name="Text 27"/>
          <p:cNvSpPr txBox="1"/>
          <p:nvPr/>
        </p:nvSpPr>
        <p:spPr>
          <a:xfrm>
            <a:off x="548640" y="43708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Сен-Мийель, 1918</a:t>
            </a:r>
            <a:endParaRPr lang="en-US" sz="1400" dirty="0"/>
          </a:p>
        </p:txBody>
      </p:sp>
      <p:sp>
        <p:nvSpPr>
          <p:cNvPr id="33" name="Text 28"/>
          <p:cNvSpPr txBox="1"/>
          <p:nvPr/>
        </p:nvSpPr>
        <p:spPr>
          <a:xfrm>
            <a:off x="548640" y="46634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Билли Митчелл собирает почти 1 500 самолётов — крупнейшая авиаоперация войны.</a:t>
            </a:r>
            <a:endParaRPr lang="en-US" sz="1150" dirty="0"/>
          </a:p>
        </p:txBody>
      </p:sp>
      <p:sp>
        <p:nvSpPr>
          <p:cNvPr id="34" name="Text 29"/>
          <p:cNvSpPr txBox="1"/>
          <p:nvPr/>
        </p:nvSpPr>
        <p:spPr>
          <a:xfrm>
            <a:off x="548640" y="54406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FF9F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«Роз, очистите мне небо! Я ослеп!»</a:t>
            </a:r>
            <a:endParaRPr lang="en-US" sz="1700" dirty="0"/>
          </a:p>
        </p:txBody>
      </p:sp>
      <p:sp>
        <p:nvSpPr>
          <p:cNvPr id="35" name="Text 30"/>
          <p:cNvSpPr txBox="1"/>
          <p:nvPr/>
        </p:nvSpPr>
        <p:spPr>
          <a:xfrm>
            <a:off x="548640" y="58704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C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Генерал Петен — командиру истребителей де Розу, Верден, 1916</a:t>
            </a:r>
            <a:endParaRPr lang="en-US" sz="950" dirty="0"/>
          </a:p>
        </p:txBody>
      </p:sp>
      <p:pic>
        <p:nvPicPr>
          <p:cNvPr id="36" name="!!pfalz" descr="/root/deck2/assets/pfalz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360000">
            <a:off x="13533120" y="2194560"/>
            <a:ext cx="5120640" cy="2609199"/>
          </a:xfrm>
          <a:prstGeom prst="rect">
            <a:avLst/>
          </a:prstGeom>
        </p:spPr>
      </p:pic>
      <p:pic>
        <p:nvPicPr>
          <p:cNvPr id="37" name="!!n9h" descr="/root/deck2/assets/n9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720000">
            <a:off x="-5029200" y="7680960"/>
            <a:ext cx="3566160" cy="1397935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8549640" y="6236208"/>
            <a:ext cx="411480" cy="0"/>
          </a:xfrm>
          <a:prstGeom prst="line">
            <a:avLst/>
          </a:prstGeom>
          <a:noFill/>
          <a:ln w="28575">
            <a:solidFill>
              <a:srgbClr val="FF6B5E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9052560" y="6126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линия Западного фронта 1915–1917 (упрощённо)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8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mapw" descr="/root/deck2/assets/west19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42571" y="-769246"/>
            <a:ext cx="18434304" cy="10369296"/>
          </a:xfrm>
          <a:prstGeom prst="rect">
            <a:avLst/>
          </a:prstGeom>
        </p:spPr>
      </p:pic>
      <p:pic>
        <p:nvPicPr>
          <p:cNvPr id="3" name="Image 1" descr="/root/deck2/assets/grad_le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583680" cy="6858000"/>
          </a:xfrm>
          <a:prstGeom prst="rect">
            <a:avLst/>
          </a:prstGeom>
        </p:spPr>
      </p:pic>
      <p:pic>
        <p:nvPicPr>
          <p:cNvPr id="4" name="Image 2" descr="/root/deck2/assets/grad_bott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86400"/>
            <a:ext cx="12191695" cy="1371600"/>
          </a:xfrm>
          <a:prstGeom prst="rect">
            <a:avLst/>
          </a:prstGeom>
        </p:spPr>
      </p:pic>
      <p:sp>
        <p:nvSpPr>
          <p:cNvPr id="5" name="!!kicker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64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8 · НА МОРЕ</a:t>
            </a:r>
            <a:endParaRPr lang="en-US" sz="1200" dirty="0"/>
          </a:p>
        </p:txBody>
      </p:sp>
      <p:sp>
        <p:nvSpPr>
          <p:cNvPr id="6" name="!!title"/>
          <p:cNvSpPr txBox="1"/>
          <p:nvPr/>
        </p:nvSpPr>
        <p:spPr>
          <a:xfrm>
            <a:off x="548640" y="658368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50" kern="0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Крылья над морем</a:t>
            </a:r>
            <a:endParaRPr lang="en-US" sz="3800" dirty="0"/>
          </a:p>
        </p:txBody>
      </p:sp>
      <p:sp>
        <p:nvSpPr>
          <p:cNvPr id="7" name="!!track"/>
          <p:cNvSpPr/>
          <p:nvPr/>
        </p:nvSpPr>
        <p:spPr>
          <a:xfrm>
            <a:off x="548640" y="6519672"/>
            <a:ext cx="2194560" cy="32004"/>
          </a:xfrm>
          <a:prstGeom prst="rect">
            <a:avLst/>
          </a:prstGeom>
          <a:solidFill>
            <a:srgbClr val="2A2F38"/>
          </a:solidFill>
          <a:ln w="12700">
            <a:solidFill>
              <a:srgbClr val="2A2F38"/>
            </a:solidFill>
            <a:prstDash val="solid"/>
          </a:ln>
        </p:spPr>
      </p:sp>
      <p:sp>
        <p:nvSpPr>
          <p:cNvPr id="8" name="!!prog"/>
          <p:cNvSpPr/>
          <p:nvPr/>
        </p:nvSpPr>
        <p:spPr>
          <a:xfrm>
            <a:off x="548640" y="6519672"/>
            <a:ext cx="1724297" cy="32004"/>
          </a:xfrm>
          <a:prstGeom prst="rect">
            <a:avLst/>
          </a:prstGeom>
          <a:solidFill>
            <a:srgbClr val="64D2FF"/>
          </a:solidFill>
          <a:ln w="12700">
            <a:solidFill>
              <a:srgbClr val="64D2FF"/>
            </a:solidFill>
            <a:prstDash val="solid"/>
          </a:ln>
        </p:spPr>
      </p:sp>
      <p:sp>
        <p:nvSpPr>
          <p:cNvPr id="9" name="!!pg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000" dirty="0"/>
          </a:p>
        </p:txBody>
      </p:sp>
      <p:sp>
        <p:nvSpPr>
          <p:cNvPr id="10" name="Shape 5"/>
          <p:cNvSpPr/>
          <p:nvPr/>
        </p:nvSpPr>
        <p:spPr>
          <a:xfrm>
            <a:off x="11094095" y="1436844"/>
            <a:ext cx="384048" cy="384048"/>
          </a:xfrm>
          <a:prstGeom prst="ellipse">
            <a:avLst/>
          </a:prstGeom>
          <a:solidFill>
            <a:srgbClr val="64D2FF">
              <a:alpha val="22000"/>
            </a:srgbClr>
          </a:solidFill>
          <a:ln w="12700">
            <a:solidFill>
              <a:srgbClr val="64D2FF">
                <a:alpha val="70000"/>
              </a:srgbClr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11217539" y="1560288"/>
            <a:ext cx="137160" cy="137160"/>
          </a:xfrm>
          <a:prstGeom prst="ellipse">
            <a:avLst/>
          </a:prstGeom>
          <a:solidFill>
            <a:srgbClr val="64D2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9365879" y="140026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Тондерн</a:t>
            </a:r>
            <a:endParaRPr lang="en-US" sz="140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19.07.1918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11054242" y="2471537"/>
            <a:ext cx="384048" cy="384048"/>
          </a:xfrm>
          <a:prstGeom prst="ellipse">
            <a:avLst/>
          </a:prstGeom>
          <a:solidFill>
            <a:srgbClr val="64D2FF">
              <a:alpha val="22000"/>
            </a:srgbClr>
          </a:solidFill>
          <a:ln w="12700">
            <a:solidFill>
              <a:srgbClr val="64D2FF">
                <a:alpha val="7000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11177686" y="2594981"/>
            <a:ext cx="137160" cy="137160"/>
          </a:xfrm>
          <a:prstGeom prst="ellipse">
            <a:avLst/>
          </a:prstGeom>
          <a:solidFill>
            <a:srgbClr val="64D2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9326026" y="2434961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Куксхафен</a:t>
            </a:r>
            <a:endParaRPr lang="en-US" sz="140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25.12.1914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843016" y="4745736"/>
            <a:ext cx="384048" cy="384048"/>
          </a:xfrm>
          <a:prstGeom prst="ellipse">
            <a:avLst/>
          </a:prstGeom>
          <a:solidFill>
            <a:srgbClr val="64D2FF">
              <a:alpha val="22000"/>
            </a:srgbClr>
          </a:solidFill>
          <a:ln w="12700">
            <a:solidFill>
              <a:srgbClr val="64D2FF">
                <a:alpha val="7000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966460" y="4869180"/>
            <a:ext cx="137160" cy="137160"/>
          </a:xfrm>
          <a:prstGeom prst="ellipse">
            <a:avLst/>
          </a:prstGeom>
          <a:solidFill>
            <a:srgbClr val="64D2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291072" y="47091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Лондон</a:t>
            </a:r>
            <a:endParaRPr lang="en-US" sz="14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цеппелинов и «Гот»</a:t>
            </a:r>
            <a:endParaRPr lang="en-US" sz="1400" dirty="0"/>
          </a:p>
        </p:txBody>
      </p:sp>
      <p:pic>
        <p:nvPicPr>
          <p:cNvPr id="19" name="!!n9h" descr="/root/deck2/assets/n9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240000">
            <a:off x="6629400" y="2331720"/>
            <a:ext cx="3566160" cy="1397935"/>
          </a:xfrm>
          <a:prstGeom prst="rect">
            <a:avLst/>
          </a:prstGeom>
        </p:spPr>
      </p:pic>
      <p:pic>
        <p:nvPicPr>
          <p:cNvPr id="20" name="!!suit" descr="/root/deck2/assets/sui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7680960"/>
            <a:ext cx="1998721" cy="4846320"/>
          </a:xfrm>
          <a:prstGeom prst="rect">
            <a:avLst/>
          </a:prstGeom>
        </p:spPr>
      </p:pic>
      <p:pic>
        <p:nvPicPr>
          <p:cNvPr id="21" name="!!helmet" descr="/root/deck2/assets/helm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0" y="7863840"/>
            <a:ext cx="1234440" cy="1499976"/>
          </a:xfrm>
          <a:prstGeom prst="rect">
            <a:avLst/>
          </a:prstGeom>
        </p:spPr>
      </p:pic>
      <p:pic>
        <p:nvPicPr>
          <p:cNvPr id="22" name="!!mask" descr="/root/deck2/assets/mas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04120" y="8229600"/>
            <a:ext cx="1463040" cy="1133557"/>
          </a:xfrm>
          <a:prstGeom prst="rect">
            <a:avLst/>
          </a:prstGeom>
        </p:spPr>
      </p:pic>
      <p:pic>
        <p:nvPicPr>
          <p:cNvPr id="23" name="!!goggles" descr="/root/deck2/assets/goggle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0" y="8595360"/>
            <a:ext cx="1600200" cy="697323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6675120" y="38404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Curtiss N-9H — учебный гидроплан ВМС США: на нём подготовили 2 500 морских лётчиков</a:t>
            </a:r>
            <a:endParaRPr lang="en-US" sz="950" dirty="0"/>
          </a:p>
        </p:txBody>
      </p:sp>
      <p:sp>
        <p:nvSpPr>
          <p:cNvPr id="25" name="Text 15"/>
          <p:cNvSpPr txBox="1"/>
          <p:nvPr/>
        </p:nvSpPr>
        <p:spPr>
          <a:xfrm>
            <a:off x="548640" y="15361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4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25.12.1914</a:t>
            </a:r>
            <a:endParaRPr lang="en-US" sz="1250" dirty="0"/>
          </a:p>
        </p:txBody>
      </p:sp>
      <p:sp>
        <p:nvSpPr>
          <p:cNvPr id="26" name="Text 16"/>
          <p:cNvSpPr txBox="1"/>
          <p:nvPr/>
        </p:nvSpPr>
        <p:spPr>
          <a:xfrm>
            <a:off x="1874520" y="1536192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Куксхафенский рейд: британские гидросамолёты с кораблей атакуют базу цеппелинов</a:t>
            </a:r>
            <a:endParaRPr lang="en-US" sz="1200" dirty="0"/>
          </a:p>
        </p:txBody>
      </p:sp>
      <p:sp>
        <p:nvSpPr>
          <p:cNvPr id="27" name="Text 17"/>
          <p:cNvSpPr txBox="1"/>
          <p:nvPr/>
        </p:nvSpPr>
        <p:spPr>
          <a:xfrm>
            <a:off x="548640" y="2468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4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12.08.1915</a:t>
            </a:r>
            <a:endParaRPr lang="en-US" sz="1250" dirty="0"/>
          </a:p>
        </p:txBody>
      </p:sp>
      <p:sp>
        <p:nvSpPr>
          <p:cNvPr id="28" name="Text 18"/>
          <p:cNvSpPr txBox="1"/>
          <p:nvPr/>
        </p:nvSpPr>
        <p:spPr>
          <a:xfrm>
            <a:off x="1874520" y="24688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Дарданеллы: гидросамолёт Short 184 впервые атакует судно торпедой</a:t>
            </a:r>
            <a:endParaRPr lang="en-US" sz="1200" dirty="0"/>
          </a:p>
        </p:txBody>
      </p:sp>
      <p:sp>
        <p:nvSpPr>
          <p:cNvPr id="29" name="Text 19"/>
          <p:cNvSpPr txBox="1"/>
          <p:nvPr/>
        </p:nvSpPr>
        <p:spPr>
          <a:xfrm>
            <a:off x="548640" y="34015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4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1916</a:t>
            </a:r>
            <a:endParaRPr lang="en-US" sz="1250" dirty="0"/>
          </a:p>
        </p:txBody>
      </p:sp>
      <p:sp>
        <p:nvSpPr>
          <p:cNvPr id="30" name="Text 20"/>
          <p:cNvSpPr txBox="1"/>
          <p:nvPr/>
        </p:nvSpPr>
        <p:spPr>
          <a:xfrm>
            <a:off x="1874520" y="3401568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Гидрокрейсера Черноморского флота наносят удары по побережью Турции</a:t>
            </a:r>
            <a:endParaRPr lang="en-US" sz="1200" dirty="0"/>
          </a:p>
        </p:txBody>
      </p:sp>
      <p:sp>
        <p:nvSpPr>
          <p:cNvPr id="31" name="Text 21"/>
          <p:cNvSpPr txBox="1"/>
          <p:nvPr/>
        </p:nvSpPr>
        <p:spPr>
          <a:xfrm>
            <a:off x="548640" y="43342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4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17.09.1916</a:t>
            </a:r>
            <a:endParaRPr lang="en-US" sz="1250" dirty="0"/>
          </a:p>
        </p:txBody>
      </p:sp>
      <p:sp>
        <p:nvSpPr>
          <p:cNvPr id="32" name="Text 22"/>
          <p:cNvSpPr txBox="1"/>
          <p:nvPr/>
        </p:nvSpPr>
        <p:spPr>
          <a:xfrm>
            <a:off x="1874520" y="4334256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Ян Нагурский делает «мёртвую петлю» на летающей лодке М‑9</a:t>
            </a:r>
            <a:endParaRPr lang="en-US" sz="1200" dirty="0"/>
          </a:p>
        </p:txBody>
      </p:sp>
      <p:sp>
        <p:nvSpPr>
          <p:cNvPr id="33" name="Text 23"/>
          <p:cNvSpPr txBox="1"/>
          <p:nvPr/>
        </p:nvSpPr>
        <p:spPr>
          <a:xfrm>
            <a:off x="548640" y="52669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4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19.07.1918</a:t>
            </a:r>
            <a:endParaRPr lang="en-US" sz="1250" dirty="0"/>
          </a:p>
        </p:txBody>
      </p:sp>
      <p:sp>
        <p:nvSpPr>
          <p:cNvPr id="34" name="Text 24"/>
          <p:cNvSpPr txBox="1"/>
          <p:nvPr/>
        </p:nvSpPr>
        <p:spPr>
          <a:xfrm>
            <a:off x="1874520" y="5266944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Семь Sopwith Camel взлетают с HMS Furious и сжигают цеппелины L 54 и L 60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FF9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9 · ЛЮДИ</a:t>
            </a:r>
            <a:endParaRPr lang="en-US" sz="1200" dirty="0"/>
          </a:p>
        </p:txBody>
      </p:sp>
      <p:sp>
        <p:nvSpPr>
          <p:cNvPr id="3" name="!!title"/>
          <p:cNvSpPr txBox="1"/>
          <p:nvPr/>
        </p:nvSpPr>
        <p:spPr>
          <a:xfrm>
            <a:off x="548640" y="65836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50" kern="0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Жизнь на высоте 5 000 метров</a:t>
            </a:r>
            <a:endParaRPr lang="en-US" sz="3800" dirty="0"/>
          </a:p>
        </p:txBody>
      </p:sp>
      <p:sp>
        <p:nvSpPr>
          <p:cNvPr id="4" name="!!track"/>
          <p:cNvSpPr/>
          <p:nvPr/>
        </p:nvSpPr>
        <p:spPr>
          <a:xfrm>
            <a:off x="548640" y="6519672"/>
            <a:ext cx="2194560" cy="32004"/>
          </a:xfrm>
          <a:prstGeom prst="rect">
            <a:avLst/>
          </a:prstGeom>
          <a:solidFill>
            <a:srgbClr val="2A2F38"/>
          </a:solidFill>
          <a:ln w="12700">
            <a:solidFill>
              <a:srgbClr val="2A2F38"/>
            </a:solidFill>
            <a:prstDash val="solid"/>
          </a:ln>
        </p:spPr>
      </p:sp>
      <p:sp>
        <p:nvSpPr>
          <p:cNvPr id="5" name="!!prog"/>
          <p:cNvSpPr/>
          <p:nvPr/>
        </p:nvSpPr>
        <p:spPr>
          <a:xfrm>
            <a:off x="548640" y="6519672"/>
            <a:ext cx="1881051" cy="32004"/>
          </a:xfrm>
          <a:prstGeom prst="rect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</p:sp>
      <p:sp>
        <p:nvSpPr>
          <p:cNvPr id="6" name="!!pg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000" dirty="0"/>
          </a:p>
        </p:txBody>
      </p:sp>
      <p:pic>
        <p:nvPicPr>
          <p:cNvPr id="7" name="Image 0" descr="/root/deck2/assets/glow_amber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6400800" y="-182880"/>
            <a:ext cx="6035040" cy="6035040"/>
          </a:xfrm>
          <a:prstGeom prst="rect">
            <a:avLst/>
          </a:prstGeom>
        </p:spPr>
      </p:pic>
      <p:pic>
        <p:nvPicPr>
          <p:cNvPr id="8" name="!!suit" descr="/root/deck2/assets/su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417320"/>
            <a:ext cx="1998721" cy="4846320"/>
          </a:xfrm>
          <a:prstGeom prst="rect">
            <a:avLst/>
          </a:prstGeom>
        </p:spPr>
      </p:pic>
      <p:pic>
        <p:nvPicPr>
          <p:cNvPr id="9" name="!!helmet" descr="/root/deck2/assets/helm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1325880"/>
            <a:ext cx="1234440" cy="1499976"/>
          </a:xfrm>
          <a:prstGeom prst="rect">
            <a:avLst/>
          </a:prstGeom>
        </p:spPr>
      </p:pic>
      <p:pic>
        <p:nvPicPr>
          <p:cNvPr id="10" name="!!mask" descr="/root/deck2/assets/mas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0" y="2926080"/>
            <a:ext cx="1463040" cy="1133557"/>
          </a:xfrm>
          <a:prstGeom prst="rect">
            <a:avLst/>
          </a:prstGeom>
        </p:spPr>
      </p:pic>
      <p:pic>
        <p:nvPicPr>
          <p:cNvPr id="11" name="!!goggles" descr="/root/deck2/assets/goggle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0" y="4434840"/>
            <a:ext cx="1600200" cy="697323"/>
          </a:xfrm>
          <a:prstGeom prst="rect">
            <a:avLst/>
          </a:prstGeom>
        </p:spPr>
      </p:pic>
      <p:pic>
        <p:nvPicPr>
          <p:cNvPr id="12" name="!!n9h" descr="/root/deck2/assets/n9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240000">
            <a:off x="13350240" y="548640"/>
            <a:ext cx="3566160" cy="1397935"/>
          </a:xfrm>
          <a:prstGeom prst="rect">
            <a:avLst/>
          </a:prstGeom>
        </p:spPr>
      </p:pic>
      <p:pic>
        <p:nvPicPr>
          <p:cNvPr id="13" name="!!engine" descr="/root/deck2/assets/libert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67360" y="1051560"/>
            <a:ext cx="4754880" cy="4123538"/>
          </a:xfrm>
          <a:prstGeom prst="rect">
            <a:avLst/>
          </a:prstGeom>
        </p:spPr>
      </p:pic>
      <p:pic>
        <p:nvPicPr>
          <p:cNvPr id="14" name="Image 7" descr="/root/deck2/assets/vaporiz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3246120"/>
            <a:ext cx="822960" cy="1870364"/>
          </a:xfrm>
          <a:prstGeom prst="rect">
            <a:avLst/>
          </a:prstGeom>
        </p:spPr>
      </p:pic>
      <p:sp>
        <p:nvSpPr>
          <p:cNvPr id="15" name="Text 5"/>
          <p:cNvSpPr txBox="1"/>
          <p:nvPr/>
        </p:nvSpPr>
        <p:spPr>
          <a:xfrm>
            <a:off x="4983480" y="16002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Кожаный комбинезон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Надевали поверх тёплой одежды: в открытой кабине — мороз и ветер</a:t>
            </a:r>
            <a:endParaRPr lang="en-US" sz="1050" dirty="0"/>
          </a:p>
        </p:txBody>
      </p:sp>
      <p:sp>
        <p:nvSpPr>
          <p:cNvPr id="16" name="Text 6"/>
          <p:cNvSpPr txBox="1"/>
          <p:nvPr/>
        </p:nvSpPr>
        <p:spPr>
          <a:xfrm>
            <a:off x="4983480" y="324612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Жидкий кислород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Испаритель немецкого экипажа</a:t>
            </a:r>
            <a:endParaRPr lang="en-US" sz="1050" dirty="0"/>
          </a:p>
        </p:txBody>
      </p:sp>
      <p:sp>
        <p:nvSpPr>
          <p:cNvPr id="17" name="Text 7"/>
          <p:cNvSpPr txBox="1"/>
          <p:nvPr/>
        </p:nvSpPr>
        <p:spPr>
          <a:xfrm>
            <a:off x="10012680" y="534924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Маска, шлем, очки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ветра, масла и мороза до −20 °C</a:t>
            </a:r>
            <a:endParaRPr lang="en-US" sz="1050" dirty="0"/>
          </a:p>
        </p:txBody>
      </p:sp>
      <p:sp>
        <p:nvSpPr>
          <p:cNvPr id="18" name="Text 8"/>
          <p:cNvSpPr txBox="1"/>
          <p:nvPr/>
        </p:nvSpPr>
        <p:spPr>
          <a:xfrm>
            <a:off x="548640" y="1554480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9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парашюта. </a:t>
            </a:r>
            <a:pPr indent="0" marL="0">
              <a:buNone/>
            </a:pPr>
            <a:r>
              <a:rPr lang="en-US" sz="130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Лётчикам Антанты парашюты так и не выдали — их имели только наблюдатели на аэростатах. Немцы получили парашюты Хайнеке лишь в 1918 г.</a:t>
            </a:r>
            <a:endParaRPr lang="en-US" sz="1300" dirty="0"/>
          </a:p>
        </p:txBody>
      </p:sp>
      <p:sp>
        <p:nvSpPr>
          <p:cNvPr id="19" name="Text 9"/>
          <p:cNvSpPr txBox="1"/>
          <p:nvPr/>
        </p:nvSpPr>
        <p:spPr>
          <a:xfrm>
            <a:off x="548640" y="288036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9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Опасна была и учёба. </a:t>
            </a:r>
            <a:pPr indent="0" marL="0">
              <a:buNone/>
            </a:pPr>
            <a:r>
              <a:rPr lang="en-US" sz="130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Sopwith Camel почти столько же лётчиков погибло в авариях, сколько в боях.</a:t>
            </a:r>
            <a:endParaRPr lang="en-US" sz="1300" dirty="0"/>
          </a:p>
        </p:txBody>
      </p:sp>
      <p:pic>
        <p:nvPicPr>
          <p:cNvPr id="20" name="Image 8" descr="/root/deck2/assets/art_balloons.jp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48640" y="3840480"/>
            <a:ext cx="2514600" cy="2148840"/>
          </a:xfrm>
          <a:prstGeom prst="rect">
            <a:avLst/>
          </a:prstGeom>
        </p:spPr>
      </p:pic>
      <p:sp>
        <p:nvSpPr>
          <p:cNvPr id="21" name="Text 10"/>
          <p:cNvSpPr txBox="1"/>
          <p:nvPr/>
        </p:nvSpPr>
        <p:spPr>
          <a:xfrm>
            <a:off x="3200400" y="50292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C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Дж. Хардинг, 1918: наблюдатели прыгают с парашютами из горящих аэростатов</a:t>
            </a:r>
            <a:endParaRPr lang="en-US" sz="950" dirty="0"/>
          </a:p>
        </p:txBody>
      </p:sp>
      <p:sp>
        <p:nvSpPr>
          <p:cNvPr id="22" name="Text 11"/>
          <p:cNvSpPr txBox="1"/>
          <p:nvPr/>
        </p:nvSpPr>
        <p:spPr>
          <a:xfrm>
            <a:off x="4983480" y="58978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7C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Снаряжение американского лётчика Э. Гарднера, 1918–1919 (Национальный почтовый музей США). Такое же носили и военные лётчики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87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 · 1914 → 1918</a:t>
            </a:r>
            <a:endParaRPr lang="en-US" sz="1200" dirty="0"/>
          </a:p>
        </p:txBody>
      </p:sp>
      <p:sp>
        <p:nvSpPr>
          <p:cNvPr id="3" name="!!title"/>
          <p:cNvSpPr txBox="1"/>
          <p:nvPr/>
        </p:nvSpPr>
        <p:spPr>
          <a:xfrm>
            <a:off x="548640" y="658368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50" kern="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Итоги: взрывной рост</a:t>
            </a:r>
            <a:endParaRPr lang="en-US" sz="3800" dirty="0"/>
          </a:p>
        </p:txBody>
      </p:sp>
      <p:sp>
        <p:nvSpPr>
          <p:cNvPr id="4" name="!!track"/>
          <p:cNvSpPr/>
          <p:nvPr/>
        </p:nvSpPr>
        <p:spPr>
          <a:xfrm>
            <a:off x="548640" y="6519672"/>
            <a:ext cx="2194560" cy="32004"/>
          </a:xfrm>
          <a:prstGeom prst="rect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5" name="!!prog"/>
          <p:cNvSpPr/>
          <p:nvPr/>
        </p:nvSpPr>
        <p:spPr>
          <a:xfrm>
            <a:off x="548640" y="6519672"/>
            <a:ext cx="2037806" cy="32004"/>
          </a:xfrm>
          <a:prstGeom prst="rect">
            <a:avLst/>
          </a:prstGeom>
          <a:solidFill>
            <a:srgbClr val="A8781E"/>
          </a:solidFill>
          <a:ln w="12700">
            <a:solidFill>
              <a:srgbClr val="A8781E"/>
            </a:solidFill>
            <a:prstDash val="solid"/>
          </a:ln>
        </p:spPr>
      </p:sp>
      <p:sp>
        <p:nvSpPr>
          <p:cNvPr id="6" name="!!pg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000" dirty="0"/>
          </a:p>
        </p:txBody>
      </p:sp>
      <p:pic>
        <p:nvPicPr>
          <p:cNvPr id="7" name="!!engine" descr="/root/deck2/assets/liber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051560"/>
            <a:ext cx="4754880" cy="4123538"/>
          </a:xfrm>
          <a:prstGeom prst="rect">
            <a:avLst/>
          </a:prstGeom>
        </p:spPr>
      </p:pic>
      <p:pic>
        <p:nvPicPr>
          <p:cNvPr id="8" name="!!suit" descr="/root/deck2/assets/su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7680960"/>
            <a:ext cx="1998721" cy="4846320"/>
          </a:xfrm>
          <a:prstGeom prst="rect">
            <a:avLst/>
          </a:prstGeom>
        </p:spPr>
      </p:pic>
      <p:pic>
        <p:nvPicPr>
          <p:cNvPr id="9" name="!!helmet" descr="/root/deck2/assets/helm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7863840"/>
            <a:ext cx="1234440" cy="1499976"/>
          </a:xfrm>
          <a:prstGeom prst="rect">
            <a:avLst/>
          </a:prstGeom>
        </p:spPr>
      </p:pic>
      <p:pic>
        <p:nvPicPr>
          <p:cNvPr id="10" name="!!mask" descr="/root/deck2/assets/mas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0" y="8229600"/>
            <a:ext cx="1463040" cy="1133557"/>
          </a:xfrm>
          <a:prstGeom prst="rect">
            <a:avLst/>
          </a:prstGeom>
        </p:spPr>
      </p:pic>
      <p:pic>
        <p:nvPicPr>
          <p:cNvPr id="11" name="!!goggles" descr="/root/deck2/assets/goggle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0" y="8595360"/>
            <a:ext cx="1600200" cy="697323"/>
          </a:xfrm>
          <a:prstGeom prst="rect">
            <a:avLst/>
          </a:prstGeom>
        </p:spPr>
      </p:pic>
      <p:pic>
        <p:nvPicPr>
          <p:cNvPr id="12" name="!!stamp" descr="/root/deck2/assets/stam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880000">
            <a:off x="12710160" y="-3840480"/>
            <a:ext cx="2651760" cy="2538686"/>
          </a:xfrm>
          <a:prstGeom prst="rect">
            <a:avLst/>
          </a:prstGeom>
        </p:spPr>
      </p:pic>
      <p:sp>
        <p:nvSpPr>
          <p:cNvPr id="13" name="Text 5"/>
          <p:cNvSpPr txBox="1"/>
          <p:nvPr/>
        </p:nvSpPr>
        <p:spPr>
          <a:xfrm>
            <a:off x="7086600" y="525780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Мотор Liberty V‑12 (США). </a:t>
            </a:r>
            <a:pPr indent="0" marL="0">
              <a:buNone/>
            </a:pPr>
            <a:r>
              <a:rPr lang="en-US" sz="1150" dirty="0">
                <a:solidFill>
                  <a:srgbClr val="515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Автозаводы Ford, Packard, Buick и другие выпустили 20 748 таких моторов ещё до перемирия.</a:t>
            </a:r>
            <a:endParaRPr lang="en-US" sz="1150" dirty="0"/>
          </a:p>
        </p:txBody>
      </p:sp>
      <p:sp>
        <p:nvSpPr>
          <p:cNvPr id="14" name="Text 6"/>
          <p:cNvSpPr txBox="1"/>
          <p:nvPr/>
        </p:nvSpPr>
        <p:spPr>
          <a:xfrm>
            <a:off x="548640" y="15087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spc="-100" kern="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≈670</a:t>
            </a:r>
            <a:endParaRPr lang="en-US" sz="5600" dirty="0"/>
          </a:p>
        </p:txBody>
      </p:sp>
      <p:sp>
        <p:nvSpPr>
          <p:cNvPr id="15" name="Text 7"/>
          <p:cNvSpPr txBox="1"/>
          <p:nvPr/>
        </p:nvSpPr>
        <p:spPr>
          <a:xfrm>
            <a:off x="548640" y="23774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15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самолётов первой линии у четырёх держав в августе 1914</a:t>
            </a:r>
            <a:endParaRPr lang="en-US" sz="1150" dirty="0"/>
          </a:p>
        </p:txBody>
      </p:sp>
      <p:sp>
        <p:nvSpPr>
          <p:cNvPr id="16" name="Text 8"/>
          <p:cNvSpPr txBox="1"/>
          <p:nvPr/>
        </p:nvSpPr>
        <p:spPr>
          <a:xfrm>
            <a:off x="2788920" y="16459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17" name="Text 9"/>
          <p:cNvSpPr txBox="1"/>
          <p:nvPr/>
        </p:nvSpPr>
        <p:spPr>
          <a:xfrm>
            <a:off x="3383280" y="15087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spc="-100" kern="0" dirty="0">
                <a:solidFill>
                  <a:srgbClr val="A87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22 647</a:t>
            </a:r>
            <a:endParaRPr lang="en-US" sz="5600" dirty="0"/>
          </a:p>
        </p:txBody>
      </p:sp>
      <p:sp>
        <p:nvSpPr>
          <p:cNvPr id="18" name="Text 10"/>
          <p:cNvSpPr txBox="1"/>
          <p:nvPr/>
        </p:nvSpPr>
        <p:spPr>
          <a:xfrm>
            <a:off x="3383280" y="2377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15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самолётов только в британских ВВС к 11 ноября 1918</a:t>
            </a:r>
            <a:endParaRPr lang="en-US" sz="1150" dirty="0"/>
          </a:p>
        </p:txBody>
      </p:sp>
      <p:sp>
        <p:nvSpPr>
          <p:cNvPr id="19" name="Text 11"/>
          <p:cNvSpPr txBox="1"/>
          <p:nvPr/>
        </p:nvSpPr>
        <p:spPr>
          <a:xfrm>
            <a:off x="548640" y="3246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Выпуск самолётов за войну, тыс.</a:t>
            </a:r>
            <a:endParaRPr lang="en-US" sz="1400" dirty="0"/>
          </a:p>
        </p:txBody>
      </p:sp>
      <p:sp>
        <p:nvSpPr>
          <p:cNvPr id="20" name="Shape 12"/>
          <p:cNvSpPr/>
          <p:nvPr/>
        </p:nvSpPr>
        <p:spPr>
          <a:xfrm>
            <a:off x="1828800" y="3703320"/>
            <a:ext cx="0" cy="141732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21" name="Text 13"/>
          <p:cNvSpPr txBox="1"/>
          <p:nvPr/>
        </p:nvSpPr>
        <p:spPr>
          <a:xfrm>
            <a:off x="1554480" y="51389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22" name="Shape 14"/>
          <p:cNvSpPr/>
          <p:nvPr/>
        </p:nvSpPr>
        <p:spPr>
          <a:xfrm>
            <a:off x="2873829" y="3703320"/>
            <a:ext cx="0" cy="141732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23" name="Text 15"/>
          <p:cNvSpPr txBox="1"/>
          <p:nvPr/>
        </p:nvSpPr>
        <p:spPr>
          <a:xfrm>
            <a:off x="2599509" y="51389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24" name="Shape 16"/>
          <p:cNvSpPr/>
          <p:nvPr/>
        </p:nvSpPr>
        <p:spPr>
          <a:xfrm>
            <a:off x="3918857" y="3703320"/>
            <a:ext cx="0" cy="141732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25" name="Text 17"/>
          <p:cNvSpPr txBox="1"/>
          <p:nvPr/>
        </p:nvSpPr>
        <p:spPr>
          <a:xfrm>
            <a:off x="3644537" y="51389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4963886" y="3703320"/>
            <a:ext cx="0" cy="141732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27" name="Text 19"/>
          <p:cNvSpPr txBox="1"/>
          <p:nvPr/>
        </p:nvSpPr>
        <p:spPr>
          <a:xfrm>
            <a:off x="4689566" y="51389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548640" y="376732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Франция</a:t>
            </a:r>
            <a:endParaRPr lang="en-US" sz="1250" dirty="0"/>
          </a:p>
        </p:txBody>
      </p:sp>
      <p:sp>
        <p:nvSpPr>
          <p:cNvPr id="29" name="Shape 21"/>
          <p:cNvSpPr/>
          <p:nvPr/>
        </p:nvSpPr>
        <p:spPr>
          <a:xfrm>
            <a:off x="1828800" y="3822192"/>
            <a:ext cx="2717074" cy="219456"/>
          </a:xfrm>
          <a:prstGeom prst="rect">
            <a:avLst/>
          </a:prstGeom>
          <a:solidFill>
            <a:srgbClr val="A8781E"/>
          </a:solidFill>
          <a:ln w="12700">
            <a:solidFill>
              <a:srgbClr val="A8781E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4545874" y="3822192"/>
            <a:ext cx="836023" cy="219456"/>
          </a:xfrm>
          <a:prstGeom prst="rect">
            <a:avLst/>
          </a:prstGeom>
          <a:solidFill>
            <a:srgbClr val="E6C77E"/>
          </a:solidFill>
          <a:ln w="12700">
            <a:solidFill>
              <a:srgbClr val="E6C77E"/>
            </a:solidFill>
            <a:prstDash val="solid"/>
          </a:ln>
        </p:spPr>
      </p:sp>
      <p:sp>
        <p:nvSpPr>
          <p:cNvPr id="31" name="Text 23"/>
          <p:cNvSpPr txBox="1"/>
          <p:nvPr/>
        </p:nvSpPr>
        <p:spPr>
          <a:xfrm>
            <a:off x="5455049" y="376732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52–68</a:t>
            </a:r>
            <a:endParaRPr lang="en-US" sz="1200" dirty="0"/>
          </a:p>
        </p:txBody>
      </p:sp>
      <p:sp>
        <p:nvSpPr>
          <p:cNvPr id="32" name="Text 24"/>
          <p:cNvSpPr txBox="1"/>
          <p:nvPr/>
        </p:nvSpPr>
        <p:spPr>
          <a:xfrm>
            <a:off x="548640" y="422452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Британия</a:t>
            </a:r>
            <a:endParaRPr lang="en-US" sz="1250" dirty="0"/>
          </a:p>
        </p:txBody>
      </p:sp>
      <p:sp>
        <p:nvSpPr>
          <p:cNvPr id="33" name="Shape 25"/>
          <p:cNvSpPr/>
          <p:nvPr/>
        </p:nvSpPr>
        <p:spPr>
          <a:xfrm>
            <a:off x="1828800" y="4279392"/>
            <a:ext cx="1724297" cy="219456"/>
          </a:xfrm>
          <a:prstGeom prst="rect">
            <a:avLst/>
          </a:prstGeom>
          <a:solidFill>
            <a:srgbClr val="A8781E"/>
          </a:solidFill>
          <a:ln w="12700">
            <a:solidFill>
              <a:srgbClr val="A8781E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3553097" y="4279392"/>
            <a:ext cx="1149531" cy="219456"/>
          </a:xfrm>
          <a:prstGeom prst="rect">
            <a:avLst/>
          </a:prstGeom>
          <a:solidFill>
            <a:srgbClr val="E6C77E"/>
          </a:solidFill>
          <a:ln w="12700">
            <a:solidFill>
              <a:srgbClr val="E6C77E"/>
            </a:solidFill>
            <a:prstDash val="solid"/>
          </a:ln>
        </p:spPr>
      </p:sp>
      <p:sp>
        <p:nvSpPr>
          <p:cNvPr id="35" name="Text 27"/>
          <p:cNvSpPr txBox="1"/>
          <p:nvPr/>
        </p:nvSpPr>
        <p:spPr>
          <a:xfrm>
            <a:off x="4775781" y="422452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33–55</a:t>
            </a:r>
            <a:endParaRPr lang="en-US" sz="1200" dirty="0"/>
          </a:p>
        </p:txBody>
      </p:sp>
      <p:sp>
        <p:nvSpPr>
          <p:cNvPr id="36" name="Text 28"/>
          <p:cNvSpPr txBox="1"/>
          <p:nvPr/>
        </p:nvSpPr>
        <p:spPr>
          <a:xfrm>
            <a:off x="548640" y="468172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Германия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1828800" y="4736592"/>
            <a:ext cx="2508069" cy="219456"/>
          </a:xfrm>
          <a:prstGeom prst="rect">
            <a:avLst/>
          </a:prstGeom>
          <a:solidFill>
            <a:srgbClr val="A8781E"/>
          </a:solidFill>
          <a:ln w="12700">
            <a:solidFill>
              <a:srgbClr val="A8781E"/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4410021" y="468172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≈48</a:t>
            </a:r>
            <a:endParaRPr lang="en-US" sz="1200" dirty="0"/>
          </a:p>
        </p:txBody>
      </p:sp>
      <p:sp>
        <p:nvSpPr>
          <p:cNvPr id="39" name="Text 31"/>
          <p:cNvSpPr txBox="1"/>
          <p:nvPr/>
        </p:nvSpPr>
        <p:spPr>
          <a:xfrm>
            <a:off x="548640" y="539496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Тёмная часть — минимальная оценка, светлая — разброс: источники по-разному считают учебные машины.</a:t>
            </a:r>
            <a:endParaRPr lang="en-US" sz="950" dirty="0"/>
          </a:p>
        </p:txBody>
      </p:sp>
      <p:sp>
        <p:nvSpPr>
          <p:cNvPr id="40" name="Text 32"/>
          <p:cNvSpPr txBox="1"/>
          <p:nvPr/>
        </p:nvSpPr>
        <p:spPr>
          <a:xfrm>
            <a:off x="548640" y="5742432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A87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150 000+ </a:t>
            </a:r>
            <a:pPr indent="0" marL="0">
              <a:buNone/>
            </a:pPr>
            <a:r>
              <a:rPr lang="en-US" sz="1200" dirty="0">
                <a:solidFill>
                  <a:srgbClr val="515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самолётов построено за войну. 1 апреля 1918 г. созданы Королевские ВВС (RAF) — первые в мире самостоятельные военно-воздушные силы.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64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 · ПОСЛЕ 1918</a:t>
            </a:r>
            <a:endParaRPr lang="en-US" sz="1200" dirty="0"/>
          </a:p>
        </p:txBody>
      </p:sp>
      <p:sp>
        <p:nvSpPr>
          <p:cNvPr id="3" name="!!title"/>
          <p:cNvSpPr txBox="1"/>
          <p:nvPr/>
        </p:nvSpPr>
        <p:spPr>
          <a:xfrm>
            <a:off x="548640" y="65836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50" kern="0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Наследие: небо после войны</a:t>
            </a:r>
            <a:endParaRPr lang="en-US" sz="3800" dirty="0"/>
          </a:p>
        </p:txBody>
      </p:sp>
      <p:sp>
        <p:nvSpPr>
          <p:cNvPr id="4" name="!!track"/>
          <p:cNvSpPr/>
          <p:nvPr/>
        </p:nvSpPr>
        <p:spPr>
          <a:xfrm>
            <a:off x="548640" y="6519672"/>
            <a:ext cx="2194560" cy="32004"/>
          </a:xfrm>
          <a:prstGeom prst="rect">
            <a:avLst/>
          </a:prstGeom>
          <a:solidFill>
            <a:srgbClr val="2A2F38"/>
          </a:solidFill>
          <a:ln w="12700">
            <a:solidFill>
              <a:srgbClr val="2A2F38"/>
            </a:solidFill>
            <a:prstDash val="solid"/>
          </a:ln>
        </p:spPr>
      </p:sp>
      <p:sp>
        <p:nvSpPr>
          <p:cNvPr id="5" name="!!prog"/>
          <p:cNvSpPr/>
          <p:nvPr/>
        </p:nvSpPr>
        <p:spPr>
          <a:xfrm>
            <a:off x="548640" y="6519672"/>
            <a:ext cx="2194560" cy="32004"/>
          </a:xfrm>
          <a:prstGeom prst="rect">
            <a:avLst/>
          </a:prstGeom>
          <a:solidFill>
            <a:srgbClr val="64D2FF"/>
          </a:solidFill>
          <a:ln w="12700">
            <a:solidFill>
              <a:srgbClr val="64D2FF"/>
            </a:solidFill>
            <a:prstDash val="solid"/>
          </a:ln>
        </p:spPr>
      </p:sp>
      <p:sp>
        <p:nvSpPr>
          <p:cNvPr id="6" name="!!pg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1000" dirty="0"/>
          </a:p>
        </p:txBody>
      </p:sp>
      <p:pic>
        <p:nvPicPr>
          <p:cNvPr id="7" name="Image 0" descr="/root/deck2/assets/glow_blue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7040880" y="-457200"/>
            <a:ext cx="5669280" cy="5669280"/>
          </a:xfrm>
          <a:prstGeom prst="rect">
            <a:avLst/>
          </a:prstGeom>
        </p:spPr>
      </p:pic>
      <p:pic>
        <p:nvPicPr>
          <p:cNvPr id="8" name="!!stamp" descr="/root/deck2/assets/stam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60000">
            <a:off x="8366760" y="1097280"/>
            <a:ext cx="2651760" cy="2538686"/>
          </a:xfrm>
          <a:prstGeom prst="rect">
            <a:avLst/>
          </a:prstGeom>
        </p:spPr>
      </p:pic>
      <p:pic>
        <p:nvPicPr>
          <p:cNvPr id="9" name="!!engine" descr="/root/deck2/assets/libert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669280" y="1051560"/>
            <a:ext cx="4754880" cy="412353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909560" y="39776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«Перевёрнутая Дженни», 1918. </a:t>
            </a:r>
            <a:pPr indent="0" marL="0">
              <a:buNone/>
            </a:pPr>
            <a:r>
              <a:rPr lang="en-US" sz="110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Марку выпустили к открытию авиапочты США 15 мая 1918 г. Лист из 100 марок с перевёрнутым самолётом — знаменитая ошибка печати.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548640" y="1554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4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1919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185623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Версальский договор (ст. 198) запрещает Германии военную авиацию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4069080" y="1554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4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14–15 июня 1919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4069080" y="185623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Алкок и Браун впервые без посадки перелетают Атлантику на бомбардировщике Vickers Vimy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2880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4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августа 1919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318211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Открывается регулярная международная авиалиния Лондон — Париж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4069080" y="2880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4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1921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4069080" y="318211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4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Джулио Дуэ пишет «Господство в воздухе»: войну решает авиация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420624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F5F3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 четыре года самолёт прошёл путь от «спорта» до самостоятельного рода войск — и навсегда изменил войны XX века.</a:t>
            </a:r>
            <a:endParaRPr lang="en-US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54406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C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Источники: Национальный музей авиации и космонавтики США (описания экспонатов); Imperial War Museums; J. H. Morrow, «The Great War in the Air» (1993); C. Shores, N. Franks, R. Guest, «Above the Trenches» (1990); М. А. Хайрулин, «Илья Муромец. Гордость русской авиации» (2010).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C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 и рисунки: Smithsonian Open Access (CC0). Карты: Natural Earth; A. Ourednik, historical-basemaps.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Авиация Первой мировой войны</dc:title>
  <dc:subject>История, 10В класс</dc:subject>
  <dc:creator>Пономарев Глеб</dc:creator>
  <cp:lastModifiedBy>Пономарев Глеб</cp:lastModifiedBy>
  <cp:revision>1</cp:revision>
  <dcterms:created xsi:type="dcterms:W3CDTF">2026-09-27T06:26:15Z</dcterms:created>
  <dcterms:modified xsi:type="dcterms:W3CDTF">2026-09-27T06:26:15Z</dcterms:modified>
</cp:coreProperties>
</file>