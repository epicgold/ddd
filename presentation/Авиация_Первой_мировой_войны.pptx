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</p:sldIdLst>
  <p:notesMasterIdLst>
    <p:notesMasterId r:id="rId16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notesMaster" Target="notesMasters/notesMaster1.xml"/><Relationship Id="rId17" Type="http://schemas.openxmlformats.org/officeDocument/2006/relationships/presProps" Target="presProps.xml"/><Relationship Id="rId18" Type="http://schemas.openxmlformats.org/officeDocument/2006/relationships/viewProps" Target="viewProps.xml"/><Relationship Id="rId19" Type="http://schemas.openxmlformats.org/officeDocument/2006/relationships/theme" Target="theme/theme1.xml"/><Relationship Id="rId20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Здравствуйте! Меня зовут Глеб Пономарев, и тема моего доклада — «Авиация Первой мировой войны». На экране — настоящий немецкий истребитель 1918 года из Национального музея авиации и космонавтики США. Всего за четыре года самолёт прошёл путь от хрупкой «игрушки» из дерева и ткани до грозного оружия. Давайте посмотрим, как это произошло.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Перенесёмся в лето 1914 года. На карте — Европа накануне войны: синим показаны страны Антанты, красным — Германия и её союзники. Цифры — сколько боевых самолётов было у каждой державы: у России — 244, у Германии — 232, у Франции — 138, у Британии — всего 56. Для сравнения: к концу войны одни только британские ВВС имели больше 22 тысяч машин. А ведь всего за десять лет до войны, в 1903 году, братья Райт впервые поднялись в воздух — их «Флайер» вы видите слева — и пролетели всего 36 метров. В 1909 году француз Блерио́ перелетел Ла-Манш, в 1911-м итальянцы впервые сбросили бомбы с самолёта, а в 1913-м наш Пётр Нестеров выполнил «мёртвую петлю». И всё же многие генералы считали авиацию просто спортом.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Первая работа самолёта на войне — разведка: лётчики стали «глазами армии». Карта приближается к двум главным сражениям 1914 года. На западе, у реки Марны, 3 сентября лётчики заметили, что немецкая армия генерала фон Клю́ка поворачивает мимо Парижа и открывает свой фланг. Благодаря этому союзники нанесли контрудар и остановили наступление на Париж. На востоке, у Танненбе́рга, немецкие лётчики следили за русской армией. Недаром генералу Гинденбу́ргу приписывают слова: «Без лётчиков не было бы Танненберга». Вскоре лётчики научились корректировать огонь артиллерии по радио и фотографировать окопы противника. Кстати, камера на слайде принадлежала лётчику Уэсли Арчеру. После войны он прославился «снимками воздушных боёв», но оказалось, что снимал он модели самолётов. Подделку раскрыли только в 1980-х годах.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Сначала лётчики не знали, как сражаться друг с другом, и стреляли из пистолетов и карабинов. 8 сентября 1914 года наш лётчик Пётр Нестеров догнал австрийский самолёт-разведчик и ударил его своим самолётом. Погибли оба экипажа. Это был первый воздушный таран в истории. А 5 октября французский экипаж Франца и Кено́ впервые сбил немецкий самолёт из пулемёта. Летели они на «Вуазе́не» — самолёте того же семейства, что и на фотографии. Кстати, этот «Вуазен» — старейший сохранившийся в мире самолёт, построенный именно как бомбардировщик.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У первых истребителей была серьёзная проблема: винт вращается прямо перед лётчиком, и, стреляя вперёд, можно отстрелить собственную лопасть. Француз Ролан Гарро́с поставил на лопасти стальные клинья, которые отражали пули, и в апреле 1915 года одержал три победы. Но вскоре ему пришлось сесть за линией фронта, и он попал в плен. Инженеры фирмы Фо́ккера пошли дальше и создали синхронизатор — механизм, который позволяет пулемёту стрелять только тогда, когда перед стволом нет лопасти. Немецкие истребители с синхронизатором почти на полгода захватили небо — британцы назвали это «бичом Фоккера». На фото — настоящий синхронный пулемёт немецкого истребителя 1918 года.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Посмотрите, как изменились самолёты всего за четыре года. Слева — «Вуазен», медленная «этажерка» со скоростью около 100 километров в час. Правее — истребители 1917–1918 годов: французский SPAD, британский Sopwith Camel, немецкие Fokker и Pfalz. Они летали почти вдвое быстрее и несли по два пулемёта. SPAD выпустили почти в 8,5 тысяч экземпляров, а Camel сбил 1294 самолёта — больше, чем любой другой истребитель союзников. А немецкий Fokker D.VII так ценился, что по условиям перемирия Германия должна была отдать союзникам все эти самолёты. Все фото, которые вы видите, — настоящие самолёты из музея.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Первая мировая впервые сделала целью ударов с неба мирные города. С 1915 года Англию бомбили немецкие дирижабли-цеппелины: их налёты унесли 557 жизней. Прибор на слайде — высотомер с настоящего цеппелина L 49, который французские лётчики заставили приземлиться в 1917 году. С 1917 года на Лондон полетели тяжёлые бомбардировщики «Гота». Самый страшный налёт, 13 июня 1917 года, унёс 162 жизни. Так родилась противовоздушная оборона: прожекторы, зенитки и ночные истребители. Картину справа нарисовал американский военный художник в 1918 году: солдаты прячутся от ночного налёта.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Россия подарила мировой авиации немало «первых». Пётр Нестеров — первая «мёртвая петля» и первый таран. Игорь Сикорский построил «Русский витязь» — первый в мире четырёхмоторный самолёт, а затем «Илью Муромца», чертёж которого вы видите. Это был первый в мире серийный четырёхмоторный бомбардировщик. Эскадра таких кораблей совершила около 400 боевых вылетов и потеряла в воздушном бою всего один самолёт. Лучший русский ас Александр Казаков одержал 17 официальных побед. Дмитрий Григорович создал летающие лодки, а Глеб Котельников ещё в 1911 году изобрёл ранцевый парашют. Главной бедой была слабая промышленность: большинство моторов приходилось покупать за границей.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Асом называли лётчика, сбившего не меньше пяти самолётов противника. На диаграмме — лучшие асы войны. Первое место у немца Манфреда фон Ри́хтгофена, «Красного барона», — 80 побед. Дальше француз Рене Фонк, канадец Билли Би́шоп, британец Эдвард Мэ́ннок. Наш Александр Казаков отмечен золотым цветом. Асы стали настоящими звёздами: о них писали газеты, а солдаты даже мастерили модели самолётов из металла — такая модель внизу на слайде. Интересный факт: эмблема итальянского аса Франческо Бара́кки, гарцующий конь, позже стала символом Ferrari. А красный Pfalz справа после войны снимался в голливудском фильме «Утренний патруль».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Теперь посмотрите на Западный фронт. Красная линия — окопы, которые почти не сдвигались с 1915 по 1917 год. Над ними шла настоящая битва за небо. Под Верде́ном в 1916 году французский генерал Пете́н приказал командиру истребителей: «Роз, очистите мне небо! Я ослеп!» Французы впервые собрали истребители в отдельные группы и вернули себе небо. На Со́мме британцы наступали и в воздухе. А в апреле 1917 года под Арра́сом британцы потеряли 245 самолётов против 66 немецких — этот месяц назвали «Кровавым апрелем». В 1918 году при Сен-Мийе́ле американец Билли Митчелл собрал почти полторы тысячи самолётов — это крупнейшая воздушная операция войны.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Карта смещается на север, к Северному морю. Самолёты воевали и над водой. Уже в декабре 1914 года британские гидросамолёты атаковали базу цеппелинов у Куксха́фена, а в 1915 году гидросамолёт впервые атаковал корабль торпедой. На Чёрном море действовали русские корабли с гидросамолётами, а лётчик Ян Нагурский первым в мире сделал «мёртвую петлю» на летающей лодке Григоровича. В июле 1918 года семь истребителей взлетели с палубы британского корабля «Фью́риес» и уничтожили два цеппелина в То́ндерне. Это был первый удар самолётов, взлетевших с авианосца. На фото — американский учебный гидроплан, на котором обучили 2500 морских лётчиков.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А теперь о людях. Кабины были открытыми, и на высоте стоял мороз до минус двадцати и ниже. Поэтому лётчики надевали кожаные комбинезоны, шлемы, очки и даже кожаные маски — настоящее лётное снаряжение 1918 года вы видите на слайде. Выше четырёх-пяти километров не хватало воздуха, и немецкие экипажи брали с собой жидкий кислород. А ещё у лётчиков Антанты не было парашютов! Парашюты были только у наблюдателей на аэростатах — как на рисунке слева. Даже учёба была опасной: на Sopwith Camel почти столько же лётчиков погибло в авариях, сколько в боях.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Подведём итоги в цифрах. В 1914 году у четырёх крупнейших держав было около 670 боевых самолётов. А к концу войны одни только британские ВВС имели 22 647 машин. Всего за войну построили больше 150 тысяч самолётов. Авиация стала настоящей промышленностью: например, американские автозаводы Ford, Packard и Buick выпустили больше 20 тысяч моторов Liberty — один из них на слайде. А 1 апреля 1918 года в Британии появились Королевские военно-воздушные силы — первые в мире самостоятельные ВВС.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Война закончилась, но её авиация изменила мир. По Версальскому договору Германии запретили иметь военную авиацию — настолько её стали опасаться. Военные самолёты пришли в мирную жизнь: в 1919 году Алкок и Браун на бывшем бомбардировщике впервые перелетели Атлантику без посадки, а между Лондоном и Парижем открылась регулярная авиалиния. В США с 1918 года летала авиапочта. К её открытию выпустили марку, на которой самолёт по ошибке напечатали вверх ногами, — «Перевёрнутая Дженни», самая знаменитая ошибка в истории марок. Итак, всего за четыре года самолёт прошёл путь от «спорта» до самостоятельного рода войск и навсегда изменил войны XX века. Спасибо за внимание! С удовольствием отвечу на ваши вопросы.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png"/><Relationship Id="rId3" Type="http://schemas.openxmlformats.org/officeDocument/2006/relationships/image" Target="../media/image-1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jp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image" Target="../media/image-1-3.png"/><Relationship Id="rId5" Type="http://schemas.openxmlformats.org/officeDocument/2006/relationships/image" Target="../media/image-1-2.png"/><Relationship Id="rId6" Type="http://schemas.openxmlformats.org/officeDocument/2006/relationships/image" Target="../media/image-2-6.png"/><Relationship Id="rId7" Type="http://schemas.openxmlformats.org/officeDocument/2006/relationships/slideLayout" Target="../slideLayouts/slideLayout1.xml"/><Relationship Id="rId8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jpg"/><Relationship Id="rId2" Type="http://schemas.openxmlformats.org/officeDocument/2006/relationships/image" Target="../media/image-3-2.png"/><Relationship Id="rId3" Type="http://schemas.openxmlformats.org/officeDocument/2006/relationships/image" Target="../media/image-2-2.png"/><Relationship Id="rId4" Type="http://schemas.openxmlformats.org/officeDocument/2006/relationships/image" Target="../media/image-2-6.png"/><Relationship Id="rId5" Type="http://schemas.openxmlformats.org/officeDocument/2006/relationships/image" Target="../media/image-1-3.png"/><Relationship Id="rId6" Type="http://schemas.openxmlformats.org/officeDocument/2006/relationships/image" Target="../media/image-3-6.png"/><Relationship Id="rId7" Type="http://schemas.openxmlformats.org/officeDocument/2006/relationships/slideLayout" Target="../slideLayouts/slideLayout1.xml"/><Relationship Id="rId8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3-6.png"/><Relationship Id="rId3" Type="http://schemas.openxmlformats.org/officeDocument/2006/relationships/image" Target="../media/image-2-6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jpg"/><Relationship Id="rId2" Type="http://schemas.openxmlformats.org/officeDocument/2006/relationships/image" Target="../media/image-3-2.png"/><Relationship Id="rId3" Type="http://schemas.openxmlformats.org/officeDocument/2006/relationships/image" Target="../media/image-2-2.png"/><Relationship Id="rId4" Type="http://schemas.openxmlformats.org/officeDocument/2006/relationships/image" Target="../media/image-3-6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6.png"/><Relationship Id="rId2" Type="http://schemas.openxmlformats.org/officeDocument/2006/relationships/image" Target="../media/image-6-2.png"/><Relationship Id="rId3" Type="http://schemas.openxmlformats.org/officeDocument/2006/relationships/image" Target="../media/image-6-3.png"/><Relationship Id="rId4" Type="http://schemas.openxmlformats.org/officeDocument/2006/relationships/image" Target="../media/image-6-4.png"/><Relationship Id="rId5" Type="http://schemas.openxmlformats.org/officeDocument/2006/relationships/image" Target="../media/image-1-2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jpg"/><Relationship Id="rId2" Type="http://schemas.openxmlformats.org/officeDocument/2006/relationships/image" Target="../media/image-3-2.png"/><Relationship Id="rId3" Type="http://schemas.openxmlformats.org/officeDocument/2006/relationships/image" Target="../media/image-7-3.png"/><Relationship Id="rId4" Type="http://schemas.openxmlformats.org/officeDocument/2006/relationships/image" Target="../media/image-3-6.png"/><Relationship Id="rId5" Type="http://schemas.openxmlformats.org/officeDocument/2006/relationships/image" Target="../media/image-7-5.png"/><Relationship Id="rId6" Type="http://schemas.openxmlformats.org/officeDocument/2006/relationships/image" Target="../media/image-1-2.png"/><Relationship Id="rId7" Type="http://schemas.openxmlformats.org/officeDocument/2006/relationships/slideLayout" Target="../slideLayouts/slideLayout1.xml"/><Relationship Id="rId8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8-image-1.jpeg"/><Relationship Id="rId2" Type="http://schemas.openxmlformats.org/officeDocument/2006/relationships/image" Target="../media/image-8-2.png"/><Relationship Id="rId3" Type="http://schemas.openxmlformats.org/officeDocument/2006/relationships/image" Target="../media/image-3-6.png"/><Relationship Id="rId4" Type="http://schemas.openxmlformats.org/officeDocument/2006/relationships/image" Target="../media/image-1-2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png"/><Relationship Id="rId3" Type="http://schemas.openxmlformats.org/officeDocument/2006/relationships/image" Target="../media/image-9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jpg"/><Relationship Id="rId2" Type="http://schemas.openxmlformats.org/officeDocument/2006/relationships/image" Target="../media/image-3-2.png"/><Relationship Id="rId3" Type="http://schemas.openxmlformats.org/officeDocument/2006/relationships/image" Target="../media/image-2-2.png"/><Relationship Id="rId4" Type="http://schemas.openxmlformats.org/officeDocument/2006/relationships/image" Target="../media/image-1-2.png"/><Relationship Id="rId5" Type="http://schemas.openxmlformats.org/officeDocument/2006/relationships/image" Target="../media/image-10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jpg"/><Relationship Id="rId2" Type="http://schemas.openxmlformats.org/officeDocument/2006/relationships/image" Target="../media/image-3-2.png"/><Relationship Id="rId3" Type="http://schemas.openxmlformats.org/officeDocument/2006/relationships/image" Target="../media/image-2-2.png"/><Relationship Id="rId4" Type="http://schemas.openxmlformats.org/officeDocument/2006/relationships/image" Target="../media/image-10-5.png"/><Relationship Id="rId5" Type="http://schemas.openxmlformats.org/officeDocument/2006/relationships/image" Target="../media/image-11-5.png"/><Relationship Id="rId6" Type="http://schemas.openxmlformats.org/officeDocument/2006/relationships/image" Target="../media/image-11-6.png"/><Relationship Id="rId7" Type="http://schemas.openxmlformats.org/officeDocument/2006/relationships/image" Target="../media/image-11-7.png"/><Relationship Id="rId8" Type="http://schemas.openxmlformats.org/officeDocument/2006/relationships/image" Target="../media/image-11-8.png"/><Relationship Id="rId9" Type="http://schemas.openxmlformats.org/officeDocument/2006/relationships/slideLayout" Target="../slideLayouts/slideLayout1.xml"/><Relationship Id="rId10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image" Target="../media/image-11-5.png"/><Relationship Id="rId3" Type="http://schemas.openxmlformats.org/officeDocument/2006/relationships/image" Target="../media/image-11-6.png"/><Relationship Id="rId4" Type="http://schemas.openxmlformats.org/officeDocument/2006/relationships/image" Target="../media/image-11-7.png"/><Relationship Id="rId5" Type="http://schemas.openxmlformats.org/officeDocument/2006/relationships/image" Target="../media/image-11-8.png"/><Relationship Id="rId6" Type="http://schemas.openxmlformats.org/officeDocument/2006/relationships/image" Target="../media/image-10-5.png"/><Relationship Id="rId7" Type="http://schemas.openxmlformats.org/officeDocument/2006/relationships/image" Target="../media/image-12-7.png"/><Relationship Id="rId8" Type="http://schemas.openxmlformats.org/officeDocument/2006/relationships/image" Target="../media/image-12-8.png"/><Relationship Id="rId9" Type="http://schemas.openxmlformats.org/officeDocument/2006/relationships/image" Target="../media/image-12-9.jpg"/><Relationship Id="rId10" Type="http://schemas.openxmlformats.org/officeDocument/2006/relationships/slideLayout" Target="../slideLayouts/slideLayout1.xml"/><Relationship Id="rId11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7.png"/><Relationship Id="rId2" Type="http://schemas.openxmlformats.org/officeDocument/2006/relationships/image" Target="../media/image-11-5.png"/><Relationship Id="rId3" Type="http://schemas.openxmlformats.org/officeDocument/2006/relationships/image" Target="../media/image-11-6.png"/><Relationship Id="rId4" Type="http://schemas.openxmlformats.org/officeDocument/2006/relationships/image" Target="../media/image-11-7.png"/><Relationship Id="rId5" Type="http://schemas.openxmlformats.org/officeDocument/2006/relationships/image" Target="../media/image-11-8.png"/><Relationship Id="rId6" Type="http://schemas.openxmlformats.org/officeDocument/2006/relationships/image" Target="../media/image-13-6.png"/><Relationship Id="rId7" Type="http://schemas.openxmlformats.org/officeDocument/2006/relationships/slideLayout" Target="../slideLayouts/slideLayout1.xml"/><Relationship Id="rId8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image" Target="../media/image-13-6.png"/><Relationship Id="rId3" Type="http://schemas.openxmlformats.org/officeDocument/2006/relationships/image" Target="../media/image-12-7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7090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!!track"/>
          <p:cNvSpPr/>
          <p:nvPr/>
        </p:nvSpPr>
        <p:spPr>
          <a:xfrm>
            <a:off x="548640" y="6519672"/>
            <a:ext cx="2194560" cy="32004"/>
          </a:xfrm>
          <a:prstGeom prst="rect">
            <a:avLst/>
          </a:prstGeom>
          <a:solidFill>
            <a:srgbClr val="2A2F38"/>
          </a:solidFill>
          <a:ln w="12700">
            <a:solidFill>
              <a:srgbClr val="2A2F38"/>
            </a:solidFill>
            <a:prstDash val="solid"/>
          </a:ln>
        </p:spPr>
      </p:sp>
      <p:sp>
        <p:nvSpPr>
          <p:cNvPr id="3" name="!!prog"/>
          <p:cNvSpPr/>
          <p:nvPr/>
        </p:nvSpPr>
        <p:spPr>
          <a:xfrm>
            <a:off x="548640" y="6519672"/>
            <a:ext cx="156754" cy="32004"/>
          </a:xfrm>
          <a:prstGeom prst="rect">
            <a:avLst/>
          </a:prstGeom>
          <a:solidFill>
            <a:srgbClr val="FF453A"/>
          </a:solidFill>
          <a:ln w="12700">
            <a:solidFill>
              <a:srgbClr val="FF453A"/>
            </a:solidFill>
            <a:prstDash val="solid"/>
          </a:ln>
        </p:spPr>
      </p:sp>
      <p:sp>
        <p:nvSpPr>
          <p:cNvPr id="4" name="!!pg"/>
          <p:cNvSpPr txBox="1"/>
          <p:nvPr/>
        </p:nvSpPr>
        <p:spPr>
          <a:xfrm>
            <a:off x="10725912" y="6419088"/>
            <a:ext cx="914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000" dirty="0">
                <a:solidFill>
                  <a:srgbClr val="7C83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01 / 14</a:t>
            </a:r>
            <a:endParaRPr lang="en-US" sz="1000" dirty="0"/>
          </a:p>
        </p:txBody>
      </p:sp>
      <p:pic>
        <p:nvPicPr>
          <p:cNvPr id="5" name="Image 0" descr="/root/deck2/assets/glow_red.png">    </p:cNvPr>
          <p:cNvPicPr>
            <a:picLocks noChangeAspect="1"/>
          </p:cNvPicPr>
          <p:nvPr/>
        </p:nvPicPr>
        <p:blipFill>
          <a:blip r:embed="rId1">
            <a:alphaModFix amt="90000"/>
          </a:blip>
          <a:stretch>
            <a:fillRect/>
          </a:stretch>
        </p:blipFill>
        <p:spPr>
          <a:xfrm>
            <a:off x="4754880" y="-914400"/>
            <a:ext cx="8229600" cy="8229600"/>
          </a:xfrm>
          <a:prstGeom prst="rect">
            <a:avLst/>
          </a:prstGeom>
        </p:spPr>
      </p:pic>
      <p:sp>
        <p:nvSpPr>
          <p:cNvPr id="6" name="!!big"/>
          <p:cNvSpPr txBox="1"/>
          <p:nvPr/>
        </p:nvSpPr>
        <p:spPr>
          <a:xfrm>
            <a:off x="320040" y="45720"/>
            <a:ext cx="11704320" cy="2651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600" b="1" spc="-600" kern="0" dirty="0">
                <a:solidFill>
                  <a:srgbClr val="1619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1914–1918</a:t>
            </a:r>
            <a:endParaRPr lang="en-US" sz="19600" dirty="0"/>
          </a:p>
        </p:txBody>
      </p:sp>
      <p:pic>
        <p:nvPicPr>
          <p:cNvPr id="7" name="!!pfalz" descr="/root/deck2/assets/pfalz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 rot="-240000">
            <a:off x="4434840" y="685800"/>
            <a:ext cx="7589520" cy="3867205"/>
          </a:xfrm>
          <a:prstGeom prst="rect">
            <a:avLst/>
          </a:prstGeom>
        </p:spPr>
      </p:pic>
      <p:sp>
        <p:nvSpPr>
          <p:cNvPr id="8" name="!!kicker"/>
          <p:cNvSpPr txBox="1"/>
          <p:nvPr/>
        </p:nvSpPr>
        <p:spPr>
          <a:xfrm>
            <a:off x="548640" y="39319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spc="250" kern="0" dirty="0">
                <a:solidFill>
                  <a:srgbClr val="FF45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ПРЕЗЕНТАЦИЯ ПО ИСТОРИИ</a:t>
            </a:r>
            <a:endParaRPr lang="en-US" sz="1200" dirty="0"/>
          </a:p>
        </p:txBody>
      </p:sp>
      <p:sp>
        <p:nvSpPr>
          <p:cNvPr id="9" name="!!title"/>
          <p:cNvSpPr txBox="1"/>
          <p:nvPr/>
        </p:nvSpPr>
        <p:spPr>
          <a:xfrm>
            <a:off x="548640" y="4206240"/>
            <a:ext cx="6949440" cy="1600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5000" b="1" spc="-100" kern="0" dirty="0">
                <a:solidFill>
                  <a:srgbClr val="F5F3E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Авиация Первой мировой войны</a:t>
            </a:r>
            <a:endParaRPr lang="en-US" sz="5000" dirty="0"/>
          </a:p>
        </p:txBody>
      </p:sp>
      <p:sp>
        <p:nvSpPr>
          <p:cNvPr id="10" name="Text 6"/>
          <p:cNvSpPr txBox="1"/>
          <p:nvPr/>
        </p:nvSpPr>
        <p:spPr>
          <a:xfrm>
            <a:off x="548640" y="5897880"/>
            <a:ext cx="5943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B4BAC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Как небо стало полем боя</a:t>
            </a:r>
            <a:endParaRPr lang="en-US" sz="2000" dirty="0"/>
          </a:p>
        </p:txBody>
      </p:sp>
      <p:sp>
        <p:nvSpPr>
          <p:cNvPr id="11" name="Text 7"/>
          <p:cNvSpPr txBox="1"/>
          <p:nvPr/>
        </p:nvSpPr>
        <p:spPr>
          <a:xfrm>
            <a:off x="548640" y="6245352"/>
            <a:ext cx="5943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F5F3E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Пономарев Глеб, 10В класс</a:t>
            </a:r>
            <a:endParaRPr lang="en-US" sz="1400" dirty="0"/>
          </a:p>
        </p:txBody>
      </p:sp>
      <p:sp>
        <p:nvSpPr>
          <p:cNvPr id="12" name="Text 8"/>
          <p:cNvSpPr txBox="1"/>
          <p:nvPr/>
        </p:nvSpPr>
        <p:spPr>
          <a:xfrm>
            <a:off x="6766560" y="4709160"/>
            <a:ext cx="4937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50" dirty="0">
                <a:solidFill>
                  <a:srgbClr val="7C83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Pfalz D.XII, Германия, 1918 · Музей авиации и космонавтики США</a:t>
            </a:r>
            <a:endParaRPr lang="en-US" sz="950" dirty="0"/>
          </a:p>
        </p:txBody>
      </p:sp>
      <p:pic>
        <p:nvPicPr>
          <p:cNvPr id="13" name="!!flyer" descr="/root/deck2/assets/flyer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-4206240" y="2103120"/>
            <a:ext cx="2651760" cy="1281132"/>
          </a:xfrm>
          <a:prstGeom prst="rect">
            <a:avLst/>
          </a:prstGeom>
        </p:spPr>
      </p:pic>
    </p:spTree>
  </p:cSld>
  <p:clrMapOvr>
    <a:masterClrMapping/>
  </p:clrMapOvr>
  <p:transition spd="slow">
    <p:fade/>
  </p:transition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7090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!!map" descr="/root/deck2/assets/europe1914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7829"/>
          </a:xfrm>
          <a:prstGeom prst="rect">
            <a:avLst/>
          </a:prstGeom>
        </p:spPr>
      </p:pic>
      <p:pic>
        <p:nvPicPr>
          <p:cNvPr id="3" name="Image 1" descr="/root/deck2/assets/grad_bottom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4297680"/>
            <a:ext cx="12191695" cy="2560320"/>
          </a:xfrm>
          <a:prstGeom prst="rect">
            <a:avLst/>
          </a:prstGeom>
        </p:spPr>
      </p:pic>
      <p:pic>
        <p:nvPicPr>
          <p:cNvPr id="4" name="Image 2" descr="/root/deck2/assets/grad_top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1695" cy="1737360"/>
          </a:xfrm>
          <a:prstGeom prst="rect">
            <a:avLst/>
          </a:prstGeom>
        </p:spPr>
      </p:pic>
      <p:sp>
        <p:nvSpPr>
          <p:cNvPr id="5" name="!!kicker"/>
          <p:cNvSpPr txBox="1"/>
          <p:nvPr/>
        </p:nvSpPr>
        <p:spPr>
          <a:xfrm>
            <a:off x="548640" y="38404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spc="250" kern="0" dirty="0">
                <a:solidFill>
                  <a:srgbClr val="E3B6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ПРОЛОГ · 1903–1913</a:t>
            </a:r>
            <a:endParaRPr lang="en-US" sz="1200" dirty="0"/>
          </a:p>
        </p:txBody>
      </p:sp>
      <p:sp>
        <p:nvSpPr>
          <p:cNvPr id="6" name="!!title"/>
          <p:cNvSpPr txBox="1"/>
          <p:nvPr/>
        </p:nvSpPr>
        <p:spPr>
          <a:xfrm>
            <a:off x="548640" y="658368"/>
            <a:ext cx="77724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0" b="1" spc="-50" kern="0" dirty="0">
                <a:solidFill>
                  <a:srgbClr val="F5F3E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Накануне: спорт или оружие?</a:t>
            </a:r>
            <a:endParaRPr lang="en-US" sz="3800" dirty="0"/>
          </a:p>
        </p:txBody>
      </p:sp>
      <p:sp>
        <p:nvSpPr>
          <p:cNvPr id="7" name="!!track"/>
          <p:cNvSpPr/>
          <p:nvPr/>
        </p:nvSpPr>
        <p:spPr>
          <a:xfrm>
            <a:off x="548640" y="6519672"/>
            <a:ext cx="2194560" cy="32004"/>
          </a:xfrm>
          <a:prstGeom prst="rect">
            <a:avLst/>
          </a:prstGeom>
          <a:solidFill>
            <a:srgbClr val="2A2F38"/>
          </a:solidFill>
          <a:ln w="12700">
            <a:solidFill>
              <a:srgbClr val="2A2F38"/>
            </a:solidFill>
            <a:prstDash val="solid"/>
          </a:ln>
        </p:spPr>
      </p:sp>
      <p:sp>
        <p:nvSpPr>
          <p:cNvPr id="8" name="!!prog"/>
          <p:cNvSpPr/>
          <p:nvPr/>
        </p:nvSpPr>
        <p:spPr>
          <a:xfrm>
            <a:off x="548640" y="6519672"/>
            <a:ext cx="313509" cy="32004"/>
          </a:xfrm>
          <a:prstGeom prst="rect">
            <a:avLst/>
          </a:prstGeom>
          <a:solidFill>
            <a:srgbClr val="E3B64E"/>
          </a:solidFill>
          <a:ln w="12700">
            <a:solidFill>
              <a:srgbClr val="E3B64E"/>
            </a:solidFill>
            <a:prstDash val="solid"/>
          </a:ln>
        </p:spPr>
      </p:sp>
      <p:sp>
        <p:nvSpPr>
          <p:cNvPr id="9" name="!!pg"/>
          <p:cNvSpPr txBox="1"/>
          <p:nvPr/>
        </p:nvSpPr>
        <p:spPr>
          <a:xfrm>
            <a:off x="10725912" y="6419088"/>
            <a:ext cx="914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000" dirty="0">
                <a:solidFill>
                  <a:srgbClr val="7C83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02 / 14</a:t>
            </a:r>
            <a:endParaRPr lang="en-US" sz="1000" dirty="0"/>
          </a:p>
        </p:txBody>
      </p:sp>
      <p:sp>
        <p:nvSpPr>
          <p:cNvPr id="10" name="Shape 5"/>
          <p:cNvSpPr/>
          <p:nvPr/>
        </p:nvSpPr>
        <p:spPr>
          <a:xfrm>
            <a:off x="9013815" y="1656620"/>
            <a:ext cx="100584" cy="100584"/>
          </a:xfrm>
          <a:prstGeom prst="ellipse">
            <a:avLst/>
          </a:prstGeom>
          <a:solidFill>
            <a:srgbClr val="F5F3EF"/>
          </a:solidFill>
          <a:ln w="15875">
            <a:solidFill>
              <a:srgbClr val="FFFFFF"/>
            </a:solidFill>
            <a:prstDash val="solid"/>
          </a:ln>
        </p:spPr>
      </p:sp>
      <p:sp>
        <p:nvSpPr>
          <p:cNvPr id="11" name="Text 6"/>
          <p:cNvSpPr txBox="1"/>
          <p:nvPr/>
        </p:nvSpPr>
        <p:spPr>
          <a:xfrm>
            <a:off x="8241147" y="1798352"/>
            <a:ext cx="16459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F5F3E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244</a:t>
            </a:r>
            <a:endParaRPr lang="en-US" sz="140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B4BAC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самолёта · Россия</a:t>
            </a:r>
            <a:endParaRPr lang="en-US" sz="1400" dirty="0"/>
          </a:p>
        </p:txBody>
      </p:sp>
      <p:sp>
        <p:nvSpPr>
          <p:cNvPr id="12" name="Shape 7"/>
          <p:cNvSpPr/>
          <p:nvPr/>
        </p:nvSpPr>
        <p:spPr>
          <a:xfrm>
            <a:off x="5194232" y="3034776"/>
            <a:ext cx="100584" cy="100584"/>
          </a:xfrm>
          <a:prstGeom prst="ellipse">
            <a:avLst/>
          </a:prstGeom>
          <a:solidFill>
            <a:srgbClr val="F5F3EF"/>
          </a:solidFill>
          <a:ln w="15875">
            <a:solidFill>
              <a:srgbClr val="FFFFFF"/>
            </a:solidFill>
            <a:prstDash val="solid"/>
          </a:ln>
        </p:spPr>
      </p:sp>
      <p:sp>
        <p:nvSpPr>
          <p:cNvPr id="13" name="Text 8"/>
          <p:cNvSpPr txBox="1"/>
          <p:nvPr/>
        </p:nvSpPr>
        <p:spPr>
          <a:xfrm>
            <a:off x="4421564" y="3194796"/>
            <a:ext cx="16459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F5F3E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232</a:t>
            </a:r>
            <a:endParaRPr lang="en-US" sz="140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B4BAC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Германия</a:t>
            </a:r>
            <a:endParaRPr lang="en-US" sz="1400" dirty="0"/>
          </a:p>
        </p:txBody>
      </p:sp>
      <p:sp>
        <p:nvSpPr>
          <p:cNvPr id="14" name="Shape 9"/>
          <p:cNvSpPr/>
          <p:nvPr/>
        </p:nvSpPr>
        <p:spPr>
          <a:xfrm>
            <a:off x="3806473" y="3922847"/>
            <a:ext cx="100584" cy="100584"/>
          </a:xfrm>
          <a:prstGeom prst="ellipse">
            <a:avLst/>
          </a:prstGeom>
          <a:solidFill>
            <a:srgbClr val="F5F3EF"/>
          </a:solidFill>
          <a:ln w="15875">
            <a:solidFill>
              <a:srgbClr val="FFFFFF"/>
            </a:solidFill>
            <a:prstDash val="solid"/>
          </a:ln>
        </p:spPr>
      </p:sp>
      <p:sp>
        <p:nvSpPr>
          <p:cNvPr id="15" name="Text 10"/>
          <p:cNvSpPr txBox="1"/>
          <p:nvPr/>
        </p:nvSpPr>
        <p:spPr>
          <a:xfrm>
            <a:off x="3033805" y="4082867"/>
            <a:ext cx="16459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F5F3E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138</a:t>
            </a:r>
            <a:endParaRPr lang="en-US" sz="140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B4BAC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Франция</a:t>
            </a:r>
            <a:endParaRPr lang="en-US" sz="1400" dirty="0"/>
          </a:p>
        </p:txBody>
      </p:sp>
      <p:sp>
        <p:nvSpPr>
          <p:cNvPr id="16" name="Shape 11"/>
          <p:cNvSpPr/>
          <p:nvPr/>
        </p:nvSpPr>
        <p:spPr>
          <a:xfrm>
            <a:off x="3475800" y="2408642"/>
            <a:ext cx="100584" cy="100584"/>
          </a:xfrm>
          <a:prstGeom prst="ellipse">
            <a:avLst/>
          </a:prstGeom>
          <a:solidFill>
            <a:srgbClr val="F5F3EF"/>
          </a:solidFill>
          <a:ln w="15875">
            <a:solidFill>
              <a:srgbClr val="FFFFFF"/>
            </a:solidFill>
            <a:prstDash val="solid"/>
          </a:ln>
        </p:spPr>
      </p:sp>
      <p:sp>
        <p:nvSpPr>
          <p:cNvPr id="17" name="Text 12"/>
          <p:cNvSpPr txBox="1"/>
          <p:nvPr/>
        </p:nvSpPr>
        <p:spPr>
          <a:xfrm>
            <a:off x="3727260" y="2138894"/>
            <a:ext cx="16459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F5F3E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56*</a:t>
            </a:r>
            <a:endParaRPr lang="en-US" sz="1400" dirty="0"/>
          </a:p>
          <a:p>
            <a:pPr algn="l" indent="0" marL="0">
              <a:buNone/>
            </a:pPr>
            <a:r>
              <a:rPr lang="en-US" sz="1100" dirty="0">
                <a:solidFill>
                  <a:srgbClr val="B4BAC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Британия</a:t>
            </a:r>
            <a:endParaRPr lang="en-US" sz="1400" dirty="0"/>
          </a:p>
        </p:txBody>
      </p:sp>
      <p:sp>
        <p:nvSpPr>
          <p:cNvPr id="18" name="Shape 13"/>
          <p:cNvSpPr/>
          <p:nvPr/>
        </p:nvSpPr>
        <p:spPr>
          <a:xfrm>
            <a:off x="9464040" y="4983480"/>
            <a:ext cx="137160" cy="137160"/>
          </a:xfrm>
          <a:prstGeom prst="ellipse">
            <a:avLst/>
          </a:prstGeom>
          <a:solidFill>
            <a:srgbClr val="4E93D8"/>
          </a:solidFill>
          <a:ln w="6350">
            <a:solidFill>
              <a:srgbClr val="4E93D8"/>
            </a:solidFill>
            <a:prstDash val="solid"/>
          </a:ln>
        </p:spPr>
      </p:sp>
      <p:sp>
        <p:nvSpPr>
          <p:cNvPr id="19" name="Text 14"/>
          <p:cNvSpPr txBox="1"/>
          <p:nvPr/>
        </p:nvSpPr>
        <p:spPr>
          <a:xfrm>
            <a:off x="9692640" y="4937760"/>
            <a:ext cx="21945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B4BAC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Антанта</a:t>
            </a:r>
            <a:endParaRPr lang="en-US" sz="1050" dirty="0"/>
          </a:p>
        </p:txBody>
      </p:sp>
      <p:sp>
        <p:nvSpPr>
          <p:cNvPr id="20" name="Shape 15"/>
          <p:cNvSpPr/>
          <p:nvPr/>
        </p:nvSpPr>
        <p:spPr>
          <a:xfrm>
            <a:off x="9464040" y="5248656"/>
            <a:ext cx="137160" cy="137160"/>
          </a:xfrm>
          <a:prstGeom prst="ellipse">
            <a:avLst/>
          </a:prstGeom>
          <a:solidFill>
            <a:srgbClr val="E4543F"/>
          </a:solidFill>
          <a:ln w="6350">
            <a:solidFill>
              <a:srgbClr val="E4543F"/>
            </a:solidFill>
            <a:prstDash val="solid"/>
          </a:ln>
        </p:spPr>
      </p:sp>
      <p:sp>
        <p:nvSpPr>
          <p:cNvPr id="21" name="Text 16"/>
          <p:cNvSpPr txBox="1"/>
          <p:nvPr/>
        </p:nvSpPr>
        <p:spPr>
          <a:xfrm>
            <a:off x="9692640" y="5202936"/>
            <a:ext cx="21945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B4BAC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Центральные державы</a:t>
            </a:r>
            <a:endParaRPr lang="en-US" sz="1050" dirty="0"/>
          </a:p>
        </p:txBody>
      </p:sp>
      <p:sp>
        <p:nvSpPr>
          <p:cNvPr id="22" name="Shape 17"/>
          <p:cNvSpPr/>
          <p:nvPr/>
        </p:nvSpPr>
        <p:spPr>
          <a:xfrm>
            <a:off x="9464040" y="5513832"/>
            <a:ext cx="137160" cy="137160"/>
          </a:xfrm>
          <a:prstGeom prst="ellipse">
            <a:avLst/>
          </a:prstGeom>
          <a:solidFill>
            <a:srgbClr val="4E93D8">
              <a:alpha val="45000"/>
            </a:srgbClr>
          </a:solidFill>
          <a:ln w="6350">
            <a:solidFill>
              <a:srgbClr val="4E93D8"/>
            </a:solidFill>
            <a:prstDash val="solid"/>
          </a:ln>
        </p:spPr>
      </p:sp>
      <p:sp>
        <p:nvSpPr>
          <p:cNvPr id="23" name="Text 18"/>
          <p:cNvSpPr txBox="1"/>
          <p:nvPr/>
        </p:nvSpPr>
        <p:spPr>
          <a:xfrm>
            <a:off x="9692640" y="5468112"/>
            <a:ext cx="21945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B4BAC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светлее — вступили в войну позже</a:t>
            </a:r>
            <a:endParaRPr lang="en-US" sz="1050" dirty="0"/>
          </a:p>
        </p:txBody>
      </p:sp>
      <p:sp>
        <p:nvSpPr>
          <p:cNvPr id="24" name="Shape 19"/>
          <p:cNvSpPr/>
          <p:nvPr/>
        </p:nvSpPr>
        <p:spPr>
          <a:xfrm>
            <a:off x="9464040" y="5779008"/>
            <a:ext cx="137160" cy="137160"/>
          </a:xfrm>
          <a:prstGeom prst="ellipse">
            <a:avLst/>
          </a:prstGeom>
          <a:solidFill>
            <a:srgbClr val="6B7078"/>
          </a:solidFill>
          <a:ln w="6350">
            <a:solidFill>
              <a:srgbClr val="6B7078"/>
            </a:solidFill>
            <a:prstDash val="solid"/>
          </a:ln>
        </p:spPr>
      </p:sp>
      <p:sp>
        <p:nvSpPr>
          <p:cNvPr id="25" name="Text 20"/>
          <p:cNvSpPr txBox="1"/>
          <p:nvPr/>
        </p:nvSpPr>
        <p:spPr>
          <a:xfrm>
            <a:off x="9692640" y="5733288"/>
            <a:ext cx="21945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B4BAC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нейтральные страны</a:t>
            </a:r>
            <a:endParaRPr lang="en-US" sz="1050" dirty="0"/>
          </a:p>
        </p:txBody>
      </p:sp>
      <p:sp>
        <p:nvSpPr>
          <p:cNvPr id="26" name="Text 21"/>
          <p:cNvSpPr txBox="1"/>
          <p:nvPr/>
        </p:nvSpPr>
        <p:spPr>
          <a:xfrm>
            <a:off x="9464040" y="6016752"/>
            <a:ext cx="22860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7C83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* машины первой линии; данные на 1.08.1914, оценки различаются</a:t>
            </a:r>
            <a:endParaRPr lang="en-US" sz="850" dirty="0"/>
          </a:p>
        </p:txBody>
      </p:sp>
      <p:pic>
        <p:nvPicPr>
          <p:cNvPr id="27" name="!!flyer" descr="/root/deck2/assets/flyer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11480" y="1874520"/>
            <a:ext cx="2651760" cy="1281132"/>
          </a:xfrm>
          <a:prstGeom prst="rect">
            <a:avLst/>
          </a:prstGeom>
        </p:spPr>
      </p:pic>
      <p:pic>
        <p:nvPicPr>
          <p:cNvPr id="28" name="!!pfalz" descr="/root/deck2/assets/pfalz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 rot="-960000">
            <a:off x="13350240" y="-3108960"/>
            <a:ext cx="4754880" cy="2422827"/>
          </a:xfrm>
          <a:prstGeom prst="rect">
            <a:avLst/>
          </a:prstGeom>
        </p:spPr>
      </p:pic>
      <p:pic>
        <p:nvPicPr>
          <p:cNvPr id="29" name="!!camera" descr="/root/deck2/assets/camera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02920" y="7498080"/>
            <a:ext cx="1691640" cy="1437894"/>
          </a:xfrm>
          <a:prstGeom prst="rect">
            <a:avLst/>
          </a:prstGeom>
        </p:spPr>
      </p:pic>
      <p:sp>
        <p:nvSpPr>
          <p:cNvPr id="30" name="Text 22"/>
          <p:cNvSpPr txBox="1"/>
          <p:nvPr/>
        </p:nvSpPr>
        <p:spPr>
          <a:xfrm>
            <a:off x="457200" y="3218688"/>
            <a:ext cx="2651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7C83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«Флайер» братьев Райт, 1903. Оригинал хранится в Смитсоновском музее</a:t>
            </a:r>
            <a:endParaRPr lang="en-US" sz="950" dirty="0"/>
          </a:p>
        </p:txBody>
      </p:sp>
      <p:sp>
        <p:nvSpPr>
          <p:cNvPr id="31" name="Text 23"/>
          <p:cNvSpPr txBox="1"/>
          <p:nvPr/>
        </p:nvSpPr>
        <p:spPr>
          <a:xfrm>
            <a:off x="548640" y="5047488"/>
            <a:ext cx="2011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E3B6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1903</a:t>
            </a:r>
            <a:endParaRPr lang="en-US" sz="2200" dirty="0"/>
          </a:p>
        </p:txBody>
      </p:sp>
      <p:sp>
        <p:nvSpPr>
          <p:cNvPr id="32" name="Text 24"/>
          <p:cNvSpPr txBox="1"/>
          <p:nvPr/>
        </p:nvSpPr>
        <p:spPr>
          <a:xfrm>
            <a:off x="548640" y="5440680"/>
            <a:ext cx="20116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B4BAC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Братья Райт: первый управляемый полёт с мотором — 12 секунд, 36 метров</a:t>
            </a:r>
            <a:endParaRPr lang="en-US" sz="1150" dirty="0"/>
          </a:p>
        </p:txBody>
      </p:sp>
      <p:sp>
        <p:nvSpPr>
          <p:cNvPr id="33" name="Text 25"/>
          <p:cNvSpPr txBox="1"/>
          <p:nvPr/>
        </p:nvSpPr>
        <p:spPr>
          <a:xfrm>
            <a:off x="2761488" y="5047488"/>
            <a:ext cx="2011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E3B6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1909</a:t>
            </a:r>
            <a:endParaRPr lang="en-US" sz="2200" dirty="0"/>
          </a:p>
        </p:txBody>
      </p:sp>
      <p:sp>
        <p:nvSpPr>
          <p:cNvPr id="34" name="Text 26"/>
          <p:cNvSpPr txBox="1"/>
          <p:nvPr/>
        </p:nvSpPr>
        <p:spPr>
          <a:xfrm>
            <a:off x="2761488" y="5440680"/>
            <a:ext cx="20116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B4BAC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Луи Блерио перелетел Ла-Манш: 40 км за 36,5 минуты</a:t>
            </a:r>
            <a:endParaRPr lang="en-US" sz="1150" dirty="0"/>
          </a:p>
        </p:txBody>
      </p:sp>
      <p:sp>
        <p:nvSpPr>
          <p:cNvPr id="35" name="Text 27"/>
          <p:cNvSpPr txBox="1"/>
          <p:nvPr/>
        </p:nvSpPr>
        <p:spPr>
          <a:xfrm>
            <a:off x="4974336" y="5047488"/>
            <a:ext cx="2011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E3B6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1911</a:t>
            </a:r>
            <a:endParaRPr lang="en-US" sz="2200" dirty="0"/>
          </a:p>
        </p:txBody>
      </p:sp>
      <p:sp>
        <p:nvSpPr>
          <p:cNvPr id="36" name="Text 28"/>
          <p:cNvSpPr txBox="1"/>
          <p:nvPr/>
        </p:nvSpPr>
        <p:spPr>
          <a:xfrm>
            <a:off x="4974336" y="5440680"/>
            <a:ext cx="20116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B4BAC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Итало-турецкая война: первая бомбардировка с самолёта (Дж. Гавотти)</a:t>
            </a:r>
            <a:endParaRPr lang="en-US" sz="1150" dirty="0"/>
          </a:p>
        </p:txBody>
      </p:sp>
      <p:sp>
        <p:nvSpPr>
          <p:cNvPr id="37" name="Text 29"/>
          <p:cNvSpPr txBox="1"/>
          <p:nvPr/>
        </p:nvSpPr>
        <p:spPr>
          <a:xfrm>
            <a:off x="7187184" y="5047488"/>
            <a:ext cx="2011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E3B6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1913</a:t>
            </a:r>
            <a:endParaRPr lang="en-US" sz="2200" dirty="0"/>
          </a:p>
        </p:txBody>
      </p:sp>
      <p:sp>
        <p:nvSpPr>
          <p:cNvPr id="38" name="Text 30"/>
          <p:cNvSpPr txBox="1"/>
          <p:nvPr/>
        </p:nvSpPr>
        <p:spPr>
          <a:xfrm>
            <a:off x="7187184" y="5440680"/>
            <a:ext cx="20116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B4BAC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Пётр Нестеров впервые выполнил «мёртвую петлю» над Киевом</a:t>
            </a:r>
            <a:endParaRPr lang="en-US" sz="1150" dirty="0"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1800">
        <p159:morph option="byObject"/>
      </p:transition>
    </mc:Choice>
    <mc:Fallback>
      <p:transition spd="slow">
        <p:fade/>
      </p:transition>
    </mc:Fallback>
  </mc:AlternateContent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7090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!!map" descr="/root/deck2/assets/europe1914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-2739072" y="-2520652"/>
            <a:ext cx="23787170" cy="13380283"/>
          </a:xfrm>
          <a:prstGeom prst="rect">
            <a:avLst/>
          </a:prstGeom>
        </p:spPr>
      </p:pic>
      <p:pic>
        <p:nvPicPr>
          <p:cNvPr id="3" name="Image 1" descr="/root/deck2/assets/grad_left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6766560" cy="6858000"/>
          </a:xfrm>
          <a:prstGeom prst="rect">
            <a:avLst/>
          </a:prstGeom>
        </p:spPr>
      </p:pic>
      <p:pic>
        <p:nvPicPr>
          <p:cNvPr id="4" name="Image 2" descr="/root/deck2/assets/grad_bottom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4937760"/>
            <a:ext cx="12191695" cy="1920240"/>
          </a:xfrm>
          <a:prstGeom prst="rect">
            <a:avLst/>
          </a:prstGeom>
        </p:spPr>
      </p:pic>
      <p:sp>
        <p:nvSpPr>
          <p:cNvPr id="5" name="!!kicker"/>
          <p:cNvSpPr txBox="1"/>
          <p:nvPr/>
        </p:nvSpPr>
        <p:spPr>
          <a:xfrm>
            <a:off x="548640" y="38404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spc="250" kern="0" dirty="0">
                <a:solidFill>
                  <a:srgbClr val="E3B6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ГЛАВА 1 · 1914</a:t>
            </a:r>
            <a:endParaRPr lang="en-US" sz="1200" dirty="0"/>
          </a:p>
        </p:txBody>
      </p:sp>
      <p:sp>
        <p:nvSpPr>
          <p:cNvPr id="6" name="!!title"/>
          <p:cNvSpPr txBox="1"/>
          <p:nvPr/>
        </p:nvSpPr>
        <p:spPr>
          <a:xfrm>
            <a:off x="548640" y="658368"/>
            <a:ext cx="54864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0" b="1" spc="-50" kern="0" dirty="0">
                <a:solidFill>
                  <a:srgbClr val="F5F3E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Глаза армии</a:t>
            </a:r>
            <a:endParaRPr lang="en-US" sz="3800" dirty="0"/>
          </a:p>
        </p:txBody>
      </p:sp>
      <p:sp>
        <p:nvSpPr>
          <p:cNvPr id="7" name="!!track"/>
          <p:cNvSpPr/>
          <p:nvPr/>
        </p:nvSpPr>
        <p:spPr>
          <a:xfrm>
            <a:off x="548640" y="6519672"/>
            <a:ext cx="2194560" cy="32004"/>
          </a:xfrm>
          <a:prstGeom prst="rect">
            <a:avLst/>
          </a:prstGeom>
          <a:solidFill>
            <a:srgbClr val="2A2F38"/>
          </a:solidFill>
          <a:ln w="12700">
            <a:solidFill>
              <a:srgbClr val="2A2F38"/>
            </a:solidFill>
            <a:prstDash val="solid"/>
          </a:ln>
        </p:spPr>
      </p:sp>
      <p:sp>
        <p:nvSpPr>
          <p:cNvPr id="8" name="!!prog"/>
          <p:cNvSpPr/>
          <p:nvPr/>
        </p:nvSpPr>
        <p:spPr>
          <a:xfrm>
            <a:off x="548640" y="6519672"/>
            <a:ext cx="470263" cy="32004"/>
          </a:xfrm>
          <a:prstGeom prst="rect">
            <a:avLst/>
          </a:prstGeom>
          <a:solidFill>
            <a:srgbClr val="E3B64E"/>
          </a:solidFill>
          <a:ln w="12700">
            <a:solidFill>
              <a:srgbClr val="E3B64E"/>
            </a:solidFill>
            <a:prstDash val="solid"/>
          </a:ln>
        </p:spPr>
      </p:sp>
      <p:sp>
        <p:nvSpPr>
          <p:cNvPr id="9" name="!!pg"/>
          <p:cNvSpPr txBox="1"/>
          <p:nvPr/>
        </p:nvSpPr>
        <p:spPr>
          <a:xfrm>
            <a:off x="10725912" y="6419088"/>
            <a:ext cx="914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000" dirty="0">
                <a:solidFill>
                  <a:srgbClr val="7C83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 / 14</a:t>
            </a:r>
            <a:endParaRPr lang="en-US" sz="1000" dirty="0"/>
          </a:p>
        </p:txBody>
      </p:sp>
      <p:sp>
        <p:nvSpPr>
          <p:cNvPr id="10" name="Shape 5"/>
          <p:cNvSpPr/>
          <p:nvPr/>
        </p:nvSpPr>
        <p:spPr>
          <a:xfrm>
            <a:off x="5042136" y="4083015"/>
            <a:ext cx="460858" cy="460858"/>
          </a:xfrm>
          <a:prstGeom prst="ellipse">
            <a:avLst/>
          </a:prstGeom>
          <a:solidFill>
            <a:srgbClr val="E3B64E">
              <a:alpha val="22000"/>
            </a:srgbClr>
          </a:solidFill>
          <a:ln w="12700">
            <a:solidFill>
              <a:srgbClr val="E3B64E">
                <a:alpha val="70000"/>
              </a:srgbClr>
            </a:solidFill>
            <a:prstDash val="solid"/>
          </a:ln>
        </p:spPr>
      </p:sp>
      <p:sp>
        <p:nvSpPr>
          <p:cNvPr id="11" name="Shape 6"/>
          <p:cNvSpPr/>
          <p:nvPr/>
        </p:nvSpPr>
        <p:spPr>
          <a:xfrm>
            <a:off x="5190268" y="4231148"/>
            <a:ext cx="164592" cy="164592"/>
          </a:xfrm>
          <a:prstGeom prst="ellipse">
            <a:avLst/>
          </a:prstGeom>
          <a:solidFill>
            <a:srgbClr val="E3B64E"/>
          </a:solidFill>
          <a:ln w="15875">
            <a:solidFill>
              <a:srgbClr val="FFFFFF"/>
            </a:solidFill>
            <a:prstDash val="solid"/>
          </a:ln>
        </p:spPr>
      </p:sp>
      <p:sp>
        <p:nvSpPr>
          <p:cNvPr id="12" name="Text 7"/>
          <p:cNvSpPr txBox="1"/>
          <p:nvPr/>
        </p:nvSpPr>
        <p:spPr>
          <a:xfrm>
            <a:off x="5592604" y="4130564"/>
            <a:ext cx="27432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F5F3E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Марна</a:t>
            </a:r>
            <a:endParaRPr lang="en-US" sz="1400" dirty="0"/>
          </a:p>
          <a:p>
            <a:pPr indent="0" marL="0">
              <a:buNone/>
            </a:pPr>
            <a:r>
              <a:rPr lang="en-US" sz="1150" dirty="0">
                <a:solidFill>
                  <a:srgbClr val="B4BAC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сентября 1914: лётчики замечают, что армия фон Клюка поворачивает восточнее Парижа</a:t>
            </a:r>
            <a:endParaRPr lang="en-US" sz="1400" dirty="0"/>
          </a:p>
        </p:txBody>
      </p:sp>
      <p:sp>
        <p:nvSpPr>
          <p:cNvPr id="13" name="Shape 8"/>
          <p:cNvSpPr/>
          <p:nvPr/>
        </p:nvSpPr>
        <p:spPr>
          <a:xfrm>
            <a:off x="10193731" y="2196158"/>
            <a:ext cx="460858" cy="460858"/>
          </a:xfrm>
          <a:prstGeom prst="ellipse">
            <a:avLst/>
          </a:prstGeom>
          <a:solidFill>
            <a:srgbClr val="E3B64E">
              <a:alpha val="22000"/>
            </a:srgbClr>
          </a:solidFill>
          <a:ln w="12700">
            <a:solidFill>
              <a:srgbClr val="E3B64E">
                <a:alpha val="70000"/>
              </a:srgbClr>
            </a:solidFill>
            <a:prstDash val="solid"/>
          </a:ln>
        </p:spPr>
      </p:sp>
      <p:sp>
        <p:nvSpPr>
          <p:cNvPr id="14" name="Shape 9"/>
          <p:cNvSpPr/>
          <p:nvPr/>
        </p:nvSpPr>
        <p:spPr>
          <a:xfrm>
            <a:off x="10341864" y="2344291"/>
            <a:ext cx="164592" cy="164592"/>
          </a:xfrm>
          <a:prstGeom prst="ellipse">
            <a:avLst/>
          </a:prstGeom>
          <a:solidFill>
            <a:srgbClr val="E3B64E"/>
          </a:solidFill>
          <a:ln w="15875">
            <a:solidFill>
              <a:srgbClr val="FFFFFF"/>
            </a:solidFill>
            <a:prstDash val="solid"/>
          </a:ln>
        </p:spPr>
      </p:sp>
      <p:sp>
        <p:nvSpPr>
          <p:cNvPr id="15" name="Text 10"/>
          <p:cNvSpPr txBox="1"/>
          <p:nvPr/>
        </p:nvSpPr>
        <p:spPr>
          <a:xfrm>
            <a:off x="7360920" y="1237867"/>
            <a:ext cx="27432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700" b="1" dirty="0">
                <a:solidFill>
                  <a:srgbClr val="F5F3E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Танненберг</a:t>
            </a:r>
            <a:endParaRPr lang="en-US" sz="1400" dirty="0"/>
          </a:p>
          <a:p>
            <a:pPr algn="r" indent="0" marL="0">
              <a:buNone/>
            </a:pPr>
            <a:r>
              <a:rPr lang="en-US" sz="1150" dirty="0">
                <a:solidFill>
                  <a:srgbClr val="B4BAC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август 1914: немецкие лётчики следят за движением русской 2-й армии</a:t>
            </a:r>
            <a:endParaRPr lang="en-US" sz="1400" dirty="0"/>
          </a:p>
        </p:txBody>
      </p:sp>
      <p:sp>
        <p:nvSpPr>
          <p:cNvPr id="16" name="Shape 11"/>
          <p:cNvSpPr/>
          <p:nvPr/>
        </p:nvSpPr>
        <p:spPr>
          <a:xfrm>
            <a:off x="4892040" y="4251960"/>
            <a:ext cx="91440" cy="91440"/>
          </a:xfrm>
          <a:prstGeom prst="ellipse">
            <a:avLst/>
          </a:prstGeom>
          <a:solidFill>
            <a:srgbClr val="F5F3EF"/>
          </a:solidFill>
          <a:ln w="12700">
            <a:solidFill>
              <a:srgbClr val="F5F3EF"/>
            </a:solidFill>
            <a:prstDash val="solid"/>
          </a:ln>
        </p:spPr>
      </p:sp>
      <p:sp>
        <p:nvSpPr>
          <p:cNvPr id="17" name="Text 12"/>
          <p:cNvSpPr txBox="1"/>
          <p:nvPr/>
        </p:nvSpPr>
        <p:spPr>
          <a:xfrm>
            <a:off x="3749040" y="4187952"/>
            <a:ext cx="10972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050" dirty="0">
                <a:solidFill>
                  <a:srgbClr val="B4BAC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Париж</a:t>
            </a:r>
            <a:endParaRPr lang="en-US" sz="1050" dirty="0"/>
          </a:p>
        </p:txBody>
      </p:sp>
      <p:sp>
        <p:nvSpPr>
          <p:cNvPr id="18" name="Shape 13"/>
          <p:cNvSpPr/>
          <p:nvPr/>
        </p:nvSpPr>
        <p:spPr>
          <a:xfrm>
            <a:off x="8436851" y="2872412"/>
            <a:ext cx="91440" cy="91440"/>
          </a:xfrm>
          <a:prstGeom prst="ellipse">
            <a:avLst/>
          </a:prstGeom>
          <a:solidFill>
            <a:srgbClr val="F5F3EF"/>
          </a:solidFill>
          <a:ln w="12700">
            <a:solidFill>
              <a:srgbClr val="F5F3EF"/>
            </a:solidFill>
            <a:prstDash val="solid"/>
          </a:ln>
        </p:spPr>
      </p:sp>
      <p:sp>
        <p:nvSpPr>
          <p:cNvPr id="19" name="Text 14"/>
          <p:cNvSpPr txBox="1"/>
          <p:nvPr/>
        </p:nvSpPr>
        <p:spPr>
          <a:xfrm>
            <a:off x="8574011" y="2808404"/>
            <a:ext cx="10972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50" dirty="0">
                <a:solidFill>
                  <a:srgbClr val="B4BAC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Берлин</a:t>
            </a:r>
            <a:endParaRPr lang="en-US" sz="1050" dirty="0"/>
          </a:p>
        </p:txBody>
      </p:sp>
      <p:sp>
        <p:nvSpPr>
          <p:cNvPr id="20" name="Shape 15"/>
          <p:cNvSpPr/>
          <p:nvPr/>
        </p:nvSpPr>
        <p:spPr>
          <a:xfrm>
            <a:off x="4397512" y="2843958"/>
            <a:ext cx="91440" cy="91440"/>
          </a:xfrm>
          <a:prstGeom prst="ellipse">
            <a:avLst/>
          </a:prstGeom>
          <a:solidFill>
            <a:srgbClr val="F5F3EF"/>
          </a:solidFill>
          <a:ln w="12700">
            <a:solidFill>
              <a:srgbClr val="F5F3EF"/>
            </a:solidFill>
            <a:prstDash val="solid"/>
          </a:ln>
        </p:spPr>
      </p:sp>
      <p:sp>
        <p:nvSpPr>
          <p:cNvPr id="21" name="Text 16"/>
          <p:cNvSpPr txBox="1"/>
          <p:nvPr/>
        </p:nvSpPr>
        <p:spPr>
          <a:xfrm>
            <a:off x="4534672" y="2779950"/>
            <a:ext cx="10972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50" dirty="0">
                <a:solidFill>
                  <a:srgbClr val="B4BAC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Лондон</a:t>
            </a:r>
            <a:endParaRPr lang="en-US" sz="1050" dirty="0"/>
          </a:p>
        </p:txBody>
      </p:sp>
      <p:sp>
        <p:nvSpPr>
          <p:cNvPr id="22" name="Shape 17"/>
          <p:cNvSpPr/>
          <p:nvPr/>
        </p:nvSpPr>
        <p:spPr>
          <a:xfrm>
            <a:off x="10681709" y="2975190"/>
            <a:ext cx="91440" cy="91440"/>
          </a:xfrm>
          <a:prstGeom prst="ellipse">
            <a:avLst/>
          </a:prstGeom>
          <a:solidFill>
            <a:srgbClr val="F5F3EF"/>
          </a:solidFill>
          <a:ln w="12700">
            <a:solidFill>
              <a:srgbClr val="F5F3EF"/>
            </a:solidFill>
            <a:prstDash val="solid"/>
          </a:ln>
        </p:spPr>
      </p:sp>
      <p:sp>
        <p:nvSpPr>
          <p:cNvPr id="23" name="Text 18"/>
          <p:cNvSpPr txBox="1"/>
          <p:nvPr/>
        </p:nvSpPr>
        <p:spPr>
          <a:xfrm>
            <a:off x="10818869" y="2911182"/>
            <a:ext cx="10972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50" dirty="0">
                <a:solidFill>
                  <a:srgbClr val="B4BAC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Варшава</a:t>
            </a:r>
            <a:endParaRPr lang="en-US" sz="1050" dirty="0"/>
          </a:p>
        </p:txBody>
      </p:sp>
      <p:sp>
        <p:nvSpPr>
          <p:cNvPr id="24" name="Text 19"/>
          <p:cNvSpPr txBox="1"/>
          <p:nvPr/>
        </p:nvSpPr>
        <p:spPr>
          <a:xfrm>
            <a:off x="548640" y="1508760"/>
            <a:ext cx="420624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F5F3E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Разведка — главная работа самолёта в 1914 году. </a:t>
            </a:r>
            <a:pPr indent="0" marL="0">
              <a:buNone/>
            </a:pPr>
            <a:r>
              <a:rPr lang="en-US" sz="1350" dirty="0">
                <a:solidFill>
                  <a:srgbClr val="B4BAC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 сентября лётчики корректируют огонь артиллерии по радио, а в марте 1915-го у Нев-Шапеля британцы впервые готовят наступление по картам, составленным по аэроснимкам.</a:t>
            </a:r>
            <a:endParaRPr lang="en-US" sz="1350" dirty="0"/>
          </a:p>
        </p:txBody>
      </p:sp>
      <p:sp>
        <p:nvSpPr>
          <p:cNvPr id="25" name="Text 20"/>
          <p:cNvSpPr txBox="1"/>
          <p:nvPr/>
        </p:nvSpPr>
        <p:spPr>
          <a:xfrm>
            <a:off x="548640" y="3063240"/>
            <a:ext cx="4206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i="1" dirty="0">
                <a:solidFill>
                  <a:srgbClr val="E3B64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«Без лётчиков не было бы Танненберга»</a:t>
            </a:r>
            <a:endParaRPr lang="en-US" sz="2000" dirty="0"/>
          </a:p>
        </p:txBody>
      </p:sp>
      <p:sp>
        <p:nvSpPr>
          <p:cNvPr id="26" name="Text 21"/>
          <p:cNvSpPr txBox="1"/>
          <p:nvPr/>
        </p:nvSpPr>
        <p:spPr>
          <a:xfrm>
            <a:off x="548640" y="3794760"/>
            <a:ext cx="4023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7C83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Слова, приписываемые П. фон Гинденбургу</a:t>
            </a:r>
            <a:endParaRPr lang="en-US" sz="1000" dirty="0"/>
          </a:p>
        </p:txBody>
      </p:sp>
      <p:pic>
        <p:nvPicPr>
          <p:cNvPr id="27" name="!!camera" descr="/root/deck2/assets/camera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02920" y="4389120"/>
            <a:ext cx="1691640" cy="1437894"/>
          </a:xfrm>
          <a:prstGeom prst="rect">
            <a:avLst/>
          </a:prstGeom>
        </p:spPr>
      </p:pic>
      <p:pic>
        <p:nvPicPr>
          <p:cNvPr id="28" name="!!flyer" descr="/root/deck2/assets/flyer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 rot="-720000">
            <a:off x="13167360" y="-2194560"/>
            <a:ext cx="2194560" cy="1060247"/>
          </a:xfrm>
          <a:prstGeom prst="rect">
            <a:avLst/>
          </a:prstGeom>
        </p:spPr>
      </p:pic>
      <p:pic>
        <p:nvPicPr>
          <p:cNvPr id="29" name="!!voisin" descr="/root/deck2/assets/voisin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 rot="240000">
            <a:off x="-8778240" y="2194560"/>
            <a:ext cx="7315200" cy="2757673"/>
          </a:xfrm>
          <a:prstGeom prst="rect">
            <a:avLst/>
          </a:prstGeom>
        </p:spPr>
      </p:pic>
      <p:sp>
        <p:nvSpPr>
          <p:cNvPr id="30" name="Text 22"/>
          <p:cNvSpPr txBox="1"/>
          <p:nvPr/>
        </p:nvSpPr>
        <p:spPr>
          <a:xfrm>
            <a:off x="2377440" y="4526280"/>
            <a:ext cx="269748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F5F3E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Камера Уэсли Арчера — американца, служившего в британской авиации. </a:t>
            </a:r>
            <a:pPr indent="0" marL="0">
              <a:buNone/>
            </a:pPr>
            <a:r>
              <a:rPr lang="en-US" sz="1100" dirty="0">
                <a:solidFill>
                  <a:srgbClr val="B4BAC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После войны он «фотографировал» воздушные бои на моделях — подделку раскрыли только в 1980-х.</a:t>
            </a:r>
            <a:endParaRPr lang="en-US" sz="1100" dirty="0"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2000">
        <p159:morph option="byObject"/>
      </p:transition>
    </mc:Choice>
    <mc:Fallback>
      <p:transition spd="slow">
        <p:fade/>
      </p:transition>
    </mc:Fallback>
  </mc:AlternateContent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7090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!!kicker"/>
          <p:cNvSpPr txBox="1"/>
          <p:nvPr/>
        </p:nvSpPr>
        <p:spPr>
          <a:xfrm>
            <a:off x="548640" y="38404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spc="250" kern="0" dirty="0">
                <a:solidFill>
                  <a:srgbClr val="FF45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ГЛАВА 2 · 1914</a:t>
            </a:r>
            <a:endParaRPr lang="en-US" sz="1200" dirty="0"/>
          </a:p>
        </p:txBody>
      </p:sp>
      <p:sp>
        <p:nvSpPr>
          <p:cNvPr id="3" name="!!title"/>
          <p:cNvSpPr txBox="1"/>
          <p:nvPr/>
        </p:nvSpPr>
        <p:spPr>
          <a:xfrm>
            <a:off x="548640" y="658368"/>
            <a:ext cx="54864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0" b="1" spc="-50" kern="0" dirty="0">
                <a:solidFill>
                  <a:srgbClr val="F5F3E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Первые воздушные бои</a:t>
            </a:r>
            <a:endParaRPr lang="en-US" sz="3800" dirty="0"/>
          </a:p>
        </p:txBody>
      </p:sp>
      <p:sp>
        <p:nvSpPr>
          <p:cNvPr id="4" name="!!track"/>
          <p:cNvSpPr/>
          <p:nvPr/>
        </p:nvSpPr>
        <p:spPr>
          <a:xfrm>
            <a:off x="548640" y="6519672"/>
            <a:ext cx="2194560" cy="32004"/>
          </a:xfrm>
          <a:prstGeom prst="rect">
            <a:avLst/>
          </a:prstGeom>
          <a:solidFill>
            <a:srgbClr val="2A2F38"/>
          </a:solidFill>
          <a:ln w="12700">
            <a:solidFill>
              <a:srgbClr val="2A2F38"/>
            </a:solidFill>
            <a:prstDash val="solid"/>
          </a:ln>
        </p:spPr>
      </p:sp>
      <p:sp>
        <p:nvSpPr>
          <p:cNvPr id="5" name="!!prog"/>
          <p:cNvSpPr/>
          <p:nvPr/>
        </p:nvSpPr>
        <p:spPr>
          <a:xfrm>
            <a:off x="548640" y="6519672"/>
            <a:ext cx="627017" cy="32004"/>
          </a:xfrm>
          <a:prstGeom prst="rect">
            <a:avLst/>
          </a:prstGeom>
          <a:solidFill>
            <a:srgbClr val="FF453A"/>
          </a:solidFill>
          <a:ln w="12700">
            <a:solidFill>
              <a:srgbClr val="FF453A"/>
            </a:solidFill>
            <a:prstDash val="solid"/>
          </a:ln>
        </p:spPr>
      </p:sp>
      <p:sp>
        <p:nvSpPr>
          <p:cNvPr id="6" name="!!pg"/>
          <p:cNvSpPr txBox="1"/>
          <p:nvPr/>
        </p:nvSpPr>
        <p:spPr>
          <a:xfrm>
            <a:off x="10725912" y="6419088"/>
            <a:ext cx="914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000" dirty="0">
                <a:solidFill>
                  <a:srgbClr val="7C83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04 / 14</a:t>
            </a:r>
            <a:endParaRPr lang="en-US" sz="1000" dirty="0"/>
          </a:p>
        </p:txBody>
      </p:sp>
      <p:pic>
        <p:nvPicPr>
          <p:cNvPr id="7" name="Image 0" descr="/root/deck2/assets/glow_red.png">    </p:cNvPr>
          <p:cNvPicPr>
            <a:picLocks noChangeAspect="1"/>
          </p:cNvPicPr>
          <p:nvPr/>
        </p:nvPicPr>
        <p:blipFill>
          <a:blip r:embed="rId1">
            <a:alphaModFix amt="80000"/>
          </a:blip>
          <a:stretch>
            <a:fillRect/>
          </a:stretch>
        </p:blipFill>
        <p:spPr>
          <a:xfrm>
            <a:off x="5120640" y="-548640"/>
            <a:ext cx="7498080" cy="7498080"/>
          </a:xfrm>
          <a:prstGeom prst="rect">
            <a:avLst/>
          </a:prstGeom>
        </p:spPr>
      </p:pic>
      <p:pic>
        <p:nvPicPr>
          <p:cNvPr id="8" name="!!voisin" descr="/root/deck2/assets/voisin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 rot="-180000">
            <a:off x="4663440" y="1417320"/>
            <a:ext cx="7315200" cy="2757673"/>
          </a:xfrm>
          <a:prstGeom prst="rect">
            <a:avLst/>
          </a:prstGeom>
        </p:spPr>
      </p:pic>
      <p:sp>
        <p:nvSpPr>
          <p:cNvPr id="9" name="Text 5"/>
          <p:cNvSpPr txBox="1"/>
          <p:nvPr/>
        </p:nvSpPr>
        <p:spPr>
          <a:xfrm>
            <a:off x="548640" y="1691640"/>
            <a:ext cx="4114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FF45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 СЕНТЯБРЯ 1914</a:t>
            </a:r>
            <a:endParaRPr lang="en-US" sz="1200" dirty="0"/>
          </a:p>
        </p:txBody>
      </p:sp>
      <p:sp>
        <p:nvSpPr>
          <p:cNvPr id="10" name="Text 6"/>
          <p:cNvSpPr txBox="1"/>
          <p:nvPr/>
        </p:nvSpPr>
        <p:spPr>
          <a:xfrm>
            <a:off x="548640" y="1984248"/>
            <a:ext cx="4114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b="1" dirty="0">
                <a:solidFill>
                  <a:srgbClr val="F5F3E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Таран Нестерова</a:t>
            </a:r>
            <a:endParaRPr lang="en-US" sz="2400" dirty="0"/>
          </a:p>
        </p:txBody>
      </p:sp>
      <p:sp>
        <p:nvSpPr>
          <p:cNvPr id="11" name="Text 7"/>
          <p:cNvSpPr txBox="1"/>
          <p:nvPr/>
        </p:nvSpPr>
        <p:spPr>
          <a:xfrm>
            <a:off x="548640" y="2496312"/>
            <a:ext cx="393192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B4BAC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Под Жолквой Пётр Нестеров ударил своим самолётом австрийский «Альбатрос». Погибли оба экипажа — это первый воздушный таран в истории.</a:t>
            </a:r>
            <a:endParaRPr lang="en-US" sz="1300" dirty="0"/>
          </a:p>
        </p:txBody>
      </p:sp>
      <p:sp>
        <p:nvSpPr>
          <p:cNvPr id="12" name="Text 8"/>
          <p:cNvSpPr txBox="1"/>
          <p:nvPr/>
        </p:nvSpPr>
        <p:spPr>
          <a:xfrm>
            <a:off x="548640" y="3749040"/>
            <a:ext cx="4114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FF45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 ОКТЯБРЯ 1914</a:t>
            </a:r>
            <a:endParaRPr lang="en-US" sz="1200" dirty="0"/>
          </a:p>
        </p:txBody>
      </p:sp>
      <p:sp>
        <p:nvSpPr>
          <p:cNvPr id="13" name="Text 9"/>
          <p:cNvSpPr txBox="1"/>
          <p:nvPr/>
        </p:nvSpPr>
        <p:spPr>
          <a:xfrm>
            <a:off x="548640" y="4041648"/>
            <a:ext cx="4114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b="1" dirty="0">
                <a:solidFill>
                  <a:srgbClr val="F5F3E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Первая победа пулемётом</a:t>
            </a:r>
            <a:endParaRPr lang="en-US" sz="2400" dirty="0"/>
          </a:p>
        </p:txBody>
      </p:sp>
      <p:sp>
        <p:nvSpPr>
          <p:cNvPr id="14" name="Text 10"/>
          <p:cNvSpPr txBox="1"/>
          <p:nvPr/>
        </p:nvSpPr>
        <p:spPr>
          <a:xfrm>
            <a:off x="548640" y="4553712"/>
            <a:ext cx="393192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B4BAC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Под Реймсом Жозеф Франц и Луи Кено на «Вуазене III» сбили германский «Авиатик» из пулемёта «Гочкис».</a:t>
            </a:r>
            <a:endParaRPr lang="en-US" sz="1300" dirty="0"/>
          </a:p>
        </p:txBody>
      </p:sp>
      <p:pic>
        <p:nvPicPr>
          <p:cNvPr id="15" name="!!camera" descr="/root/deck2/assets/camera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2920" y="7589520"/>
            <a:ext cx="1691640" cy="1437894"/>
          </a:xfrm>
          <a:prstGeom prst="rect">
            <a:avLst/>
          </a:prstGeom>
        </p:spPr>
      </p:pic>
      <p:sp>
        <p:nvSpPr>
          <p:cNvPr id="16" name="Text 11"/>
          <p:cNvSpPr txBox="1"/>
          <p:nvPr/>
        </p:nvSpPr>
        <p:spPr>
          <a:xfrm>
            <a:off x="548640" y="5897880"/>
            <a:ext cx="4206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i="1" dirty="0">
                <a:solidFill>
                  <a:srgbClr val="7C83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До этого лётчики стреляли друг в друга из пистолетов и карабинов.</a:t>
            </a:r>
            <a:endParaRPr lang="en-US" sz="1200" dirty="0"/>
          </a:p>
        </p:txBody>
      </p:sp>
      <p:sp>
        <p:nvSpPr>
          <p:cNvPr id="17" name="Text 12"/>
          <p:cNvSpPr txBox="1"/>
          <p:nvPr/>
        </p:nvSpPr>
        <p:spPr>
          <a:xfrm>
            <a:off x="6675120" y="4800600"/>
            <a:ext cx="4937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50" dirty="0">
                <a:solidFill>
                  <a:srgbClr val="7C83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«Вуазен» тип 8 (1916) — прямой потомок «Вуазена III». Экземпляр Смитсоновского музея — старейший сохранившийся самолёт, построенный как бомбардировщик</a:t>
            </a:r>
            <a:endParaRPr lang="en-US" sz="950" dirty="0"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1500">
        <p159:morph option="byObject"/>
      </p:transition>
    </mc:Choice>
    <mc:Fallback>
      <p:transition spd="slow">
        <p:fade/>
      </p:transition>
    </mc:Fallback>
  </mc:AlternateContent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7090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!!kicker"/>
          <p:cNvSpPr txBox="1"/>
          <p:nvPr/>
        </p:nvSpPr>
        <p:spPr>
          <a:xfrm>
            <a:off x="548640" y="38404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spc="250" kern="0" dirty="0">
                <a:solidFill>
                  <a:srgbClr val="FF9F0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ГЛАВА 2 · 1915</a:t>
            </a:r>
            <a:endParaRPr lang="en-US" sz="1200" dirty="0"/>
          </a:p>
        </p:txBody>
      </p:sp>
      <p:sp>
        <p:nvSpPr>
          <p:cNvPr id="3" name="!!title"/>
          <p:cNvSpPr txBox="1"/>
          <p:nvPr/>
        </p:nvSpPr>
        <p:spPr>
          <a:xfrm>
            <a:off x="548640" y="658368"/>
            <a:ext cx="47548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0" b="1" spc="-50" kern="0" dirty="0">
                <a:solidFill>
                  <a:srgbClr val="F5F3E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Стрельба сквозь винт</a:t>
            </a:r>
            <a:endParaRPr lang="en-US" sz="3800" dirty="0"/>
          </a:p>
        </p:txBody>
      </p:sp>
      <p:sp>
        <p:nvSpPr>
          <p:cNvPr id="4" name="!!track"/>
          <p:cNvSpPr/>
          <p:nvPr/>
        </p:nvSpPr>
        <p:spPr>
          <a:xfrm>
            <a:off x="548640" y="6519672"/>
            <a:ext cx="2194560" cy="32004"/>
          </a:xfrm>
          <a:prstGeom prst="rect">
            <a:avLst/>
          </a:prstGeom>
          <a:solidFill>
            <a:srgbClr val="2A2F38"/>
          </a:solidFill>
          <a:ln w="12700">
            <a:solidFill>
              <a:srgbClr val="2A2F38"/>
            </a:solidFill>
            <a:prstDash val="solid"/>
          </a:ln>
        </p:spPr>
      </p:sp>
      <p:sp>
        <p:nvSpPr>
          <p:cNvPr id="5" name="!!prog"/>
          <p:cNvSpPr/>
          <p:nvPr/>
        </p:nvSpPr>
        <p:spPr>
          <a:xfrm>
            <a:off x="548640" y="6519672"/>
            <a:ext cx="783771" cy="32004"/>
          </a:xfrm>
          <a:prstGeom prst="rect">
            <a:avLst/>
          </a:prstGeom>
          <a:solidFill>
            <a:srgbClr val="FF9F0A"/>
          </a:solidFill>
          <a:ln w="12700">
            <a:solidFill>
              <a:srgbClr val="FF9F0A"/>
            </a:solidFill>
            <a:prstDash val="solid"/>
          </a:ln>
        </p:spPr>
      </p:sp>
      <p:sp>
        <p:nvSpPr>
          <p:cNvPr id="6" name="!!pg"/>
          <p:cNvSpPr txBox="1"/>
          <p:nvPr/>
        </p:nvSpPr>
        <p:spPr>
          <a:xfrm>
            <a:off x="10725912" y="6419088"/>
            <a:ext cx="914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000" dirty="0">
                <a:solidFill>
                  <a:srgbClr val="7C83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05 / 14</a:t>
            </a:r>
            <a:endParaRPr lang="en-US" sz="1000" dirty="0"/>
          </a:p>
        </p:txBody>
      </p:sp>
      <p:pic>
        <p:nvPicPr>
          <p:cNvPr id="7" name="Image 0" descr="/root/deck2/assets/gun_photo.jp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5029200" y="0"/>
            <a:ext cx="7162495" cy="6858000"/>
          </a:xfrm>
          <a:prstGeom prst="rect">
            <a:avLst/>
          </a:prstGeom>
        </p:spPr>
      </p:pic>
      <p:pic>
        <p:nvPicPr>
          <p:cNvPr id="8" name="Image 1" descr="/root/deck2/assets/grad_left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83480" y="0"/>
            <a:ext cx="3108960" cy="6858000"/>
          </a:xfrm>
          <a:prstGeom prst="rect">
            <a:avLst/>
          </a:prstGeom>
        </p:spPr>
      </p:pic>
      <p:pic>
        <p:nvPicPr>
          <p:cNvPr id="9" name="Image 2" descr="/root/deck2/assets/grad_bottom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29200" y="5120640"/>
            <a:ext cx="7162495" cy="1737360"/>
          </a:xfrm>
          <a:prstGeom prst="rect">
            <a:avLst/>
          </a:prstGeom>
        </p:spPr>
      </p:pic>
      <p:sp>
        <p:nvSpPr>
          <p:cNvPr id="10" name="Shape 5"/>
          <p:cNvSpPr/>
          <p:nvPr/>
        </p:nvSpPr>
        <p:spPr>
          <a:xfrm>
            <a:off x="658368" y="1627632"/>
            <a:ext cx="0" cy="4343400"/>
          </a:xfrm>
          <a:prstGeom prst="line">
            <a:avLst/>
          </a:prstGeom>
          <a:noFill/>
          <a:ln w="19050">
            <a:solidFill>
              <a:srgbClr val="2A2F38"/>
            </a:solidFill>
            <a:prstDash val="solid"/>
          </a:ln>
        </p:spPr>
      </p:sp>
      <p:sp>
        <p:nvSpPr>
          <p:cNvPr id="11" name="Shape 6"/>
          <p:cNvSpPr/>
          <p:nvPr/>
        </p:nvSpPr>
        <p:spPr>
          <a:xfrm>
            <a:off x="585216" y="1554480"/>
            <a:ext cx="146304" cy="146304"/>
          </a:xfrm>
          <a:prstGeom prst="ellipse">
            <a:avLst/>
          </a:prstGeom>
          <a:solidFill>
            <a:srgbClr val="7C838F"/>
          </a:solidFill>
          <a:ln w="25400">
            <a:solidFill>
              <a:srgbClr val="07090D"/>
            </a:solidFill>
            <a:prstDash val="solid"/>
          </a:ln>
        </p:spPr>
      </p:sp>
      <p:sp>
        <p:nvSpPr>
          <p:cNvPr id="12" name="Text 7"/>
          <p:cNvSpPr txBox="1"/>
          <p:nvPr/>
        </p:nvSpPr>
        <p:spPr>
          <a:xfrm>
            <a:off x="914400" y="1481328"/>
            <a:ext cx="1280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F5F3E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 апр. 1915</a:t>
            </a:r>
            <a:endParaRPr lang="en-US" sz="1250" dirty="0"/>
          </a:p>
        </p:txBody>
      </p:sp>
      <p:sp>
        <p:nvSpPr>
          <p:cNvPr id="13" name="Text 8"/>
          <p:cNvSpPr txBox="1"/>
          <p:nvPr/>
        </p:nvSpPr>
        <p:spPr>
          <a:xfrm>
            <a:off x="2194560" y="1481328"/>
            <a:ext cx="30175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B4BAC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Ролан Гаррос сбивает самолёт, стреляя сквозь винт: стальные клинья на лопастях отражают пули</a:t>
            </a:r>
            <a:endParaRPr lang="en-US" sz="1200" dirty="0"/>
          </a:p>
        </p:txBody>
      </p:sp>
      <p:sp>
        <p:nvSpPr>
          <p:cNvPr id="14" name="Shape 9"/>
          <p:cNvSpPr/>
          <p:nvPr/>
        </p:nvSpPr>
        <p:spPr>
          <a:xfrm>
            <a:off x="585216" y="2487168"/>
            <a:ext cx="146304" cy="146304"/>
          </a:xfrm>
          <a:prstGeom prst="ellipse">
            <a:avLst/>
          </a:prstGeom>
          <a:solidFill>
            <a:srgbClr val="7C838F"/>
          </a:solidFill>
          <a:ln w="25400">
            <a:solidFill>
              <a:srgbClr val="07090D"/>
            </a:solidFill>
            <a:prstDash val="solid"/>
          </a:ln>
        </p:spPr>
      </p:sp>
      <p:sp>
        <p:nvSpPr>
          <p:cNvPr id="15" name="Text 10"/>
          <p:cNvSpPr txBox="1"/>
          <p:nvPr/>
        </p:nvSpPr>
        <p:spPr>
          <a:xfrm>
            <a:off x="914400" y="2414016"/>
            <a:ext cx="1280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F5F3E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18 апр. 1915</a:t>
            </a:r>
            <a:endParaRPr lang="en-US" sz="1250" dirty="0"/>
          </a:p>
        </p:txBody>
      </p:sp>
      <p:sp>
        <p:nvSpPr>
          <p:cNvPr id="16" name="Text 11"/>
          <p:cNvSpPr txBox="1"/>
          <p:nvPr/>
        </p:nvSpPr>
        <p:spPr>
          <a:xfrm>
            <a:off x="2194560" y="2414016"/>
            <a:ext cx="30175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B4BAC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Гаррос садится за линией фронта и попадает в плен. Немцы изучают его самолёт</a:t>
            </a:r>
            <a:endParaRPr lang="en-US" sz="1200" dirty="0"/>
          </a:p>
        </p:txBody>
      </p:sp>
      <p:sp>
        <p:nvSpPr>
          <p:cNvPr id="17" name="Shape 12"/>
          <p:cNvSpPr/>
          <p:nvPr/>
        </p:nvSpPr>
        <p:spPr>
          <a:xfrm>
            <a:off x="585216" y="3419856"/>
            <a:ext cx="146304" cy="146304"/>
          </a:xfrm>
          <a:prstGeom prst="ellipse">
            <a:avLst/>
          </a:prstGeom>
          <a:solidFill>
            <a:srgbClr val="FF9F0A"/>
          </a:solidFill>
          <a:ln w="25400">
            <a:solidFill>
              <a:srgbClr val="07090D"/>
            </a:solidFill>
            <a:prstDash val="solid"/>
          </a:ln>
        </p:spPr>
      </p:sp>
      <p:sp>
        <p:nvSpPr>
          <p:cNvPr id="18" name="Text 13"/>
          <p:cNvSpPr txBox="1"/>
          <p:nvPr/>
        </p:nvSpPr>
        <p:spPr>
          <a:xfrm>
            <a:off x="914400" y="3346704"/>
            <a:ext cx="1280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FF9F0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лето 1915</a:t>
            </a:r>
            <a:endParaRPr lang="en-US" sz="1250" dirty="0"/>
          </a:p>
        </p:txBody>
      </p:sp>
      <p:sp>
        <p:nvSpPr>
          <p:cNvPr id="19" name="Text 14"/>
          <p:cNvSpPr txBox="1"/>
          <p:nvPr/>
        </p:nvSpPr>
        <p:spPr>
          <a:xfrm>
            <a:off x="2194560" y="3346704"/>
            <a:ext cx="30175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B4BAC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Фирма Фоккера ставит синхронизатор: мотор «разрешает» выстрел, только когда перед стволом нет лопасти</a:t>
            </a:r>
            <a:endParaRPr lang="en-US" sz="1200" dirty="0"/>
          </a:p>
        </p:txBody>
      </p:sp>
      <p:sp>
        <p:nvSpPr>
          <p:cNvPr id="20" name="Shape 15"/>
          <p:cNvSpPr/>
          <p:nvPr/>
        </p:nvSpPr>
        <p:spPr>
          <a:xfrm>
            <a:off x="585216" y="4352544"/>
            <a:ext cx="146304" cy="146304"/>
          </a:xfrm>
          <a:prstGeom prst="ellipse">
            <a:avLst/>
          </a:prstGeom>
          <a:solidFill>
            <a:srgbClr val="7C838F"/>
          </a:solidFill>
          <a:ln w="25400">
            <a:solidFill>
              <a:srgbClr val="07090D"/>
            </a:solidFill>
            <a:prstDash val="solid"/>
          </a:ln>
        </p:spPr>
      </p:sp>
      <p:sp>
        <p:nvSpPr>
          <p:cNvPr id="21" name="Text 16"/>
          <p:cNvSpPr txBox="1"/>
          <p:nvPr/>
        </p:nvSpPr>
        <p:spPr>
          <a:xfrm>
            <a:off x="914400" y="4279392"/>
            <a:ext cx="1280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F5F3E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 июля 1915</a:t>
            </a:r>
            <a:endParaRPr lang="en-US" sz="1250" dirty="0"/>
          </a:p>
        </p:txBody>
      </p:sp>
      <p:sp>
        <p:nvSpPr>
          <p:cNvPr id="22" name="Text 17"/>
          <p:cNvSpPr txBox="1"/>
          <p:nvPr/>
        </p:nvSpPr>
        <p:spPr>
          <a:xfrm>
            <a:off x="2194560" y="4279392"/>
            <a:ext cx="30175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B4BAC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Курт Винтгенс ведёт первый бой с синхронным пулемётом. Начинается «бич Фоккера»</a:t>
            </a:r>
            <a:endParaRPr lang="en-US" sz="1200" dirty="0"/>
          </a:p>
        </p:txBody>
      </p:sp>
      <p:sp>
        <p:nvSpPr>
          <p:cNvPr id="23" name="Shape 18"/>
          <p:cNvSpPr/>
          <p:nvPr/>
        </p:nvSpPr>
        <p:spPr>
          <a:xfrm>
            <a:off x="585216" y="5285232"/>
            <a:ext cx="146304" cy="146304"/>
          </a:xfrm>
          <a:prstGeom prst="ellipse">
            <a:avLst/>
          </a:prstGeom>
          <a:solidFill>
            <a:srgbClr val="7C838F"/>
          </a:solidFill>
          <a:ln w="25400">
            <a:solidFill>
              <a:srgbClr val="07090D"/>
            </a:solidFill>
            <a:prstDash val="solid"/>
          </a:ln>
        </p:spPr>
      </p:sp>
      <p:sp>
        <p:nvSpPr>
          <p:cNvPr id="24" name="Text 19"/>
          <p:cNvSpPr txBox="1"/>
          <p:nvPr/>
        </p:nvSpPr>
        <p:spPr>
          <a:xfrm>
            <a:off x="914400" y="5212080"/>
            <a:ext cx="1280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F5F3E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начало 1916</a:t>
            </a:r>
            <a:endParaRPr lang="en-US" sz="1250" dirty="0"/>
          </a:p>
        </p:txBody>
      </p:sp>
      <p:sp>
        <p:nvSpPr>
          <p:cNvPr id="25" name="Text 20"/>
          <p:cNvSpPr txBox="1"/>
          <p:nvPr/>
        </p:nvSpPr>
        <p:spPr>
          <a:xfrm>
            <a:off x="2194560" y="5212080"/>
            <a:ext cx="30175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B4BAC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Nieuport 11 и Airco DH.2 возвращают союзникам равенство в воздухе</a:t>
            </a:r>
            <a:endParaRPr lang="en-US" sz="1200" dirty="0"/>
          </a:p>
        </p:txBody>
      </p:sp>
      <p:pic>
        <p:nvPicPr>
          <p:cNvPr id="26" name="!!voisin" descr="/root/deck2/assets/voisin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 rot="-840000">
            <a:off x="13350240" y="-2926080"/>
            <a:ext cx="5943600" cy="2240609"/>
          </a:xfrm>
          <a:prstGeom prst="rect">
            <a:avLst/>
          </a:prstGeom>
        </p:spPr>
      </p:pic>
      <p:sp>
        <p:nvSpPr>
          <p:cNvPr id="27" name="Text 21"/>
          <p:cNvSpPr txBox="1"/>
          <p:nvPr/>
        </p:nvSpPr>
        <p:spPr>
          <a:xfrm>
            <a:off x="7589520" y="5989320"/>
            <a:ext cx="4114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50" dirty="0">
                <a:solidFill>
                  <a:srgbClr val="B4BAC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Синхронный пулемёт LMG 08/15 на истребителе Fokker D.VII (1918). За ним — «ромбовый» камуфляж крыла</a:t>
            </a:r>
            <a:endParaRPr lang="en-US" sz="950" dirty="0"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1500">
        <p159:morph option="byObject"/>
      </p:transition>
    </mc:Choice>
    <mc:Fallback>
      <p:transition spd="slow">
        <p:fade/>
      </p:transition>
    </mc:Fallback>
  </mc:AlternateContent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5F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!!kicker"/>
          <p:cNvSpPr txBox="1"/>
          <p:nvPr/>
        </p:nvSpPr>
        <p:spPr>
          <a:xfrm>
            <a:off x="548640" y="38404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spc="250" kern="0" dirty="0">
                <a:solidFill>
                  <a:srgbClr val="0A84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ГЛАВА 3 · 1914–1918</a:t>
            </a:r>
            <a:endParaRPr lang="en-US" sz="1200" dirty="0"/>
          </a:p>
        </p:txBody>
      </p:sp>
      <p:sp>
        <p:nvSpPr>
          <p:cNvPr id="3" name="!!title"/>
          <p:cNvSpPr txBox="1"/>
          <p:nvPr/>
        </p:nvSpPr>
        <p:spPr>
          <a:xfrm>
            <a:off x="548640" y="658368"/>
            <a:ext cx="100584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0" b="1" spc="-50" kern="0" dirty="0">
                <a:solidFill>
                  <a:srgbClr val="1D1D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От «этажерки» к истребителю</a:t>
            </a:r>
            <a:endParaRPr lang="en-US" sz="3800" dirty="0"/>
          </a:p>
        </p:txBody>
      </p:sp>
      <p:sp>
        <p:nvSpPr>
          <p:cNvPr id="4" name="!!track"/>
          <p:cNvSpPr/>
          <p:nvPr/>
        </p:nvSpPr>
        <p:spPr>
          <a:xfrm>
            <a:off x="548640" y="6519672"/>
            <a:ext cx="2194560" cy="32004"/>
          </a:xfrm>
          <a:prstGeom prst="rect">
            <a:avLst/>
          </a:prstGeom>
          <a:solidFill>
            <a:srgbClr val="D2D2D7"/>
          </a:solidFill>
          <a:ln w="12700">
            <a:solidFill>
              <a:srgbClr val="D2D2D7"/>
            </a:solidFill>
            <a:prstDash val="solid"/>
          </a:ln>
        </p:spPr>
      </p:sp>
      <p:sp>
        <p:nvSpPr>
          <p:cNvPr id="5" name="!!prog"/>
          <p:cNvSpPr/>
          <p:nvPr/>
        </p:nvSpPr>
        <p:spPr>
          <a:xfrm>
            <a:off x="548640" y="6519672"/>
            <a:ext cx="940526" cy="32004"/>
          </a:xfrm>
          <a:prstGeom prst="rect">
            <a:avLst/>
          </a:prstGeom>
          <a:solidFill>
            <a:srgbClr val="0A84FF"/>
          </a:solidFill>
          <a:ln w="12700">
            <a:solidFill>
              <a:srgbClr val="0A84FF"/>
            </a:solidFill>
            <a:prstDash val="solid"/>
          </a:ln>
        </p:spPr>
      </p:sp>
      <p:sp>
        <p:nvSpPr>
          <p:cNvPr id="6" name="!!pg"/>
          <p:cNvSpPr txBox="1"/>
          <p:nvPr/>
        </p:nvSpPr>
        <p:spPr>
          <a:xfrm>
            <a:off x="10725912" y="6419088"/>
            <a:ext cx="914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000" dirty="0">
                <a:solidFill>
                  <a:srgbClr val="8686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06 / 14</a:t>
            </a:r>
            <a:endParaRPr lang="en-US" sz="1000" dirty="0"/>
          </a:p>
        </p:txBody>
      </p:sp>
      <p:pic>
        <p:nvPicPr>
          <p:cNvPr id="7" name="!!voisin" descr="/root/deck2/assets/voisin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02920" y="2142248"/>
            <a:ext cx="2176272" cy="820408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502920" y="3246120"/>
            <a:ext cx="109728" cy="109728"/>
          </a:xfrm>
          <a:prstGeom prst="ellipse">
            <a:avLst/>
          </a:prstGeom>
          <a:solidFill>
            <a:srgbClr val="4E93D8"/>
          </a:solidFill>
          <a:ln w="12700">
            <a:solidFill>
              <a:srgbClr val="4E93D8"/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685800" y="3145536"/>
            <a:ext cx="20116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1D1D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«Вуазен»</a:t>
            </a:r>
            <a:endParaRPr lang="en-US" sz="1600" dirty="0"/>
          </a:p>
        </p:txBody>
      </p:sp>
      <p:sp>
        <p:nvSpPr>
          <p:cNvPr id="10" name="Text 7"/>
          <p:cNvSpPr txBox="1"/>
          <p:nvPr/>
        </p:nvSpPr>
        <p:spPr>
          <a:xfrm>
            <a:off x="502920" y="3493008"/>
            <a:ext cx="2148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51515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Франция · 1914–1916</a:t>
            </a:r>
            <a:endParaRPr lang="en-US" sz="1100" dirty="0"/>
          </a:p>
        </p:txBody>
      </p:sp>
      <p:sp>
        <p:nvSpPr>
          <p:cNvPr id="11" name="Text 8"/>
          <p:cNvSpPr txBox="1"/>
          <p:nvPr/>
        </p:nvSpPr>
        <p:spPr>
          <a:xfrm>
            <a:off x="502920" y="3931920"/>
            <a:ext cx="21488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800" b="1" spc="-100" kern="0" dirty="0">
                <a:solidFill>
                  <a:srgbClr val="1D1D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≈100–120</a:t>
            </a:r>
            <a:endParaRPr lang="en-US" sz="3800" dirty="0"/>
          </a:p>
        </p:txBody>
      </p:sp>
      <p:sp>
        <p:nvSpPr>
          <p:cNvPr id="12" name="Text 9"/>
          <p:cNvSpPr txBox="1"/>
          <p:nvPr/>
        </p:nvSpPr>
        <p:spPr>
          <a:xfrm>
            <a:off x="502920" y="4645152"/>
            <a:ext cx="2148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8686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км/ч максимальная скорость</a:t>
            </a:r>
            <a:endParaRPr lang="en-US" sz="1050" dirty="0"/>
          </a:p>
        </p:txBody>
      </p:sp>
      <p:sp>
        <p:nvSpPr>
          <p:cNvPr id="13" name="Text 10"/>
          <p:cNvSpPr txBox="1"/>
          <p:nvPr/>
        </p:nvSpPr>
        <p:spPr>
          <a:xfrm>
            <a:off x="502920" y="5074920"/>
            <a:ext cx="20574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51515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Бомбардировщик-«этажерка» с толкающим винтом</a:t>
            </a:r>
            <a:endParaRPr lang="en-US" sz="1150" dirty="0"/>
          </a:p>
        </p:txBody>
      </p:sp>
      <p:pic>
        <p:nvPicPr>
          <p:cNvPr id="14" name="Image 1" descr="/root/deck2/assets/spa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88920" y="2043181"/>
            <a:ext cx="2176272" cy="919475"/>
          </a:xfrm>
          <a:prstGeom prst="rect">
            <a:avLst/>
          </a:prstGeom>
        </p:spPr>
      </p:pic>
      <p:sp>
        <p:nvSpPr>
          <p:cNvPr id="15" name="Shape 11"/>
          <p:cNvSpPr/>
          <p:nvPr/>
        </p:nvSpPr>
        <p:spPr>
          <a:xfrm>
            <a:off x="2788920" y="3246120"/>
            <a:ext cx="109728" cy="109728"/>
          </a:xfrm>
          <a:prstGeom prst="ellipse">
            <a:avLst/>
          </a:prstGeom>
          <a:solidFill>
            <a:srgbClr val="4E93D8"/>
          </a:solidFill>
          <a:ln w="12700">
            <a:solidFill>
              <a:srgbClr val="4E93D8"/>
            </a:solidFill>
            <a:prstDash val="solid"/>
          </a:ln>
        </p:spPr>
      </p:sp>
      <p:sp>
        <p:nvSpPr>
          <p:cNvPr id="16" name="Text 12"/>
          <p:cNvSpPr txBox="1"/>
          <p:nvPr/>
        </p:nvSpPr>
        <p:spPr>
          <a:xfrm>
            <a:off x="2971800" y="3145536"/>
            <a:ext cx="20116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1D1D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SPAD S.XIII</a:t>
            </a:r>
            <a:endParaRPr lang="en-US" sz="1600" dirty="0"/>
          </a:p>
        </p:txBody>
      </p:sp>
      <p:sp>
        <p:nvSpPr>
          <p:cNvPr id="17" name="Text 13"/>
          <p:cNvSpPr txBox="1"/>
          <p:nvPr/>
        </p:nvSpPr>
        <p:spPr>
          <a:xfrm>
            <a:off x="2788920" y="3493008"/>
            <a:ext cx="2148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51515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Франция · 1917</a:t>
            </a:r>
            <a:endParaRPr lang="en-US" sz="1100" dirty="0"/>
          </a:p>
        </p:txBody>
      </p:sp>
      <p:sp>
        <p:nvSpPr>
          <p:cNvPr id="18" name="Text 14"/>
          <p:cNvSpPr txBox="1"/>
          <p:nvPr/>
        </p:nvSpPr>
        <p:spPr>
          <a:xfrm>
            <a:off x="2788920" y="3931920"/>
            <a:ext cx="21488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800" b="1" spc="-100" kern="0" dirty="0">
                <a:solidFill>
                  <a:srgbClr val="1D1D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≈210</a:t>
            </a:r>
            <a:endParaRPr lang="en-US" sz="3800" dirty="0"/>
          </a:p>
        </p:txBody>
      </p:sp>
      <p:sp>
        <p:nvSpPr>
          <p:cNvPr id="19" name="Text 15"/>
          <p:cNvSpPr txBox="1"/>
          <p:nvPr/>
        </p:nvSpPr>
        <p:spPr>
          <a:xfrm>
            <a:off x="2788920" y="4645152"/>
            <a:ext cx="2148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8686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км/ч максимальная скорость</a:t>
            </a:r>
            <a:endParaRPr lang="en-US" sz="1050" dirty="0"/>
          </a:p>
        </p:txBody>
      </p:sp>
      <p:sp>
        <p:nvSpPr>
          <p:cNvPr id="20" name="Text 16"/>
          <p:cNvSpPr txBox="1"/>
          <p:nvPr/>
        </p:nvSpPr>
        <p:spPr>
          <a:xfrm>
            <a:off x="2788920" y="5074920"/>
            <a:ext cx="20574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51515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8 472 машины к концу 1918 г. Летали Фонк, Гинемер, Рикенбакер</a:t>
            </a:r>
            <a:endParaRPr lang="en-US" sz="1150" dirty="0"/>
          </a:p>
        </p:txBody>
      </p:sp>
      <p:pic>
        <p:nvPicPr>
          <p:cNvPr id="21" name="Image 2" descr="/root/deck2/assets/camel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74920" y="2054062"/>
            <a:ext cx="2176272" cy="908594"/>
          </a:xfrm>
          <a:prstGeom prst="rect">
            <a:avLst/>
          </a:prstGeom>
        </p:spPr>
      </p:pic>
      <p:sp>
        <p:nvSpPr>
          <p:cNvPr id="22" name="Shape 17"/>
          <p:cNvSpPr/>
          <p:nvPr/>
        </p:nvSpPr>
        <p:spPr>
          <a:xfrm>
            <a:off x="5074920" y="3246120"/>
            <a:ext cx="109728" cy="109728"/>
          </a:xfrm>
          <a:prstGeom prst="ellipse">
            <a:avLst/>
          </a:prstGeom>
          <a:solidFill>
            <a:srgbClr val="4E93D8"/>
          </a:solidFill>
          <a:ln w="12700">
            <a:solidFill>
              <a:srgbClr val="4E93D8"/>
            </a:solidFill>
            <a:prstDash val="solid"/>
          </a:ln>
        </p:spPr>
      </p:sp>
      <p:sp>
        <p:nvSpPr>
          <p:cNvPr id="23" name="Text 18"/>
          <p:cNvSpPr txBox="1"/>
          <p:nvPr/>
        </p:nvSpPr>
        <p:spPr>
          <a:xfrm>
            <a:off x="5257800" y="3145536"/>
            <a:ext cx="20116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1D1D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Sopwith Camel</a:t>
            </a:r>
            <a:endParaRPr lang="en-US" sz="1600" dirty="0"/>
          </a:p>
        </p:txBody>
      </p:sp>
      <p:sp>
        <p:nvSpPr>
          <p:cNvPr id="24" name="Text 19"/>
          <p:cNvSpPr txBox="1"/>
          <p:nvPr/>
        </p:nvSpPr>
        <p:spPr>
          <a:xfrm>
            <a:off x="5074920" y="3493008"/>
            <a:ext cx="2148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51515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Великобритания · 1917</a:t>
            </a:r>
            <a:endParaRPr lang="en-US" sz="1100" dirty="0"/>
          </a:p>
        </p:txBody>
      </p:sp>
      <p:sp>
        <p:nvSpPr>
          <p:cNvPr id="25" name="Text 20"/>
          <p:cNvSpPr txBox="1"/>
          <p:nvPr/>
        </p:nvSpPr>
        <p:spPr>
          <a:xfrm>
            <a:off x="5074920" y="3931920"/>
            <a:ext cx="21488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800" b="1" spc="-100" kern="0" dirty="0">
                <a:solidFill>
                  <a:srgbClr val="1D1D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≈185</a:t>
            </a:r>
            <a:endParaRPr lang="en-US" sz="3800" dirty="0"/>
          </a:p>
        </p:txBody>
      </p:sp>
      <p:sp>
        <p:nvSpPr>
          <p:cNvPr id="26" name="Text 21"/>
          <p:cNvSpPr txBox="1"/>
          <p:nvPr/>
        </p:nvSpPr>
        <p:spPr>
          <a:xfrm>
            <a:off x="5074920" y="4645152"/>
            <a:ext cx="2148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8686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км/ч максимальная скорость</a:t>
            </a:r>
            <a:endParaRPr lang="en-US" sz="1050" dirty="0"/>
          </a:p>
        </p:txBody>
      </p:sp>
      <p:sp>
        <p:nvSpPr>
          <p:cNvPr id="27" name="Text 22"/>
          <p:cNvSpPr txBox="1"/>
          <p:nvPr/>
        </p:nvSpPr>
        <p:spPr>
          <a:xfrm>
            <a:off x="5074920" y="5074920"/>
            <a:ext cx="20574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51515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1 294 сбитых самолёта — рекорд среди истребителей союзников</a:t>
            </a:r>
            <a:endParaRPr lang="en-US" sz="1150" dirty="0"/>
          </a:p>
        </p:txBody>
      </p:sp>
      <p:pic>
        <p:nvPicPr>
          <p:cNvPr id="28" name="Image 3" descr="/root/deck2/assets/fokker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360920" y="1950690"/>
            <a:ext cx="2176272" cy="1011966"/>
          </a:xfrm>
          <a:prstGeom prst="rect">
            <a:avLst/>
          </a:prstGeom>
        </p:spPr>
      </p:pic>
      <p:sp>
        <p:nvSpPr>
          <p:cNvPr id="29" name="Shape 23"/>
          <p:cNvSpPr/>
          <p:nvPr/>
        </p:nvSpPr>
        <p:spPr>
          <a:xfrm>
            <a:off x="7360920" y="3246120"/>
            <a:ext cx="109728" cy="109728"/>
          </a:xfrm>
          <a:prstGeom prst="ellipse">
            <a:avLst/>
          </a:prstGeom>
          <a:solidFill>
            <a:srgbClr val="E4543F"/>
          </a:solidFill>
          <a:ln w="12700">
            <a:solidFill>
              <a:srgbClr val="E4543F"/>
            </a:solidFill>
            <a:prstDash val="solid"/>
          </a:ln>
        </p:spPr>
      </p:sp>
      <p:sp>
        <p:nvSpPr>
          <p:cNvPr id="30" name="Text 24"/>
          <p:cNvSpPr txBox="1"/>
          <p:nvPr/>
        </p:nvSpPr>
        <p:spPr>
          <a:xfrm>
            <a:off x="7543800" y="3145536"/>
            <a:ext cx="20116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1D1D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Fokker D.VII</a:t>
            </a:r>
            <a:endParaRPr lang="en-US" sz="1600" dirty="0"/>
          </a:p>
        </p:txBody>
      </p:sp>
      <p:sp>
        <p:nvSpPr>
          <p:cNvPr id="31" name="Text 25"/>
          <p:cNvSpPr txBox="1"/>
          <p:nvPr/>
        </p:nvSpPr>
        <p:spPr>
          <a:xfrm>
            <a:off x="7360920" y="3493008"/>
            <a:ext cx="2148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51515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Германия · 1918</a:t>
            </a:r>
            <a:endParaRPr lang="en-US" sz="1100" dirty="0"/>
          </a:p>
        </p:txBody>
      </p:sp>
      <p:sp>
        <p:nvSpPr>
          <p:cNvPr id="32" name="Text 26"/>
          <p:cNvSpPr txBox="1"/>
          <p:nvPr/>
        </p:nvSpPr>
        <p:spPr>
          <a:xfrm>
            <a:off x="7360920" y="3931920"/>
            <a:ext cx="21488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800" b="1" spc="-100" kern="0" dirty="0">
                <a:solidFill>
                  <a:srgbClr val="1D1D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≈190</a:t>
            </a:r>
            <a:endParaRPr lang="en-US" sz="3800" dirty="0"/>
          </a:p>
        </p:txBody>
      </p:sp>
      <p:sp>
        <p:nvSpPr>
          <p:cNvPr id="33" name="Text 27"/>
          <p:cNvSpPr txBox="1"/>
          <p:nvPr/>
        </p:nvSpPr>
        <p:spPr>
          <a:xfrm>
            <a:off x="7360920" y="4645152"/>
            <a:ext cx="2148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8686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км/ч максимальная скорость</a:t>
            </a:r>
            <a:endParaRPr lang="en-US" sz="1050" dirty="0"/>
          </a:p>
        </p:txBody>
      </p:sp>
      <p:sp>
        <p:nvSpPr>
          <p:cNvPr id="34" name="Text 28"/>
          <p:cNvSpPr txBox="1"/>
          <p:nvPr/>
        </p:nvSpPr>
        <p:spPr>
          <a:xfrm>
            <a:off x="7360920" y="5074920"/>
            <a:ext cx="20574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51515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Единственный самолёт, названный в тексте перемирия</a:t>
            </a:r>
            <a:endParaRPr lang="en-US" sz="1150" dirty="0"/>
          </a:p>
        </p:txBody>
      </p:sp>
      <p:pic>
        <p:nvPicPr>
          <p:cNvPr id="35" name="!!pfalz" descr="/root/deck2/assets/pfalz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646920" y="1853746"/>
            <a:ext cx="2176272" cy="1108910"/>
          </a:xfrm>
          <a:prstGeom prst="rect">
            <a:avLst/>
          </a:prstGeom>
        </p:spPr>
      </p:pic>
      <p:sp>
        <p:nvSpPr>
          <p:cNvPr id="36" name="Shape 29"/>
          <p:cNvSpPr/>
          <p:nvPr/>
        </p:nvSpPr>
        <p:spPr>
          <a:xfrm>
            <a:off x="9646920" y="3246120"/>
            <a:ext cx="109728" cy="109728"/>
          </a:xfrm>
          <a:prstGeom prst="ellipse">
            <a:avLst/>
          </a:prstGeom>
          <a:solidFill>
            <a:srgbClr val="E4543F"/>
          </a:solidFill>
          <a:ln w="12700">
            <a:solidFill>
              <a:srgbClr val="E4543F"/>
            </a:solidFill>
            <a:prstDash val="solid"/>
          </a:ln>
        </p:spPr>
      </p:sp>
      <p:sp>
        <p:nvSpPr>
          <p:cNvPr id="37" name="Text 30"/>
          <p:cNvSpPr txBox="1"/>
          <p:nvPr/>
        </p:nvSpPr>
        <p:spPr>
          <a:xfrm>
            <a:off x="9829800" y="3145536"/>
            <a:ext cx="20116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1D1D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Pfalz D.XII</a:t>
            </a:r>
            <a:endParaRPr lang="en-US" sz="1600" dirty="0"/>
          </a:p>
        </p:txBody>
      </p:sp>
      <p:sp>
        <p:nvSpPr>
          <p:cNvPr id="38" name="Text 31"/>
          <p:cNvSpPr txBox="1"/>
          <p:nvPr/>
        </p:nvSpPr>
        <p:spPr>
          <a:xfrm>
            <a:off x="9646920" y="3493008"/>
            <a:ext cx="2148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51515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Германия · 1918</a:t>
            </a:r>
            <a:endParaRPr lang="en-US" sz="1100" dirty="0"/>
          </a:p>
        </p:txBody>
      </p:sp>
      <p:sp>
        <p:nvSpPr>
          <p:cNvPr id="39" name="Text 32"/>
          <p:cNvSpPr txBox="1"/>
          <p:nvPr/>
        </p:nvSpPr>
        <p:spPr>
          <a:xfrm>
            <a:off x="9646920" y="3931920"/>
            <a:ext cx="21488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800" b="1" spc="-100" kern="0" dirty="0">
                <a:solidFill>
                  <a:srgbClr val="1D1D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170</a:t>
            </a:r>
            <a:endParaRPr lang="en-US" sz="3800" dirty="0"/>
          </a:p>
        </p:txBody>
      </p:sp>
      <p:sp>
        <p:nvSpPr>
          <p:cNvPr id="40" name="Text 33"/>
          <p:cNvSpPr txBox="1"/>
          <p:nvPr/>
        </p:nvSpPr>
        <p:spPr>
          <a:xfrm>
            <a:off x="9646920" y="4645152"/>
            <a:ext cx="2148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8686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км/ч максимальная скорость</a:t>
            </a:r>
            <a:endParaRPr lang="en-US" sz="1050" dirty="0"/>
          </a:p>
        </p:txBody>
      </p:sp>
      <p:sp>
        <p:nvSpPr>
          <p:cNvPr id="41" name="Text 34"/>
          <p:cNvSpPr txBox="1"/>
          <p:nvPr/>
        </p:nvSpPr>
        <p:spPr>
          <a:xfrm>
            <a:off x="9646920" y="5074920"/>
            <a:ext cx="20574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51515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Около 800 машин успели попасть на фронт</a:t>
            </a:r>
            <a:endParaRPr lang="en-US" sz="1150" dirty="0"/>
          </a:p>
        </p:txBody>
      </p:sp>
      <p:sp>
        <p:nvSpPr>
          <p:cNvPr id="42" name="Text 35"/>
          <p:cNvSpPr txBox="1"/>
          <p:nvPr/>
        </p:nvSpPr>
        <p:spPr>
          <a:xfrm>
            <a:off x="502920" y="5897880"/>
            <a:ext cx="9966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8686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За четыре года скорость выросла примерно вдвое, мощность моторов — в 2,5–3 раза, а вместо карабина появились два синхронных пулемёта.</a:t>
            </a:r>
            <a:endParaRPr lang="en-US" sz="1200" dirty="0"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1500">
        <p159:morph option="byObject"/>
      </p:transition>
    </mc:Choice>
    <mc:Fallback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7090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!!kicker"/>
          <p:cNvSpPr txBox="1"/>
          <p:nvPr/>
        </p:nvSpPr>
        <p:spPr>
          <a:xfrm>
            <a:off x="548640" y="38404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spc="250" kern="0" dirty="0">
                <a:solidFill>
                  <a:srgbClr val="7D7A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ГЛАВА 4 · 1915–1918</a:t>
            </a:r>
            <a:endParaRPr lang="en-US" sz="1200" dirty="0"/>
          </a:p>
        </p:txBody>
      </p:sp>
      <p:sp>
        <p:nvSpPr>
          <p:cNvPr id="3" name="!!title"/>
          <p:cNvSpPr txBox="1"/>
          <p:nvPr/>
        </p:nvSpPr>
        <p:spPr>
          <a:xfrm>
            <a:off x="548640" y="658368"/>
            <a:ext cx="6400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0" b="1" spc="-50" kern="0" dirty="0">
                <a:solidFill>
                  <a:srgbClr val="F5F3E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Война приходит в города</a:t>
            </a:r>
            <a:endParaRPr lang="en-US" sz="3800" dirty="0"/>
          </a:p>
        </p:txBody>
      </p:sp>
      <p:sp>
        <p:nvSpPr>
          <p:cNvPr id="4" name="!!track"/>
          <p:cNvSpPr/>
          <p:nvPr/>
        </p:nvSpPr>
        <p:spPr>
          <a:xfrm>
            <a:off x="548640" y="6519672"/>
            <a:ext cx="2194560" cy="32004"/>
          </a:xfrm>
          <a:prstGeom prst="rect">
            <a:avLst/>
          </a:prstGeom>
          <a:solidFill>
            <a:srgbClr val="2A2F38"/>
          </a:solidFill>
          <a:ln w="12700">
            <a:solidFill>
              <a:srgbClr val="2A2F38"/>
            </a:solidFill>
            <a:prstDash val="solid"/>
          </a:ln>
        </p:spPr>
      </p:sp>
      <p:sp>
        <p:nvSpPr>
          <p:cNvPr id="5" name="!!prog"/>
          <p:cNvSpPr/>
          <p:nvPr/>
        </p:nvSpPr>
        <p:spPr>
          <a:xfrm>
            <a:off x="548640" y="6519672"/>
            <a:ext cx="1097280" cy="32004"/>
          </a:xfrm>
          <a:prstGeom prst="rect">
            <a:avLst/>
          </a:prstGeom>
          <a:solidFill>
            <a:srgbClr val="7D7AFF"/>
          </a:solidFill>
          <a:ln w="12700">
            <a:solidFill>
              <a:srgbClr val="7D7AFF"/>
            </a:solidFill>
            <a:prstDash val="solid"/>
          </a:ln>
        </p:spPr>
      </p:sp>
      <p:sp>
        <p:nvSpPr>
          <p:cNvPr id="6" name="!!pg"/>
          <p:cNvSpPr txBox="1"/>
          <p:nvPr/>
        </p:nvSpPr>
        <p:spPr>
          <a:xfrm>
            <a:off x="10725912" y="6419088"/>
            <a:ext cx="914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000" dirty="0">
                <a:solidFill>
                  <a:srgbClr val="7C83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07 / 14</a:t>
            </a:r>
            <a:endParaRPr lang="en-US" sz="1000" dirty="0"/>
          </a:p>
        </p:txBody>
      </p:sp>
      <p:pic>
        <p:nvPicPr>
          <p:cNvPr id="7" name="Image 0" descr="/root/deck2/assets/art_raid.jp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7955280" y="0"/>
            <a:ext cx="4236415" cy="6858000"/>
          </a:xfrm>
          <a:prstGeom prst="rect">
            <a:avLst/>
          </a:prstGeom>
        </p:spPr>
      </p:pic>
      <p:pic>
        <p:nvPicPr>
          <p:cNvPr id="8" name="Image 1" descr="/root/deck2/assets/grad_left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909560" y="0"/>
            <a:ext cx="2194560" cy="6858000"/>
          </a:xfrm>
          <a:prstGeom prst="rect">
            <a:avLst/>
          </a:prstGeom>
        </p:spPr>
      </p:pic>
      <p:pic>
        <p:nvPicPr>
          <p:cNvPr id="9" name="Image 2" descr="/root/deck2/assets/glow_violet.png">    </p:cNvPr>
          <p:cNvPicPr>
            <a:picLocks noChangeAspect="1"/>
          </p:cNvPicPr>
          <p:nvPr/>
        </p:nvPicPr>
        <p:blipFill>
          <a:blip r:embed="rId3">
            <a:alphaModFix amt="85000"/>
          </a:blip>
          <a:stretch>
            <a:fillRect/>
          </a:stretch>
        </p:blipFill>
        <p:spPr>
          <a:xfrm>
            <a:off x="3108960" y="-822960"/>
            <a:ext cx="6583680" cy="6583680"/>
          </a:xfrm>
          <a:prstGeom prst="rect">
            <a:avLst/>
          </a:prstGeom>
        </p:spPr>
      </p:pic>
      <p:pic>
        <p:nvPicPr>
          <p:cNvPr id="10" name="!!voisin" descr="/root/deck2/assets/voisin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 rot="-540000">
            <a:off x="3520440" y="1097280"/>
            <a:ext cx="5852160" cy="2206138"/>
          </a:xfrm>
          <a:prstGeom prst="rect">
            <a:avLst/>
          </a:prstGeom>
        </p:spPr>
      </p:pic>
      <p:sp>
        <p:nvSpPr>
          <p:cNvPr id="11" name="Text 5"/>
          <p:cNvSpPr txBox="1"/>
          <p:nvPr/>
        </p:nvSpPr>
        <p:spPr>
          <a:xfrm>
            <a:off x="548640" y="3611880"/>
            <a:ext cx="18288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5400" b="1" spc="-100" kern="0" dirty="0">
                <a:solidFill>
                  <a:srgbClr val="F5F3E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557</a:t>
            </a:r>
            <a:endParaRPr lang="en-US" sz="5400" dirty="0"/>
          </a:p>
        </p:txBody>
      </p:sp>
      <p:sp>
        <p:nvSpPr>
          <p:cNvPr id="12" name="Text 6"/>
          <p:cNvSpPr txBox="1"/>
          <p:nvPr/>
        </p:nvSpPr>
        <p:spPr>
          <a:xfrm>
            <a:off x="2240280" y="3776472"/>
            <a:ext cx="24688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B4BAC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погибших от налётов цеппелинов на Британию</a:t>
            </a:r>
            <a:endParaRPr lang="en-US" sz="1200" dirty="0"/>
          </a:p>
        </p:txBody>
      </p:sp>
      <p:sp>
        <p:nvSpPr>
          <p:cNvPr id="13" name="Text 7"/>
          <p:cNvSpPr txBox="1"/>
          <p:nvPr/>
        </p:nvSpPr>
        <p:spPr>
          <a:xfrm>
            <a:off x="548640" y="4937760"/>
            <a:ext cx="18288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5400" b="1" spc="-100" kern="0" dirty="0">
                <a:solidFill>
                  <a:srgbClr val="F5F3E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162</a:t>
            </a:r>
            <a:endParaRPr lang="en-US" sz="5400" dirty="0"/>
          </a:p>
        </p:txBody>
      </p:sp>
      <p:sp>
        <p:nvSpPr>
          <p:cNvPr id="14" name="Text 8"/>
          <p:cNvSpPr txBox="1"/>
          <p:nvPr/>
        </p:nvSpPr>
        <p:spPr>
          <a:xfrm>
            <a:off x="2240280" y="5102352"/>
            <a:ext cx="24688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B4BAC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жертвы налёта бомбардировщиков «Гота» на Лондон 13 июня 1917 г. — самого кровавого за войну</a:t>
            </a:r>
            <a:endParaRPr lang="en-US" sz="1200" dirty="0"/>
          </a:p>
        </p:txBody>
      </p:sp>
      <p:sp>
        <p:nvSpPr>
          <p:cNvPr id="15" name="Text 9"/>
          <p:cNvSpPr txBox="1"/>
          <p:nvPr/>
        </p:nvSpPr>
        <p:spPr>
          <a:xfrm>
            <a:off x="548640" y="1508760"/>
            <a:ext cx="329184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B4BAC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 января 1915 г. Англию бомбят германские дирижабли, с 1917-го — тяжёлые бомбардировщики «Гота». В ответ рождается ПВО: прожекторы, зенитки, ночные истребители.</a:t>
            </a:r>
            <a:endParaRPr lang="en-US" sz="1300" dirty="0"/>
          </a:p>
        </p:txBody>
      </p:sp>
      <p:pic>
        <p:nvPicPr>
          <p:cNvPr id="16" name="Image 4" descr="/root/deck2/assets/altimeter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617720" y="4023360"/>
            <a:ext cx="1371600" cy="1391702"/>
          </a:xfrm>
          <a:prstGeom prst="rect">
            <a:avLst/>
          </a:prstGeom>
        </p:spPr>
      </p:pic>
      <p:sp>
        <p:nvSpPr>
          <p:cNvPr id="17" name="Text 10"/>
          <p:cNvSpPr txBox="1"/>
          <p:nvPr/>
        </p:nvSpPr>
        <p:spPr>
          <a:xfrm>
            <a:off x="6126480" y="4160520"/>
            <a:ext cx="178308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rgbClr val="F5F3E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Альтиметр с цеппелина L 49. </a:t>
            </a:r>
            <a:pPr indent="0" marL="0">
              <a:buNone/>
            </a:pPr>
            <a:r>
              <a:rPr lang="en-US" sz="1050" dirty="0">
                <a:solidFill>
                  <a:srgbClr val="B4BAC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Шкала — до 8 км. Дирижабль посадили французские лётчики в октябре 1917 г.</a:t>
            </a:r>
            <a:endParaRPr lang="en-US" sz="1050" dirty="0"/>
          </a:p>
        </p:txBody>
      </p:sp>
      <p:sp>
        <p:nvSpPr>
          <p:cNvPr id="18" name="Text 11"/>
          <p:cNvSpPr txBox="1"/>
          <p:nvPr/>
        </p:nvSpPr>
        <p:spPr>
          <a:xfrm>
            <a:off x="5577840" y="3383280"/>
            <a:ext cx="2286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7C83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«Вуазен» 8 — ночной бомбардировщик, 1916</a:t>
            </a:r>
            <a:endParaRPr lang="en-US" sz="950" dirty="0"/>
          </a:p>
        </p:txBody>
      </p:sp>
      <p:pic>
        <p:nvPicPr>
          <p:cNvPr id="19" name="!!pfalz" descr="/root/deck2/assets/pfalz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 rot="-960000">
            <a:off x="13350240" y="-3108960"/>
            <a:ext cx="4754880" cy="2422827"/>
          </a:xfrm>
          <a:prstGeom prst="rect">
            <a:avLst/>
          </a:prstGeom>
        </p:spPr>
      </p:pic>
      <p:sp>
        <p:nvSpPr>
          <p:cNvPr id="20" name="Text 12"/>
          <p:cNvSpPr txBox="1"/>
          <p:nvPr/>
        </p:nvSpPr>
        <p:spPr>
          <a:xfrm>
            <a:off x="8412480" y="6126480"/>
            <a:ext cx="3291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50" dirty="0">
                <a:solidFill>
                  <a:srgbClr val="B4BAC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Дж. Хардинг. «Воздушный налёт, Фер-ан-Тарденуа», около 1918 г.</a:t>
            </a:r>
            <a:endParaRPr lang="en-US" sz="950" dirty="0"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1500">
        <p159:morph option="byObject"/>
      </p:transition>
    </mc:Choice>
    <mc:Fallback>
      <p:transition spd="slow">
        <p:fade/>
      </p:transition>
    </mc:Fallback>
  </mc:AlternateContent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!!kicker"/>
          <p:cNvSpPr txBox="1"/>
          <p:nvPr/>
        </p:nvSpPr>
        <p:spPr>
          <a:xfrm>
            <a:off x="548640" y="38404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spc="250" kern="0" dirty="0">
                <a:solidFill>
                  <a:srgbClr val="64D2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ГЛАВА 5 · РОССИЯ</a:t>
            </a:r>
            <a:endParaRPr lang="en-US" sz="1200" dirty="0"/>
          </a:p>
        </p:txBody>
      </p:sp>
      <p:sp>
        <p:nvSpPr>
          <p:cNvPr id="3" name="!!title"/>
          <p:cNvSpPr txBox="1"/>
          <p:nvPr/>
        </p:nvSpPr>
        <p:spPr>
          <a:xfrm>
            <a:off x="548640" y="658368"/>
            <a:ext cx="8229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0" b="1" spc="-50" kern="0" dirty="0">
                <a:solidFill>
                  <a:srgbClr val="F5F3E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Россия: крылья империи</a:t>
            </a:r>
            <a:endParaRPr lang="en-US" sz="3800" dirty="0"/>
          </a:p>
        </p:txBody>
      </p:sp>
      <p:sp>
        <p:nvSpPr>
          <p:cNvPr id="4" name="!!track"/>
          <p:cNvSpPr/>
          <p:nvPr/>
        </p:nvSpPr>
        <p:spPr>
          <a:xfrm>
            <a:off x="548640" y="6519672"/>
            <a:ext cx="2194560" cy="32004"/>
          </a:xfrm>
          <a:prstGeom prst="rect">
            <a:avLst/>
          </a:prstGeom>
          <a:solidFill>
            <a:srgbClr val="2A2F38"/>
          </a:solidFill>
          <a:ln w="12700">
            <a:solidFill>
              <a:srgbClr val="2A2F38"/>
            </a:solidFill>
            <a:prstDash val="solid"/>
          </a:ln>
        </p:spPr>
      </p:sp>
      <p:sp>
        <p:nvSpPr>
          <p:cNvPr id="5" name="!!prog"/>
          <p:cNvSpPr/>
          <p:nvPr/>
        </p:nvSpPr>
        <p:spPr>
          <a:xfrm>
            <a:off x="548640" y="6519672"/>
            <a:ext cx="1254034" cy="32004"/>
          </a:xfrm>
          <a:prstGeom prst="rect">
            <a:avLst/>
          </a:prstGeom>
          <a:solidFill>
            <a:srgbClr val="64D2FF"/>
          </a:solidFill>
          <a:ln w="12700">
            <a:solidFill>
              <a:srgbClr val="64D2FF"/>
            </a:solidFill>
            <a:prstDash val="solid"/>
          </a:ln>
        </p:spPr>
      </p:sp>
      <p:sp>
        <p:nvSpPr>
          <p:cNvPr id="6" name="!!pg"/>
          <p:cNvSpPr txBox="1"/>
          <p:nvPr/>
        </p:nvSpPr>
        <p:spPr>
          <a:xfrm>
            <a:off x="10725912" y="6419088"/>
            <a:ext cx="914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000" dirty="0">
                <a:solidFill>
                  <a:srgbClr val="7C83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08 / 14</a:t>
            </a:r>
            <a:endParaRPr lang="en-US" sz="1000" dirty="0"/>
          </a:p>
        </p:txBody>
      </p:sp>
      <p:pic>
        <p:nvPicPr>
          <p:cNvPr id="7" name="Image 0" descr="/root/deck2/assets/muromets_bp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1737360"/>
            <a:ext cx="6126480" cy="4288536"/>
          </a:xfrm>
          <a:prstGeom prst="rect">
            <a:avLst/>
          </a:prstGeom>
        </p:spPr>
      </p:pic>
      <p:sp>
        <p:nvSpPr>
          <p:cNvPr id="8" name="Text 5"/>
          <p:cNvSpPr txBox="1"/>
          <p:nvPr/>
        </p:nvSpPr>
        <p:spPr>
          <a:xfrm>
            <a:off x="548640" y="141732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64D2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«ИЛЬЯ МУРОМЕЦ» · И. И. СИКОРСКИЙ · 1913</a:t>
            </a:r>
            <a:endParaRPr lang="en-US" sz="1100" dirty="0"/>
          </a:p>
        </p:txBody>
      </p:sp>
      <p:sp>
        <p:nvSpPr>
          <p:cNvPr id="9" name="Text 6"/>
          <p:cNvSpPr txBox="1"/>
          <p:nvPr/>
        </p:nvSpPr>
        <p:spPr>
          <a:xfrm>
            <a:off x="548640" y="5943600"/>
            <a:ext cx="6583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F5F3E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Первый в мире серийный четырёхмоторный бомбардировщик. </a:t>
            </a:r>
            <a:pPr indent="0" marL="0">
              <a:buNone/>
            </a:pPr>
            <a:r>
              <a:rPr lang="en-US" sz="1100" dirty="0">
                <a:solidFill>
                  <a:srgbClr val="C9DD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Эскадра воздушных кораблей совершила около 400 боевых вылетов и сбросила 65 т бомб, а в воздушном бою потеряла лишь один корабль.</a:t>
            </a:r>
            <a:endParaRPr lang="en-US" sz="1100" dirty="0"/>
          </a:p>
        </p:txBody>
      </p:sp>
      <p:sp>
        <p:nvSpPr>
          <p:cNvPr id="10" name="Shape 7"/>
          <p:cNvSpPr/>
          <p:nvPr/>
        </p:nvSpPr>
        <p:spPr>
          <a:xfrm>
            <a:off x="7589520" y="1435608"/>
            <a:ext cx="4023360" cy="0"/>
          </a:xfrm>
          <a:prstGeom prst="line">
            <a:avLst/>
          </a:prstGeom>
          <a:noFill/>
          <a:ln w="9525">
            <a:solidFill>
              <a:srgbClr val="3E6E9E"/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7589520" y="1508760"/>
            <a:ext cx="4023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F5F3E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Пётр Нестеров</a:t>
            </a:r>
            <a:endParaRPr lang="en-US" sz="1500" dirty="0"/>
          </a:p>
        </p:txBody>
      </p:sp>
      <p:sp>
        <p:nvSpPr>
          <p:cNvPr id="12" name="Text 9"/>
          <p:cNvSpPr txBox="1"/>
          <p:nvPr/>
        </p:nvSpPr>
        <p:spPr>
          <a:xfrm>
            <a:off x="7589520" y="1801368"/>
            <a:ext cx="4023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C9DD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«мёртвая петля» (1913) и первый воздушный таран (1914)</a:t>
            </a:r>
            <a:endParaRPr lang="en-US" sz="1200" dirty="0"/>
          </a:p>
        </p:txBody>
      </p:sp>
      <p:sp>
        <p:nvSpPr>
          <p:cNvPr id="13" name="Shape 10"/>
          <p:cNvSpPr/>
          <p:nvPr/>
        </p:nvSpPr>
        <p:spPr>
          <a:xfrm>
            <a:off x="7589520" y="2258568"/>
            <a:ext cx="4023360" cy="0"/>
          </a:xfrm>
          <a:prstGeom prst="line">
            <a:avLst/>
          </a:prstGeom>
          <a:noFill/>
          <a:ln w="9525">
            <a:solidFill>
              <a:srgbClr val="3E6E9E"/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7589520" y="2331720"/>
            <a:ext cx="4023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F5F3E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Игорь Сикорский</a:t>
            </a:r>
            <a:endParaRPr lang="en-US" sz="1500" dirty="0"/>
          </a:p>
        </p:txBody>
      </p:sp>
      <p:sp>
        <p:nvSpPr>
          <p:cNvPr id="15" name="Text 12"/>
          <p:cNvSpPr txBox="1"/>
          <p:nvPr/>
        </p:nvSpPr>
        <p:spPr>
          <a:xfrm>
            <a:off x="7589520" y="2624328"/>
            <a:ext cx="4023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C9DD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«Русский витязь» (1913) — первый в мире четырёхмоторный самолёт</a:t>
            </a:r>
            <a:endParaRPr lang="en-US" sz="1200" dirty="0"/>
          </a:p>
        </p:txBody>
      </p:sp>
      <p:sp>
        <p:nvSpPr>
          <p:cNvPr id="16" name="Shape 13"/>
          <p:cNvSpPr/>
          <p:nvPr/>
        </p:nvSpPr>
        <p:spPr>
          <a:xfrm>
            <a:off x="7589520" y="3081528"/>
            <a:ext cx="4023360" cy="0"/>
          </a:xfrm>
          <a:prstGeom prst="line">
            <a:avLst/>
          </a:prstGeom>
          <a:noFill/>
          <a:ln w="9525">
            <a:solidFill>
              <a:srgbClr val="3E6E9E"/>
            </a:solidFill>
            <a:prstDash val="solid"/>
          </a:ln>
        </p:spPr>
      </p:sp>
      <p:sp>
        <p:nvSpPr>
          <p:cNvPr id="17" name="Text 14"/>
          <p:cNvSpPr txBox="1"/>
          <p:nvPr/>
        </p:nvSpPr>
        <p:spPr>
          <a:xfrm>
            <a:off x="7589520" y="3154680"/>
            <a:ext cx="4023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F5F3E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Александр Казаков</a:t>
            </a:r>
            <a:endParaRPr lang="en-US" sz="1500" dirty="0"/>
          </a:p>
        </p:txBody>
      </p:sp>
      <p:sp>
        <p:nvSpPr>
          <p:cNvPr id="18" name="Text 15"/>
          <p:cNvSpPr txBox="1"/>
          <p:nvPr/>
        </p:nvSpPr>
        <p:spPr>
          <a:xfrm>
            <a:off x="7589520" y="3447288"/>
            <a:ext cx="4023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C9DD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лучший ас России: 17 официальных побед</a:t>
            </a:r>
            <a:endParaRPr lang="en-US" sz="1200" dirty="0"/>
          </a:p>
        </p:txBody>
      </p:sp>
      <p:sp>
        <p:nvSpPr>
          <p:cNvPr id="19" name="Shape 16"/>
          <p:cNvSpPr/>
          <p:nvPr/>
        </p:nvSpPr>
        <p:spPr>
          <a:xfrm>
            <a:off x="7589520" y="3904488"/>
            <a:ext cx="4023360" cy="0"/>
          </a:xfrm>
          <a:prstGeom prst="line">
            <a:avLst/>
          </a:prstGeom>
          <a:noFill/>
          <a:ln w="9525">
            <a:solidFill>
              <a:srgbClr val="3E6E9E"/>
            </a:solidFill>
            <a:prstDash val="solid"/>
          </a:ln>
        </p:spPr>
      </p:sp>
      <p:sp>
        <p:nvSpPr>
          <p:cNvPr id="20" name="Text 17"/>
          <p:cNvSpPr txBox="1"/>
          <p:nvPr/>
        </p:nvSpPr>
        <p:spPr>
          <a:xfrm>
            <a:off x="7589520" y="3977640"/>
            <a:ext cx="4023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F5F3E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Дмитрий Григорович</a:t>
            </a:r>
            <a:endParaRPr lang="en-US" sz="1500" dirty="0"/>
          </a:p>
        </p:txBody>
      </p:sp>
      <p:sp>
        <p:nvSpPr>
          <p:cNvPr id="21" name="Text 18"/>
          <p:cNvSpPr txBox="1"/>
          <p:nvPr/>
        </p:nvSpPr>
        <p:spPr>
          <a:xfrm>
            <a:off x="7589520" y="4270248"/>
            <a:ext cx="4023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C9DD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летающие лодки М‑5 и М‑9 для Балтики и Чёрного моря</a:t>
            </a:r>
            <a:endParaRPr lang="en-US" sz="1200" dirty="0"/>
          </a:p>
        </p:txBody>
      </p:sp>
      <p:sp>
        <p:nvSpPr>
          <p:cNvPr id="22" name="Shape 19"/>
          <p:cNvSpPr/>
          <p:nvPr/>
        </p:nvSpPr>
        <p:spPr>
          <a:xfrm>
            <a:off x="7589520" y="4727448"/>
            <a:ext cx="4023360" cy="0"/>
          </a:xfrm>
          <a:prstGeom prst="line">
            <a:avLst/>
          </a:prstGeom>
          <a:noFill/>
          <a:ln w="9525">
            <a:solidFill>
              <a:srgbClr val="3E6E9E"/>
            </a:solidFill>
            <a:prstDash val="solid"/>
          </a:ln>
        </p:spPr>
      </p:sp>
      <p:sp>
        <p:nvSpPr>
          <p:cNvPr id="23" name="Text 20"/>
          <p:cNvSpPr txBox="1"/>
          <p:nvPr/>
        </p:nvSpPr>
        <p:spPr>
          <a:xfrm>
            <a:off x="7589520" y="4800600"/>
            <a:ext cx="4023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F5F3E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Глеб Котельников</a:t>
            </a:r>
            <a:endParaRPr lang="en-US" sz="1500" dirty="0"/>
          </a:p>
        </p:txBody>
      </p:sp>
      <p:sp>
        <p:nvSpPr>
          <p:cNvPr id="24" name="Text 21"/>
          <p:cNvSpPr txBox="1"/>
          <p:nvPr/>
        </p:nvSpPr>
        <p:spPr>
          <a:xfrm>
            <a:off x="7589520" y="5093208"/>
            <a:ext cx="4023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C9DD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ранцевый парашют РК‑1 (1911)</a:t>
            </a:r>
            <a:endParaRPr lang="en-US" sz="1200" dirty="0"/>
          </a:p>
        </p:txBody>
      </p:sp>
      <p:pic>
        <p:nvPicPr>
          <p:cNvPr id="25" name="!!voisin" descr="/root/deck2/assets/voisin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 rot="-1200000">
            <a:off x="-7772400" y="-3291840"/>
            <a:ext cx="5943600" cy="2240609"/>
          </a:xfrm>
          <a:prstGeom prst="rect">
            <a:avLst/>
          </a:prstGeom>
        </p:spPr>
      </p:pic>
      <p:pic>
        <p:nvPicPr>
          <p:cNvPr id="26" name="!!pfalz" descr="/root/deck2/assets/pfalz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 rot="-960000">
            <a:off x="13350240" y="-3108960"/>
            <a:ext cx="4754880" cy="2422827"/>
          </a:xfrm>
          <a:prstGeom prst="rect">
            <a:avLst/>
          </a:prstGeom>
        </p:spPr>
      </p:pic>
      <p:sp>
        <p:nvSpPr>
          <p:cNvPr id="27" name="Text 22"/>
          <p:cNvSpPr txBox="1"/>
          <p:nvPr/>
        </p:nvSpPr>
        <p:spPr>
          <a:xfrm>
            <a:off x="7589520" y="5715000"/>
            <a:ext cx="4023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FF9F0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Слабое место — моторы: </a:t>
            </a:r>
            <a:pPr indent="0" marL="0">
              <a:buNone/>
            </a:pPr>
            <a:r>
              <a:rPr lang="en-US" sz="1200" dirty="0">
                <a:solidFill>
                  <a:srgbClr val="C9DD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большую часть двигателей закупали за границей.</a:t>
            </a:r>
            <a:endParaRPr lang="en-US" sz="1200" dirty="0"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1500">
        <p159:morph option="byObject"/>
      </p:transition>
    </mc:Choice>
    <mc:Fallback>
      <p:transition spd="slow">
        <p:fade/>
      </p:transition>
    </mc:Fallback>
  </mc:AlternateContent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7090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!!kicker"/>
          <p:cNvSpPr txBox="1"/>
          <p:nvPr/>
        </p:nvSpPr>
        <p:spPr>
          <a:xfrm>
            <a:off x="548640" y="38404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spc="250" kern="0" dirty="0">
                <a:solidFill>
                  <a:srgbClr val="FF45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ГЛАВА 6 · 1915–1918</a:t>
            </a:r>
            <a:endParaRPr lang="en-US" sz="1200" dirty="0"/>
          </a:p>
        </p:txBody>
      </p:sp>
      <p:sp>
        <p:nvSpPr>
          <p:cNvPr id="3" name="!!title"/>
          <p:cNvSpPr txBox="1"/>
          <p:nvPr/>
        </p:nvSpPr>
        <p:spPr>
          <a:xfrm>
            <a:off x="548640" y="658368"/>
            <a:ext cx="8229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0" b="1" spc="-50" kern="0" dirty="0">
                <a:solidFill>
                  <a:srgbClr val="F5F3E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Асы: рыцари неба или охотники?</a:t>
            </a:r>
            <a:endParaRPr lang="en-US" sz="3800" dirty="0"/>
          </a:p>
        </p:txBody>
      </p:sp>
      <p:sp>
        <p:nvSpPr>
          <p:cNvPr id="4" name="!!track"/>
          <p:cNvSpPr/>
          <p:nvPr/>
        </p:nvSpPr>
        <p:spPr>
          <a:xfrm>
            <a:off x="548640" y="6519672"/>
            <a:ext cx="2194560" cy="32004"/>
          </a:xfrm>
          <a:prstGeom prst="rect">
            <a:avLst/>
          </a:prstGeom>
          <a:solidFill>
            <a:srgbClr val="2A2F38"/>
          </a:solidFill>
          <a:ln w="12700">
            <a:solidFill>
              <a:srgbClr val="2A2F38"/>
            </a:solidFill>
            <a:prstDash val="solid"/>
          </a:ln>
        </p:spPr>
      </p:sp>
      <p:sp>
        <p:nvSpPr>
          <p:cNvPr id="5" name="!!prog"/>
          <p:cNvSpPr/>
          <p:nvPr/>
        </p:nvSpPr>
        <p:spPr>
          <a:xfrm>
            <a:off x="548640" y="6519672"/>
            <a:ext cx="1410789" cy="32004"/>
          </a:xfrm>
          <a:prstGeom prst="rect">
            <a:avLst/>
          </a:prstGeom>
          <a:solidFill>
            <a:srgbClr val="FF453A"/>
          </a:solidFill>
          <a:ln w="12700">
            <a:solidFill>
              <a:srgbClr val="FF453A"/>
            </a:solidFill>
            <a:prstDash val="solid"/>
          </a:ln>
        </p:spPr>
      </p:sp>
      <p:sp>
        <p:nvSpPr>
          <p:cNvPr id="6" name="!!pg"/>
          <p:cNvSpPr txBox="1"/>
          <p:nvPr/>
        </p:nvSpPr>
        <p:spPr>
          <a:xfrm>
            <a:off x="10725912" y="6419088"/>
            <a:ext cx="914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000" dirty="0">
                <a:solidFill>
                  <a:srgbClr val="7C83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09 / 14</a:t>
            </a:r>
            <a:endParaRPr lang="en-US" sz="1000" dirty="0"/>
          </a:p>
        </p:txBody>
      </p:sp>
      <p:pic>
        <p:nvPicPr>
          <p:cNvPr id="7" name="Image 0" descr="/root/deck2/assets/glow_red.png">    </p:cNvPr>
          <p:cNvPicPr>
            <a:picLocks noChangeAspect="1"/>
          </p:cNvPicPr>
          <p:nvPr/>
        </p:nvPicPr>
        <p:blipFill>
          <a:blip r:embed="rId1">
            <a:alphaModFix amt="75000"/>
          </a:blip>
          <a:stretch>
            <a:fillRect/>
          </a:stretch>
        </p:blipFill>
        <p:spPr>
          <a:xfrm>
            <a:off x="6583680" y="-1097280"/>
            <a:ext cx="6400800" cy="6400800"/>
          </a:xfrm>
          <a:prstGeom prst="rect">
            <a:avLst/>
          </a:prstGeom>
        </p:spPr>
      </p:pic>
      <p:pic>
        <p:nvPicPr>
          <p:cNvPr id="8" name="!!pfalz" descr="/root/deck2/assets/pfalz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 rot="-360000">
            <a:off x="6720840" y="1234440"/>
            <a:ext cx="5120640" cy="2609199"/>
          </a:xfrm>
          <a:prstGeom prst="rect">
            <a:avLst/>
          </a:prstGeom>
        </p:spPr>
      </p:pic>
      <p:sp>
        <p:nvSpPr>
          <p:cNvPr id="9" name="Text 5"/>
          <p:cNvSpPr txBox="1"/>
          <p:nvPr/>
        </p:nvSpPr>
        <p:spPr>
          <a:xfrm>
            <a:off x="548640" y="1572768"/>
            <a:ext cx="21945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5F3E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Манфред фон Рихтгофен</a:t>
            </a:r>
            <a:endParaRPr lang="en-US" sz="1250" dirty="0"/>
          </a:p>
        </p:txBody>
      </p:sp>
      <p:sp>
        <p:nvSpPr>
          <p:cNvPr id="10" name="Shape 6"/>
          <p:cNvSpPr/>
          <p:nvPr/>
        </p:nvSpPr>
        <p:spPr>
          <a:xfrm>
            <a:off x="2788920" y="1627632"/>
            <a:ext cx="2926080" cy="182880"/>
          </a:xfrm>
          <a:prstGeom prst="roundRect">
            <a:avLst>
              <a:gd name="adj" fmla="val 25000"/>
            </a:avLst>
          </a:prstGeom>
          <a:solidFill>
            <a:srgbClr val="E4543F"/>
          </a:solidFill>
          <a:ln w="12700">
            <a:solidFill>
              <a:srgbClr val="E4543F"/>
            </a:solidFill>
            <a:prstDash val="solid"/>
          </a:ln>
        </p:spPr>
      </p:sp>
      <p:sp>
        <p:nvSpPr>
          <p:cNvPr id="11" name="Text 7"/>
          <p:cNvSpPr txBox="1"/>
          <p:nvPr/>
        </p:nvSpPr>
        <p:spPr>
          <a:xfrm>
            <a:off x="5788152" y="1572768"/>
            <a:ext cx="5486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5F3E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80</a:t>
            </a:r>
            <a:endParaRPr lang="en-US" sz="1300" dirty="0"/>
          </a:p>
        </p:txBody>
      </p:sp>
      <p:sp>
        <p:nvSpPr>
          <p:cNvPr id="12" name="Text 8"/>
          <p:cNvSpPr txBox="1"/>
          <p:nvPr/>
        </p:nvSpPr>
        <p:spPr>
          <a:xfrm>
            <a:off x="548640" y="1975104"/>
            <a:ext cx="21945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B4BAC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Рене Фонк</a:t>
            </a:r>
            <a:endParaRPr lang="en-US" sz="1250" dirty="0"/>
          </a:p>
        </p:txBody>
      </p:sp>
      <p:sp>
        <p:nvSpPr>
          <p:cNvPr id="13" name="Shape 9"/>
          <p:cNvSpPr/>
          <p:nvPr/>
        </p:nvSpPr>
        <p:spPr>
          <a:xfrm>
            <a:off x="2788920" y="2029968"/>
            <a:ext cx="2743200" cy="182880"/>
          </a:xfrm>
          <a:prstGeom prst="roundRect">
            <a:avLst>
              <a:gd name="adj" fmla="val 25000"/>
            </a:avLst>
          </a:prstGeom>
          <a:solidFill>
            <a:srgbClr val="4E93D8"/>
          </a:solidFill>
          <a:ln w="12700">
            <a:solidFill>
              <a:srgbClr val="4E93D8"/>
            </a:solidFill>
            <a:prstDash val="solid"/>
          </a:ln>
        </p:spPr>
      </p:sp>
      <p:sp>
        <p:nvSpPr>
          <p:cNvPr id="14" name="Text 10"/>
          <p:cNvSpPr txBox="1"/>
          <p:nvPr/>
        </p:nvSpPr>
        <p:spPr>
          <a:xfrm>
            <a:off x="5605272" y="1975104"/>
            <a:ext cx="5486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5F3E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75</a:t>
            </a:r>
            <a:endParaRPr lang="en-US" sz="1300" dirty="0"/>
          </a:p>
        </p:txBody>
      </p:sp>
      <p:sp>
        <p:nvSpPr>
          <p:cNvPr id="15" name="Text 11"/>
          <p:cNvSpPr txBox="1"/>
          <p:nvPr/>
        </p:nvSpPr>
        <p:spPr>
          <a:xfrm>
            <a:off x="548640" y="2377440"/>
            <a:ext cx="21945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B4BAC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Билли Бишоп</a:t>
            </a:r>
            <a:endParaRPr lang="en-US" sz="1250" dirty="0"/>
          </a:p>
        </p:txBody>
      </p:sp>
      <p:sp>
        <p:nvSpPr>
          <p:cNvPr id="16" name="Shape 12"/>
          <p:cNvSpPr/>
          <p:nvPr/>
        </p:nvSpPr>
        <p:spPr>
          <a:xfrm>
            <a:off x="2788920" y="2432304"/>
            <a:ext cx="2633472" cy="182880"/>
          </a:xfrm>
          <a:prstGeom prst="roundRect">
            <a:avLst>
              <a:gd name="adj" fmla="val 25000"/>
            </a:avLst>
          </a:prstGeom>
          <a:solidFill>
            <a:srgbClr val="4E93D8"/>
          </a:solidFill>
          <a:ln w="12700">
            <a:solidFill>
              <a:srgbClr val="4E93D8"/>
            </a:solidFill>
            <a:prstDash val="solid"/>
          </a:ln>
        </p:spPr>
      </p:sp>
      <p:sp>
        <p:nvSpPr>
          <p:cNvPr id="17" name="Text 13"/>
          <p:cNvSpPr txBox="1"/>
          <p:nvPr/>
        </p:nvSpPr>
        <p:spPr>
          <a:xfrm>
            <a:off x="5495544" y="2377440"/>
            <a:ext cx="5486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5F3E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72</a:t>
            </a:r>
            <a:endParaRPr lang="en-US" sz="1300" dirty="0"/>
          </a:p>
        </p:txBody>
      </p:sp>
      <p:sp>
        <p:nvSpPr>
          <p:cNvPr id="18" name="Text 14"/>
          <p:cNvSpPr txBox="1"/>
          <p:nvPr/>
        </p:nvSpPr>
        <p:spPr>
          <a:xfrm>
            <a:off x="548640" y="2779776"/>
            <a:ext cx="21945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B4BAC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Эдвард Мэннок</a:t>
            </a:r>
            <a:endParaRPr lang="en-US" sz="1250" dirty="0"/>
          </a:p>
        </p:txBody>
      </p:sp>
      <p:sp>
        <p:nvSpPr>
          <p:cNvPr id="19" name="Shape 15"/>
          <p:cNvSpPr/>
          <p:nvPr/>
        </p:nvSpPr>
        <p:spPr>
          <a:xfrm>
            <a:off x="2788920" y="2834640"/>
            <a:ext cx="2231136" cy="182880"/>
          </a:xfrm>
          <a:prstGeom prst="roundRect">
            <a:avLst>
              <a:gd name="adj" fmla="val 25000"/>
            </a:avLst>
          </a:prstGeom>
          <a:solidFill>
            <a:srgbClr val="4E93D8"/>
          </a:solidFill>
          <a:ln w="12700">
            <a:solidFill>
              <a:srgbClr val="4E93D8"/>
            </a:solidFill>
            <a:prstDash val="solid"/>
          </a:ln>
        </p:spPr>
      </p:sp>
      <p:sp>
        <p:nvSpPr>
          <p:cNvPr id="20" name="Text 16"/>
          <p:cNvSpPr txBox="1"/>
          <p:nvPr/>
        </p:nvSpPr>
        <p:spPr>
          <a:xfrm>
            <a:off x="5093208" y="2779776"/>
            <a:ext cx="5486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5F3E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61</a:t>
            </a:r>
            <a:endParaRPr lang="en-US" sz="1300" dirty="0"/>
          </a:p>
        </p:txBody>
      </p:sp>
      <p:sp>
        <p:nvSpPr>
          <p:cNvPr id="21" name="Text 17"/>
          <p:cNvSpPr txBox="1"/>
          <p:nvPr/>
        </p:nvSpPr>
        <p:spPr>
          <a:xfrm>
            <a:off x="548640" y="3182112"/>
            <a:ext cx="21945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B4BAC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Жорж Гинемер</a:t>
            </a:r>
            <a:endParaRPr lang="en-US" sz="1250" dirty="0"/>
          </a:p>
        </p:txBody>
      </p:sp>
      <p:sp>
        <p:nvSpPr>
          <p:cNvPr id="22" name="Shape 18"/>
          <p:cNvSpPr/>
          <p:nvPr/>
        </p:nvSpPr>
        <p:spPr>
          <a:xfrm>
            <a:off x="2788920" y="3236976"/>
            <a:ext cx="1938528" cy="182880"/>
          </a:xfrm>
          <a:prstGeom prst="roundRect">
            <a:avLst>
              <a:gd name="adj" fmla="val 25000"/>
            </a:avLst>
          </a:prstGeom>
          <a:solidFill>
            <a:srgbClr val="4E93D8"/>
          </a:solidFill>
          <a:ln w="12700">
            <a:solidFill>
              <a:srgbClr val="4E93D8"/>
            </a:solidFill>
            <a:prstDash val="solid"/>
          </a:ln>
        </p:spPr>
      </p:sp>
      <p:sp>
        <p:nvSpPr>
          <p:cNvPr id="23" name="Text 19"/>
          <p:cNvSpPr txBox="1"/>
          <p:nvPr/>
        </p:nvSpPr>
        <p:spPr>
          <a:xfrm>
            <a:off x="4800600" y="3182112"/>
            <a:ext cx="5486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5F3E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53</a:t>
            </a:r>
            <a:endParaRPr lang="en-US" sz="1300" dirty="0"/>
          </a:p>
        </p:txBody>
      </p:sp>
      <p:sp>
        <p:nvSpPr>
          <p:cNvPr id="24" name="Text 20"/>
          <p:cNvSpPr txBox="1"/>
          <p:nvPr/>
        </p:nvSpPr>
        <p:spPr>
          <a:xfrm>
            <a:off x="548640" y="3584448"/>
            <a:ext cx="21945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B4BAC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Освальд Бёльке</a:t>
            </a:r>
            <a:endParaRPr lang="en-US" sz="1250" dirty="0"/>
          </a:p>
        </p:txBody>
      </p:sp>
      <p:sp>
        <p:nvSpPr>
          <p:cNvPr id="25" name="Shape 21"/>
          <p:cNvSpPr/>
          <p:nvPr/>
        </p:nvSpPr>
        <p:spPr>
          <a:xfrm>
            <a:off x="2788920" y="3639312"/>
            <a:ext cx="1463040" cy="182880"/>
          </a:xfrm>
          <a:prstGeom prst="roundRect">
            <a:avLst>
              <a:gd name="adj" fmla="val 25000"/>
            </a:avLst>
          </a:prstGeom>
          <a:solidFill>
            <a:srgbClr val="E4543F"/>
          </a:solidFill>
          <a:ln w="12700">
            <a:solidFill>
              <a:srgbClr val="E4543F"/>
            </a:solidFill>
            <a:prstDash val="solid"/>
          </a:ln>
        </p:spPr>
      </p:sp>
      <p:sp>
        <p:nvSpPr>
          <p:cNvPr id="26" name="Text 22"/>
          <p:cNvSpPr txBox="1"/>
          <p:nvPr/>
        </p:nvSpPr>
        <p:spPr>
          <a:xfrm>
            <a:off x="4325112" y="3584448"/>
            <a:ext cx="5486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5F3E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40</a:t>
            </a:r>
            <a:endParaRPr lang="en-US" sz="1300" dirty="0"/>
          </a:p>
        </p:txBody>
      </p:sp>
      <p:sp>
        <p:nvSpPr>
          <p:cNvPr id="27" name="Text 23"/>
          <p:cNvSpPr txBox="1"/>
          <p:nvPr/>
        </p:nvSpPr>
        <p:spPr>
          <a:xfrm>
            <a:off x="548640" y="3986784"/>
            <a:ext cx="21945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B4BAC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Франческо Баракка</a:t>
            </a:r>
            <a:endParaRPr lang="en-US" sz="1250" dirty="0"/>
          </a:p>
        </p:txBody>
      </p:sp>
      <p:sp>
        <p:nvSpPr>
          <p:cNvPr id="28" name="Shape 24"/>
          <p:cNvSpPr/>
          <p:nvPr/>
        </p:nvSpPr>
        <p:spPr>
          <a:xfrm>
            <a:off x="2788920" y="4041648"/>
            <a:ext cx="1243584" cy="182880"/>
          </a:xfrm>
          <a:prstGeom prst="roundRect">
            <a:avLst>
              <a:gd name="adj" fmla="val 25000"/>
            </a:avLst>
          </a:prstGeom>
          <a:solidFill>
            <a:srgbClr val="4E93D8"/>
          </a:solidFill>
          <a:ln w="12700">
            <a:solidFill>
              <a:srgbClr val="4E93D8"/>
            </a:solidFill>
            <a:prstDash val="solid"/>
          </a:ln>
        </p:spPr>
      </p:sp>
      <p:sp>
        <p:nvSpPr>
          <p:cNvPr id="29" name="Text 25"/>
          <p:cNvSpPr txBox="1"/>
          <p:nvPr/>
        </p:nvSpPr>
        <p:spPr>
          <a:xfrm>
            <a:off x="4105656" y="3986784"/>
            <a:ext cx="5486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5F3E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34</a:t>
            </a:r>
            <a:endParaRPr lang="en-US" sz="1300" dirty="0"/>
          </a:p>
        </p:txBody>
      </p:sp>
      <p:sp>
        <p:nvSpPr>
          <p:cNvPr id="30" name="Text 26"/>
          <p:cNvSpPr txBox="1"/>
          <p:nvPr/>
        </p:nvSpPr>
        <p:spPr>
          <a:xfrm>
            <a:off x="548640" y="4389120"/>
            <a:ext cx="21945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B4BAC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Эдди Рикенбакер</a:t>
            </a:r>
            <a:endParaRPr lang="en-US" sz="1250" dirty="0"/>
          </a:p>
        </p:txBody>
      </p:sp>
      <p:sp>
        <p:nvSpPr>
          <p:cNvPr id="31" name="Shape 27"/>
          <p:cNvSpPr/>
          <p:nvPr/>
        </p:nvSpPr>
        <p:spPr>
          <a:xfrm>
            <a:off x="2788920" y="4443984"/>
            <a:ext cx="950976" cy="182880"/>
          </a:xfrm>
          <a:prstGeom prst="roundRect">
            <a:avLst>
              <a:gd name="adj" fmla="val 25000"/>
            </a:avLst>
          </a:prstGeom>
          <a:solidFill>
            <a:srgbClr val="4E93D8"/>
          </a:solidFill>
          <a:ln w="12700">
            <a:solidFill>
              <a:srgbClr val="4E93D8"/>
            </a:solidFill>
            <a:prstDash val="solid"/>
          </a:ln>
        </p:spPr>
      </p:sp>
      <p:sp>
        <p:nvSpPr>
          <p:cNvPr id="32" name="Text 28"/>
          <p:cNvSpPr txBox="1"/>
          <p:nvPr/>
        </p:nvSpPr>
        <p:spPr>
          <a:xfrm>
            <a:off x="3813048" y="4389120"/>
            <a:ext cx="5486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5F3E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26</a:t>
            </a:r>
            <a:endParaRPr lang="en-US" sz="1300" dirty="0"/>
          </a:p>
        </p:txBody>
      </p:sp>
      <p:sp>
        <p:nvSpPr>
          <p:cNvPr id="33" name="Text 29"/>
          <p:cNvSpPr txBox="1"/>
          <p:nvPr/>
        </p:nvSpPr>
        <p:spPr>
          <a:xfrm>
            <a:off x="548640" y="4791456"/>
            <a:ext cx="21945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B4BAC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Александр Казаков</a:t>
            </a:r>
            <a:endParaRPr lang="en-US" sz="1250" dirty="0"/>
          </a:p>
        </p:txBody>
      </p:sp>
      <p:sp>
        <p:nvSpPr>
          <p:cNvPr id="34" name="Shape 30"/>
          <p:cNvSpPr/>
          <p:nvPr/>
        </p:nvSpPr>
        <p:spPr>
          <a:xfrm>
            <a:off x="2788920" y="4846320"/>
            <a:ext cx="621792" cy="182880"/>
          </a:xfrm>
          <a:prstGeom prst="roundRect">
            <a:avLst>
              <a:gd name="adj" fmla="val 25000"/>
            </a:avLst>
          </a:prstGeom>
          <a:solidFill>
            <a:srgbClr val="E3B64E"/>
          </a:solidFill>
          <a:ln w="12700">
            <a:solidFill>
              <a:srgbClr val="E3B64E"/>
            </a:solidFill>
            <a:prstDash val="solid"/>
          </a:ln>
        </p:spPr>
      </p:sp>
      <p:sp>
        <p:nvSpPr>
          <p:cNvPr id="35" name="Text 31"/>
          <p:cNvSpPr txBox="1"/>
          <p:nvPr/>
        </p:nvSpPr>
        <p:spPr>
          <a:xfrm>
            <a:off x="3483864" y="4791456"/>
            <a:ext cx="5486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5F3E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17</a:t>
            </a:r>
            <a:endParaRPr lang="en-US" sz="1300" dirty="0"/>
          </a:p>
        </p:txBody>
      </p:sp>
      <p:sp>
        <p:nvSpPr>
          <p:cNvPr id="36" name="Text 32"/>
          <p:cNvSpPr txBox="1"/>
          <p:nvPr/>
        </p:nvSpPr>
        <p:spPr>
          <a:xfrm>
            <a:off x="548640" y="5193792"/>
            <a:ext cx="21945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B4BAC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Макс Иммельман</a:t>
            </a:r>
            <a:endParaRPr lang="en-US" sz="1250" dirty="0"/>
          </a:p>
        </p:txBody>
      </p:sp>
      <p:sp>
        <p:nvSpPr>
          <p:cNvPr id="37" name="Shape 33"/>
          <p:cNvSpPr/>
          <p:nvPr/>
        </p:nvSpPr>
        <p:spPr>
          <a:xfrm>
            <a:off x="2788920" y="5248656"/>
            <a:ext cx="548640" cy="182880"/>
          </a:xfrm>
          <a:prstGeom prst="roundRect">
            <a:avLst>
              <a:gd name="adj" fmla="val 25000"/>
            </a:avLst>
          </a:prstGeom>
          <a:solidFill>
            <a:srgbClr val="E4543F"/>
          </a:solidFill>
          <a:ln w="12700">
            <a:solidFill>
              <a:srgbClr val="E4543F"/>
            </a:solidFill>
            <a:prstDash val="solid"/>
          </a:ln>
        </p:spPr>
      </p:sp>
      <p:sp>
        <p:nvSpPr>
          <p:cNvPr id="38" name="Text 34"/>
          <p:cNvSpPr txBox="1"/>
          <p:nvPr/>
        </p:nvSpPr>
        <p:spPr>
          <a:xfrm>
            <a:off x="3410712" y="5193792"/>
            <a:ext cx="5486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5F3E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</a:t>
            </a:r>
            <a:endParaRPr lang="en-US" sz="1300" dirty="0"/>
          </a:p>
        </p:txBody>
      </p:sp>
      <p:sp>
        <p:nvSpPr>
          <p:cNvPr id="39" name="Shape 35"/>
          <p:cNvSpPr/>
          <p:nvPr/>
        </p:nvSpPr>
        <p:spPr>
          <a:xfrm>
            <a:off x="548640" y="5715000"/>
            <a:ext cx="118872" cy="118872"/>
          </a:xfrm>
          <a:prstGeom prst="ellipse">
            <a:avLst/>
          </a:prstGeom>
          <a:solidFill>
            <a:srgbClr val="E4543F"/>
          </a:solidFill>
          <a:ln w="12700">
            <a:solidFill>
              <a:srgbClr val="E4543F"/>
            </a:solidFill>
            <a:prstDash val="solid"/>
          </a:ln>
        </p:spPr>
      </p:sp>
      <p:sp>
        <p:nvSpPr>
          <p:cNvPr id="40" name="Text 36"/>
          <p:cNvSpPr txBox="1"/>
          <p:nvPr/>
        </p:nvSpPr>
        <p:spPr>
          <a:xfrm>
            <a:off x="731520" y="5650992"/>
            <a:ext cx="1097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B4BAC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Германия</a:t>
            </a:r>
            <a:endParaRPr lang="en-US" sz="1050" dirty="0"/>
          </a:p>
        </p:txBody>
      </p:sp>
      <p:sp>
        <p:nvSpPr>
          <p:cNvPr id="41" name="Shape 37"/>
          <p:cNvSpPr/>
          <p:nvPr/>
        </p:nvSpPr>
        <p:spPr>
          <a:xfrm>
            <a:off x="1874520" y="5715000"/>
            <a:ext cx="118872" cy="118872"/>
          </a:xfrm>
          <a:prstGeom prst="ellipse">
            <a:avLst/>
          </a:prstGeom>
          <a:solidFill>
            <a:srgbClr val="4E93D8"/>
          </a:solidFill>
          <a:ln w="12700">
            <a:solidFill>
              <a:srgbClr val="4E93D8"/>
            </a:solidFill>
            <a:prstDash val="solid"/>
          </a:ln>
        </p:spPr>
      </p:sp>
      <p:sp>
        <p:nvSpPr>
          <p:cNvPr id="42" name="Text 38"/>
          <p:cNvSpPr txBox="1"/>
          <p:nvPr/>
        </p:nvSpPr>
        <p:spPr>
          <a:xfrm>
            <a:off x="2057400" y="5650992"/>
            <a:ext cx="1097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B4BAC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Антанта</a:t>
            </a:r>
            <a:endParaRPr lang="en-US" sz="1050" dirty="0"/>
          </a:p>
        </p:txBody>
      </p:sp>
      <p:sp>
        <p:nvSpPr>
          <p:cNvPr id="43" name="Shape 39"/>
          <p:cNvSpPr/>
          <p:nvPr/>
        </p:nvSpPr>
        <p:spPr>
          <a:xfrm>
            <a:off x="3200400" y="5715000"/>
            <a:ext cx="118872" cy="118872"/>
          </a:xfrm>
          <a:prstGeom prst="ellipse">
            <a:avLst/>
          </a:prstGeom>
          <a:solidFill>
            <a:srgbClr val="E3B64E"/>
          </a:solidFill>
          <a:ln w="12700">
            <a:solidFill>
              <a:srgbClr val="E3B64E"/>
            </a:solidFill>
            <a:prstDash val="solid"/>
          </a:ln>
        </p:spPr>
      </p:sp>
      <p:sp>
        <p:nvSpPr>
          <p:cNvPr id="44" name="Text 40"/>
          <p:cNvSpPr txBox="1"/>
          <p:nvPr/>
        </p:nvSpPr>
        <p:spPr>
          <a:xfrm>
            <a:off x="3383280" y="5650992"/>
            <a:ext cx="1097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B4BAC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Россия</a:t>
            </a:r>
            <a:endParaRPr lang="en-US" sz="1050" dirty="0"/>
          </a:p>
        </p:txBody>
      </p:sp>
      <p:sp>
        <p:nvSpPr>
          <p:cNvPr id="45" name="Text 41"/>
          <p:cNvSpPr txBox="1"/>
          <p:nvPr/>
        </p:nvSpPr>
        <p:spPr>
          <a:xfrm>
            <a:off x="548640" y="59893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7C83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Официально засчитанные победы; в источниках числа могут отличаться.</a:t>
            </a:r>
            <a:endParaRPr lang="en-US" sz="950" dirty="0"/>
          </a:p>
        </p:txBody>
      </p:sp>
      <p:sp>
        <p:nvSpPr>
          <p:cNvPr id="46" name="Text 42"/>
          <p:cNvSpPr txBox="1"/>
          <p:nvPr/>
        </p:nvSpPr>
        <p:spPr>
          <a:xfrm>
            <a:off x="7498080" y="3977640"/>
            <a:ext cx="4206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50" dirty="0">
                <a:solidFill>
                  <a:srgbClr val="7C83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Pfalz D.XII в «киношной» раскраске: после войны он снимался в Голливуде, в фильме «Утренний патруль» (1930)</a:t>
            </a:r>
            <a:endParaRPr lang="en-US" sz="950" dirty="0"/>
          </a:p>
        </p:txBody>
      </p:sp>
      <p:pic>
        <p:nvPicPr>
          <p:cNvPr id="47" name="Image 2" descr="/root/deck2/assets/trenchart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903720" y="4526280"/>
            <a:ext cx="1508760" cy="1200722"/>
          </a:xfrm>
          <a:prstGeom prst="rect">
            <a:avLst/>
          </a:prstGeom>
        </p:spPr>
      </p:pic>
      <p:sp>
        <p:nvSpPr>
          <p:cNvPr id="48" name="Text 43"/>
          <p:cNvSpPr txBox="1"/>
          <p:nvPr/>
        </p:nvSpPr>
        <p:spPr>
          <a:xfrm>
            <a:off x="8595360" y="4572000"/>
            <a:ext cx="315468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F5F3E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Лётчики стали кумирами. </a:t>
            </a:r>
            <a:pPr indent="0" marL="0">
              <a:buNone/>
            </a:pPr>
            <a:r>
              <a:rPr lang="en-US" sz="1100" dirty="0">
                <a:solidFill>
                  <a:srgbClr val="B4BAC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Солдаты делали модели самолётов из металла — «окопное искусство». Этот самолётик сделан во Франции.</a:t>
            </a:r>
            <a:pPr indent="0" marL="0">
              <a:buNone/>
            </a:pP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7C83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«Заповеди Бёльке» (1916) — первые правила боя: атакуй сверху, со стороны солнца, стреляй в упор.</a:t>
            </a:r>
            <a:endParaRPr lang="en-US" sz="1100" dirty="0"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1500">
        <p159:morph option="byObject"/>
      </p:transition>
    </mc:Choice>
    <mc:Fallback>
      <p:transition spd="slow">
        <p:fade/>
      </p:transition>
    </mc:Fallback>
  </mc:AlternateContent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7090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!!mapw" descr="/root/deck2/assets/west1914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-9663721" y="-10486634"/>
            <a:ext cx="35119487" cy="19754712"/>
          </a:xfrm>
          <a:prstGeom prst="rect">
            <a:avLst/>
          </a:prstGeom>
        </p:spPr>
      </p:pic>
      <p:pic>
        <p:nvPicPr>
          <p:cNvPr id="3" name="Image 1" descr="/root/deck2/assets/grad_left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6035040" cy="6858000"/>
          </a:xfrm>
          <a:prstGeom prst="rect">
            <a:avLst/>
          </a:prstGeom>
        </p:spPr>
      </p:pic>
      <p:pic>
        <p:nvPicPr>
          <p:cNvPr id="4" name="Image 2" descr="/root/deck2/assets/grad_bottom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5486400"/>
            <a:ext cx="12191695" cy="1371600"/>
          </a:xfrm>
          <a:prstGeom prst="rect">
            <a:avLst/>
          </a:prstGeom>
        </p:spPr>
      </p:pic>
      <p:sp>
        <p:nvSpPr>
          <p:cNvPr id="5" name="!!kicker"/>
          <p:cNvSpPr txBox="1"/>
          <p:nvPr/>
        </p:nvSpPr>
        <p:spPr>
          <a:xfrm>
            <a:off x="548640" y="38404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spc="250" kern="0" dirty="0">
                <a:solidFill>
                  <a:srgbClr val="FF9F0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ГЛАВА 7 · 1916–1918</a:t>
            </a:r>
            <a:endParaRPr lang="en-US" sz="1200" dirty="0"/>
          </a:p>
        </p:txBody>
      </p:sp>
      <p:sp>
        <p:nvSpPr>
          <p:cNvPr id="6" name="!!title"/>
          <p:cNvSpPr txBox="1"/>
          <p:nvPr/>
        </p:nvSpPr>
        <p:spPr>
          <a:xfrm>
            <a:off x="548640" y="658368"/>
            <a:ext cx="45720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0" b="1" spc="-50" kern="0" dirty="0">
                <a:solidFill>
                  <a:srgbClr val="F5F3E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Битвы за небо</a:t>
            </a:r>
            <a:endParaRPr lang="en-US" sz="3800" dirty="0"/>
          </a:p>
        </p:txBody>
      </p:sp>
      <p:sp>
        <p:nvSpPr>
          <p:cNvPr id="7" name="!!track"/>
          <p:cNvSpPr/>
          <p:nvPr/>
        </p:nvSpPr>
        <p:spPr>
          <a:xfrm>
            <a:off x="548640" y="6519672"/>
            <a:ext cx="2194560" cy="32004"/>
          </a:xfrm>
          <a:prstGeom prst="rect">
            <a:avLst/>
          </a:prstGeom>
          <a:solidFill>
            <a:srgbClr val="2A2F38"/>
          </a:solidFill>
          <a:ln w="12700">
            <a:solidFill>
              <a:srgbClr val="2A2F38"/>
            </a:solidFill>
            <a:prstDash val="solid"/>
          </a:ln>
        </p:spPr>
      </p:sp>
      <p:sp>
        <p:nvSpPr>
          <p:cNvPr id="8" name="!!prog"/>
          <p:cNvSpPr/>
          <p:nvPr/>
        </p:nvSpPr>
        <p:spPr>
          <a:xfrm>
            <a:off x="548640" y="6519672"/>
            <a:ext cx="1567543" cy="32004"/>
          </a:xfrm>
          <a:prstGeom prst="rect">
            <a:avLst/>
          </a:prstGeom>
          <a:solidFill>
            <a:srgbClr val="FF9F0A"/>
          </a:solidFill>
          <a:ln w="12700">
            <a:solidFill>
              <a:srgbClr val="FF9F0A"/>
            </a:solidFill>
            <a:prstDash val="solid"/>
          </a:ln>
        </p:spPr>
      </p:sp>
      <p:sp>
        <p:nvSpPr>
          <p:cNvPr id="9" name="!!pg"/>
          <p:cNvSpPr txBox="1"/>
          <p:nvPr/>
        </p:nvSpPr>
        <p:spPr>
          <a:xfrm>
            <a:off x="10725912" y="6419088"/>
            <a:ext cx="914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000" dirty="0">
                <a:solidFill>
                  <a:srgbClr val="7C83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 / 14</a:t>
            </a:r>
            <a:endParaRPr lang="en-US" sz="1000" dirty="0"/>
          </a:p>
        </p:txBody>
      </p:sp>
      <p:sp>
        <p:nvSpPr>
          <p:cNvPr id="10" name="Shape 5"/>
          <p:cNvSpPr/>
          <p:nvPr/>
        </p:nvSpPr>
        <p:spPr>
          <a:xfrm>
            <a:off x="5967374" y="2584818"/>
            <a:ext cx="409651" cy="409651"/>
          </a:xfrm>
          <a:prstGeom prst="ellipse">
            <a:avLst/>
          </a:prstGeom>
          <a:solidFill>
            <a:srgbClr val="FF9F0A">
              <a:alpha val="22000"/>
            </a:srgbClr>
          </a:solidFill>
          <a:ln w="12700">
            <a:solidFill>
              <a:srgbClr val="FF9F0A">
                <a:alpha val="70000"/>
              </a:srgbClr>
            </a:solidFill>
            <a:prstDash val="solid"/>
          </a:ln>
        </p:spPr>
      </p:sp>
      <p:sp>
        <p:nvSpPr>
          <p:cNvPr id="11" name="Shape 6"/>
          <p:cNvSpPr/>
          <p:nvPr/>
        </p:nvSpPr>
        <p:spPr>
          <a:xfrm>
            <a:off x="6099048" y="2716492"/>
            <a:ext cx="146304" cy="146304"/>
          </a:xfrm>
          <a:prstGeom prst="ellipse">
            <a:avLst/>
          </a:prstGeom>
          <a:solidFill>
            <a:srgbClr val="FF9F0A"/>
          </a:solidFill>
          <a:ln w="15875">
            <a:solidFill>
              <a:srgbClr val="FFFFFF"/>
            </a:solidFill>
            <a:prstDash val="solid"/>
          </a:ln>
        </p:spPr>
      </p:sp>
      <p:sp>
        <p:nvSpPr>
          <p:cNvPr id="12" name="Text 7"/>
          <p:cNvSpPr txBox="1"/>
          <p:nvPr/>
        </p:nvSpPr>
        <p:spPr>
          <a:xfrm>
            <a:off x="6446520" y="2195284"/>
            <a:ext cx="2057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F5F3E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Аррас  </a:t>
            </a:r>
            <a:pPr algn="l" indent="0" marL="0">
              <a:buNone/>
            </a:pPr>
            <a:r>
              <a:rPr lang="en-US" sz="1500" b="1" dirty="0">
                <a:solidFill>
                  <a:srgbClr val="FF9F0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245 : 66</a:t>
            </a:r>
            <a:endParaRPr lang="en-US" sz="1400" dirty="0"/>
          </a:p>
          <a:p>
            <a:pPr algn="l" indent="0" marL="0">
              <a:buNone/>
            </a:pPr>
            <a:r>
              <a:rPr lang="en-US" sz="1050" dirty="0">
                <a:solidFill>
                  <a:srgbClr val="B4BAC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«Кровавый апрель» 1917</a:t>
            </a:r>
            <a:endParaRPr lang="en-US" sz="1400" dirty="0"/>
          </a:p>
        </p:txBody>
      </p:sp>
      <p:sp>
        <p:nvSpPr>
          <p:cNvPr id="13" name="Shape 8"/>
          <p:cNvSpPr/>
          <p:nvPr/>
        </p:nvSpPr>
        <p:spPr>
          <a:xfrm>
            <a:off x="5799886" y="3117595"/>
            <a:ext cx="409651" cy="409651"/>
          </a:xfrm>
          <a:prstGeom prst="ellipse">
            <a:avLst/>
          </a:prstGeom>
          <a:solidFill>
            <a:srgbClr val="FF9F0A">
              <a:alpha val="22000"/>
            </a:srgbClr>
          </a:solidFill>
          <a:ln w="12700">
            <a:solidFill>
              <a:srgbClr val="FF9F0A">
                <a:alpha val="70000"/>
              </a:srgbClr>
            </a:solidFill>
            <a:prstDash val="solid"/>
          </a:ln>
        </p:spPr>
      </p:sp>
      <p:sp>
        <p:nvSpPr>
          <p:cNvPr id="14" name="Shape 9"/>
          <p:cNvSpPr/>
          <p:nvPr/>
        </p:nvSpPr>
        <p:spPr>
          <a:xfrm>
            <a:off x="5931560" y="3249269"/>
            <a:ext cx="146304" cy="146304"/>
          </a:xfrm>
          <a:prstGeom prst="ellipse">
            <a:avLst/>
          </a:prstGeom>
          <a:solidFill>
            <a:srgbClr val="FF9F0A"/>
          </a:solidFill>
          <a:ln w="15875">
            <a:solidFill>
              <a:srgbClr val="FFFFFF"/>
            </a:solidFill>
            <a:prstDash val="solid"/>
          </a:ln>
        </p:spPr>
      </p:sp>
      <p:sp>
        <p:nvSpPr>
          <p:cNvPr id="15" name="Text 10"/>
          <p:cNvSpPr txBox="1"/>
          <p:nvPr/>
        </p:nvSpPr>
        <p:spPr>
          <a:xfrm>
            <a:off x="6279032" y="3093821"/>
            <a:ext cx="2057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F5F3E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Сомма  </a:t>
            </a:r>
            <a:pPr algn="l" indent="0" marL="0">
              <a:buNone/>
            </a:pPr>
            <a:r>
              <a:rPr lang="en-US" sz="1500" b="1" dirty="0">
                <a:solidFill>
                  <a:srgbClr val="FF9F0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141 день</a:t>
            </a:r>
            <a:endParaRPr lang="en-US" sz="1400" dirty="0"/>
          </a:p>
          <a:p>
            <a:pPr algn="l" indent="0" marL="0">
              <a:buNone/>
            </a:pPr>
            <a:r>
              <a:rPr lang="en-US" sz="1050" dirty="0">
                <a:solidFill>
                  <a:srgbClr val="B4BAC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июль — ноябрь 1916</a:t>
            </a:r>
            <a:endParaRPr lang="en-US" sz="1400" dirty="0"/>
          </a:p>
        </p:txBody>
      </p:sp>
      <p:sp>
        <p:nvSpPr>
          <p:cNvPr id="16" name="Shape 11"/>
          <p:cNvSpPr/>
          <p:nvPr/>
        </p:nvSpPr>
        <p:spPr>
          <a:xfrm>
            <a:off x="9074994" y="4693238"/>
            <a:ext cx="409651" cy="409651"/>
          </a:xfrm>
          <a:prstGeom prst="ellipse">
            <a:avLst/>
          </a:prstGeom>
          <a:solidFill>
            <a:srgbClr val="FF9F0A">
              <a:alpha val="22000"/>
            </a:srgbClr>
          </a:solidFill>
          <a:ln w="12700">
            <a:solidFill>
              <a:srgbClr val="FF9F0A">
                <a:alpha val="70000"/>
              </a:srgbClr>
            </a:solidFill>
            <a:prstDash val="solid"/>
          </a:ln>
        </p:spPr>
      </p:sp>
      <p:sp>
        <p:nvSpPr>
          <p:cNvPr id="17" name="Shape 12"/>
          <p:cNvSpPr/>
          <p:nvPr/>
        </p:nvSpPr>
        <p:spPr>
          <a:xfrm>
            <a:off x="9206667" y="4824912"/>
            <a:ext cx="146304" cy="146304"/>
          </a:xfrm>
          <a:prstGeom prst="ellipse">
            <a:avLst/>
          </a:prstGeom>
          <a:solidFill>
            <a:srgbClr val="FF9F0A"/>
          </a:solidFill>
          <a:ln w="15875">
            <a:solidFill>
              <a:srgbClr val="FFFFFF"/>
            </a:solidFill>
            <a:prstDash val="solid"/>
          </a:ln>
        </p:spPr>
      </p:sp>
      <p:sp>
        <p:nvSpPr>
          <p:cNvPr id="18" name="Text 13"/>
          <p:cNvSpPr txBox="1"/>
          <p:nvPr/>
        </p:nvSpPr>
        <p:spPr>
          <a:xfrm>
            <a:off x="6948099" y="4001952"/>
            <a:ext cx="2057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500" b="1" dirty="0">
                <a:solidFill>
                  <a:srgbClr val="F5F3E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Верден  </a:t>
            </a:r>
            <a:pPr algn="r" indent="0" marL="0">
              <a:buNone/>
            </a:pPr>
            <a:r>
              <a:rPr lang="en-US" sz="1500" b="1" dirty="0">
                <a:solidFill>
                  <a:srgbClr val="FF9F0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303 дня</a:t>
            </a:r>
            <a:endParaRPr lang="en-US" sz="1400" dirty="0"/>
          </a:p>
          <a:p>
            <a:pPr algn="r" indent="0" marL="0">
              <a:buNone/>
            </a:pPr>
            <a:r>
              <a:rPr lang="en-US" sz="1050" dirty="0">
                <a:solidFill>
                  <a:srgbClr val="B4BAC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февраль — декабрь 1916</a:t>
            </a:r>
            <a:endParaRPr lang="en-US" sz="1400" dirty="0"/>
          </a:p>
        </p:txBody>
      </p:sp>
      <p:sp>
        <p:nvSpPr>
          <p:cNvPr id="19" name="Shape 14"/>
          <p:cNvSpPr/>
          <p:nvPr/>
        </p:nvSpPr>
        <p:spPr>
          <a:xfrm>
            <a:off x="9276117" y="5190134"/>
            <a:ext cx="409651" cy="409651"/>
          </a:xfrm>
          <a:prstGeom prst="ellipse">
            <a:avLst/>
          </a:prstGeom>
          <a:solidFill>
            <a:srgbClr val="FF9F0A">
              <a:alpha val="22000"/>
            </a:srgbClr>
          </a:solidFill>
          <a:ln w="12700">
            <a:solidFill>
              <a:srgbClr val="FF9F0A">
                <a:alpha val="70000"/>
              </a:srgbClr>
            </a:solidFill>
            <a:prstDash val="solid"/>
          </a:ln>
        </p:spPr>
      </p:sp>
      <p:sp>
        <p:nvSpPr>
          <p:cNvPr id="20" name="Shape 15"/>
          <p:cNvSpPr/>
          <p:nvPr/>
        </p:nvSpPr>
        <p:spPr>
          <a:xfrm>
            <a:off x="9407791" y="5321808"/>
            <a:ext cx="146304" cy="146304"/>
          </a:xfrm>
          <a:prstGeom prst="ellipse">
            <a:avLst/>
          </a:prstGeom>
          <a:solidFill>
            <a:srgbClr val="FF9F0A"/>
          </a:solidFill>
          <a:ln w="15875">
            <a:solidFill>
              <a:srgbClr val="FFFFFF"/>
            </a:solidFill>
            <a:prstDash val="solid"/>
          </a:ln>
        </p:spPr>
      </p:sp>
      <p:sp>
        <p:nvSpPr>
          <p:cNvPr id="21" name="Text 16"/>
          <p:cNvSpPr txBox="1"/>
          <p:nvPr/>
        </p:nvSpPr>
        <p:spPr>
          <a:xfrm>
            <a:off x="9755263" y="5230368"/>
            <a:ext cx="2057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F5F3E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Сен-Мийель  </a:t>
            </a:r>
            <a:pPr algn="l" indent="0" marL="0">
              <a:buNone/>
            </a:pPr>
            <a:r>
              <a:rPr lang="en-US" sz="1500" b="1" dirty="0">
                <a:solidFill>
                  <a:srgbClr val="FF9F0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≈1 480</a:t>
            </a:r>
            <a:endParaRPr lang="en-US" sz="1400" dirty="0"/>
          </a:p>
          <a:p>
            <a:pPr algn="l" indent="0" marL="0">
              <a:buNone/>
            </a:pPr>
            <a:r>
              <a:rPr lang="en-US" sz="1050" dirty="0">
                <a:solidFill>
                  <a:srgbClr val="B4BAC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12–15 сентября 1918</a:t>
            </a:r>
            <a:endParaRPr lang="en-US" sz="1400" dirty="0"/>
          </a:p>
        </p:txBody>
      </p:sp>
      <p:sp>
        <p:nvSpPr>
          <p:cNvPr id="22" name="Shape 17"/>
          <p:cNvSpPr/>
          <p:nvPr/>
        </p:nvSpPr>
        <p:spPr>
          <a:xfrm>
            <a:off x="5540563" y="5375388"/>
            <a:ext cx="91440" cy="91440"/>
          </a:xfrm>
          <a:prstGeom prst="ellipse">
            <a:avLst/>
          </a:prstGeom>
          <a:solidFill>
            <a:srgbClr val="F5F3EF"/>
          </a:solidFill>
          <a:ln w="12700">
            <a:solidFill>
              <a:srgbClr val="F5F3EF"/>
            </a:solidFill>
            <a:prstDash val="solid"/>
          </a:ln>
        </p:spPr>
      </p:sp>
      <p:sp>
        <p:nvSpPr>
          <p:cNvPr id="23" name="Text 18"/>
          <p:cNvSpPr txBox="1"/>
          <p:nvPr/>
        </p:nvSpPr>
        <p:spPr>
          <a:xfrm>
            <a:off x="5677723" y="5311380"/>
            <a:ext cx="11887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B4BAC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Париж</a:t>
            </a:r>
            <a:endParaRPr lang="en-US" sz="1050" dirty="0"/>
          </a:p>
        </p:txBody>
      </p:sp>
      <p:sp>
        <p:nvSpPr>
          <p:cNvPr id="24" name="Shape 19"/>
          <p:cNvSpPr/>
          <p:nvPr/>
        </p:nvSpPr>
        <p:spPr>
          <a:xfrm>
            <a:off x="7990131" y="1731213"/>
            <a:ext cx="91440" cy="91440"/>
          </a:xfrm>
          <a:prstGeom prst="ellipse">
            <a:avLst/>
          </a:prstGeom>
          <a:solidFill>
            <a:srgbClr val="F5F3EF"/>
          </a:solidFill>
          <a:ln w="12700">
            <a:solidFill>
              <a:srgbClr val="F5F3EF"/>
            </a:solidFill>
            <a:prstDash val="solid"/>
          </a:ln>
        </p:spPr>
      </p:sp>
      <p:sp>
        <p:nvSpPr>
          <p:cNvPr id="25" name="Text 20"/>
          <p:cNvSpPr txBox="1"/>
          <p:nvPr/>
        </p:nvSpPr>
        <p:spPr>
          <a:xfrm>
            <a:off x="8127291" y="1667205"/>
            <a:ext cx="11887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B4BAC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Брюссель</a:t>
            </a:r>
            <a:endParaRPr lang="en-US" sz="1050" dirty="0"/>
          </a:p>
        </p:txBody>
      </p:sp>
      <p:sp>
        <p:nvSpPr>
          <p:cNvPr id="26" name="Text 21"/>
          <p:cNvSpPr txBox="1"/>
          <p:nvPr/>
        </p:nvSpPr>
        <p:spPr>
          <a:xfrm>
            <a:off x="548640" y="1572768"/>
            <a:ext cx="4206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F5F3E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Верден, 1916</a:t>
            </a:r>
            <a:endParaRPr lang="en-US" sz="1400" dirty="0"/>
          </a:p>
        </p:txBody>
      </p:sp>
      <p:sp>
        <p:nvSpPr>
          <p:cNvPr id="27" name="Text 22"/>
          <p:cNvSpPr txBox="1"/>
          <p:nvPr/>
        </p:nvSpPr>
        <p:spPr>
          <a:xfrm>
            <a:off x="548640" y="1865376"/>
            <a:ext cx="4023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B4BAC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Французы впервые сводят истребители в отдельные группы, чтобы вернуть себе небо.</a:t>
            </a:r>
            <a:endParaRPr lang="en-US" sz="1150" dirty="0"/>
          </a:p>
        </p:txBody>
      </p:sp>
      <p:sp>
        <p:nvSpPr>
          <p:cNvPr id="28" name="Text 23"/>
          <p:cNvSpPr txBox="1"/>
          <p:nvPr/>
        </p:nvSpPr>
        <p:spPr>
          <a:xfrm>
            <a:off x="548640" y="2505456"/>
            <a:ext cx="4206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F5F3E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Сомма, 1916</a:t>
            </a:r>
            <a:endParaRPr lang="en-US" sz="1400" dirty="0"/>
          </a:p>
        </p:txBody>
      </p:sp>
      <p:sp>
        <p:nvSpPr>
          <p:cNvPr id="29" name="Text 24"/>
          <p:cNvSpPr txBox="1"/>
          <p:nvPr/>
        </p:nvSpPr>
        <p:spPr>
          <a:xfrm>
            <a:off x="548640" y="2798064"/>
            <a:ext cx="4023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B4BAC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Британцы наступают и в воздухе; немцы в ответ создают истребительные эскадрильи.</a:t>
            </a:r>
            <a:endParaRPr lang="en-US" sz="1150" dirty="0"/>
          </a:p>
        </p:txBody>
      </p:sp>
      <p:sp>
        <p:nvSpPr>
          <p:cNvPr id="30" name="Text 25"/>
          <p:cNvSpPr txBox="1"/>
          <p:nvPr/>
        </p:nvSpPr>
        <p:spPr>
          <a:xfrm>
            <a:off x="548640" y="3438144"/>
            <a:ext cx="4206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F5F3E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Аррас, апрель 1917</a:t>
            </a:r>
            <a:endParaRPr lang="en-US" sz="1400" dirty="0"/>
          </a:p>
        </p:txBody>
      </p:sp>
      <p:sp>
        <p:nvSpPr>
          <p:cNvPr id="31" name="Text 26"/>
          <p:cNvSpPr txBox="1"/>
          <p:nvPr/>
        </p:nvSpPr>
        <p:spPr>
          <a:xfrm>
            <a:off x="548640" y="3730752"/>
            <a:ext cx="4023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B4BAC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«Кровавый апрель»: британцы теряют 245 самолётов, немцы — 66.</a:t>
            </a:r>
            <a:endParaRPr lang="en-US" sz="1150" dirty="0"/>
          </a:p>
        </p:txBody>
      </p:sp>
      <p:sp>
        <p:nvSpPr>
          <p:cNvPr id="32" name="Text 27"/>
          <p:cNvSpPr txBox="1"/>
          <p:nvPr/>
        </p:nvSpPr>
        <p:spPr>
          <a:xfrm>
            <a:off x="548640" y="4370832"/>
            <a:ext cx="4206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F5F3E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Сен-Мийель, 1918</a:t>
            </a:r>
            <a:endParaRPr lang="en-US" sz="1400" dirty="0"/>
          </a:p>
        </p:txBody>
      </p:sp>
      <p:sp>
        <p:nvSpPr>
          <p:cNvPr id="33" name="Text 28"/>
          <p:cNvSpPr txBox="1"/>
          <p:nvPr/>
        </p:nvSpPr>
        <p:spPr>
          <a:xfrm>
            <a:off x="548640" y="4663440"/>
            <a:ext cx="4023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B4BAC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Билли Митчелл собирает почти 1 500 самолётов — крупнейшая авиаоперация войны.</a:t>
            </a:r>
            <a:endParaRPr lang="en-US" sz="1150" dirty="0"/>
          </a:p>
        </p:txBody>
      </p:sp>
      <p:sp>
        <p:nvSpPr>
          <p:cNvPr id="34" name="Text 29"/>
          <p:cNvSpPr txBox="1"/>
          <p:nvPr/>
        </p:nvSpPr>
        <p:spPr>
          <a:xfrm>
            <a:off x="548640" y="5440680"/>
            <a:ext cx="4206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i="1" dirty="0">
                <a:solidFill>
                  <a:srgbClr val="FF9F0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«Роз, очистите мне небо! Я ослеп!»</a:t>
            </a:r>
            <a:endParaRPr lang="en-US" sz="1700" dirty="0"/>
          </a:p>
        </p:txBody>
      </p:sp>
      <p:sp>
        <p:nvSpPr>
          <p:cNvPr id="35" name="Text 30"/>
          <p:cNvSpPr txBox="1"/>
          <p:nvPr/>
        </p:nvSpPr>
        <p:spPr>
          <a:xfrm>
            <a:off x="548640" y="5870448"/>
            <a:ext cx="4206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7C83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Генерал Петен — командиру истребителей де Розу, Верден, 1916</a:t>
            </a:r>
            <a:endParaRPr lang="en-US" sz="950" dirty="0"/>
          </a:p>
        </p:txBody>
      </p:sp>
      <p:pic>
        <p:nvPicPr>
          <p:cNvPr id="36" name="!!pfalz" descr="/root/deck2/assets/pfalz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 rot="-360000">
            <a:off x="13533120" y="2194560"/>
            <a:ext cx="5120640" cy="2609199"/>
          </a:xfrm>
          <a:prstGeom prst="rect">
            <a:avLst/>
          </a:prstGeom>
        </p:spPr>
      </p:pic>
      <p:pic>
        <p:nvPicPr>
          <p:cNvPr id="37" name="!!n9h" descr="/root/deck2/assets/n9h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 rot="-720000">
            <a:off x="-5029200" y="7680960"/>
            <a:ext cx="3566160" cy="1397935"/>
          </a:xfrm>
          <a:prstGeom prst="rect">
            <a:avLst/>
          </a:prstGeom>
        </p:spPr>
      </p:pic>
      <p:sp>
        <p:nvSpPr>
          <p:cNvPr id="38" name="Shape 31"/>
          <p:cNvSpPr/>
          <p:nvPr/>
        </p:nvSpPr>
        <p:spPr>
          <a:xfrm>
            <a:off x="8549640" y="6236208"/>
            <a:ext cx="411480" cy="0"/>
          </a:xfrm>
          <a:prstGeom prst="line">
            <a:avLst/>
          </a:prstGeom>
          <a:noFill/>
          <a:ln w="28575">
            <a:solidFill>
              <a:srgbClr val="FF6B5E"/>
            </a:solidFill>
            <a:prstDash val="solid"/>
          </a:ln>
        </p:spPr>
      </p:sp>
      <p:sp>
        <p:nvSpPr>
          <p:cNvPr id="39" name="Text 32"/>
          <p:cNvSpPr txBox="1"/>
          <p:nvPr/>
        </p:nvSpPr>
        <p:spPr>
          <a:xfrm>
            <a:off x="9052560" y="6126480"/>
            <a:ext cx="2743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B4BAC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линия Западного фронта 1915–1917 (упрощённо)</a:t>
            </a:r>
            <a:endParaRPr lang="en-US" sz="1000" dirty="0"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1800">
        <p159:morph option="byObject"/>
      </p:transition>
    </mc:Choice>
    <mc:Fallback>
      <p:transition spd="slow">
        <p:fade/>
      </p:transition>
    </mc:Fallback>
  </mc:AlternateContent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07090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!!mapw" descr="/root/deck2/assets/west1914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-542571" y="-769246"/>
            <a:ext cx="18434304" cy="10369296"/>
          </a:xfrm>
          <a:prstGeom prst="rect">
            <a:avLst/>
          </a:prstGeom>
        </p:spPr>
      </p:pic>
      <p:pic>
        <p:nvPicPr>
          <p:cNvPr id="3" name="Image 1" descr="/root/deck2/assets/grad_left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6583680" cy="6858000"/>
          </a:xfrm>
          <a:prstGeom prst="rect">
            <a:avLst/>
          </a:prstGeom>
        </p:spPr>
      </p:pic>
      <p:pic>
        <p:nvPicPr>
          <p:cNvPr id="4" name="Image 2" descr="/root/deck2/assets/grad_bottom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5486400"/>
            <a:ext cx="12191695" cy="1371600"/>
          </a:xfrm>
          <a:prstGeom prst="rect">
            <a:avLst/>
          </a:prstGeom>
        </p:spPr>
      </p:pic>
      <p:sp>
        <p:nvSpPr>
          <p:cNvPr id="5" name="!!kicker"/>
          <p:cNvSpPr txBox="1"/>
          <p:nvPr/>
        </p:nvSpPr>
        <p:spPr>
          <a:xfrm>
            <a:off x="548640" y="38404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spc="250" kern="0" dirty="0">
                <a:solidFill>
                  <a:srgbClr val="64D2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ГЛАВА 8 · НА МОРЕ</a:t>
            </a:r>
            <a:endParaRPr lang="en-US" sz="1200" dirty="0"/>
          </a:p>
        </p:txBody>
      </p:sp>
      <p:sp>
        <p:nvSpPr>
          <p:cNvPr id="6" name="!!title"/>
          <p:cNvSpPr txBox="1"/>
          <p:nvPr/>
        </p:nvSpPr>
        <p:spPr>
          <a:xfrm>
            <a:off x="548640" y="658368"/>
            <a:ext cx="50292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0" b="1" spc="-50" kern="0" dirty="0">
                <a:solidFill>
                  <a:srgbClr val="F5F3E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Крылья над морем</a:t>
            </a:r>
            <a:endParaRPr lang="en-US" sz="3800" dirty="0"/>
          </a:p>
        </p:txBody>
      </p:sp>
      <p:sp>
        <p:nvSpPr>
          <p:cNvPr id="7" name="!!track"/>
          <p:cNvSpPr/>
          <p:nvPr/>
        </p:nvSpPr>
        <p:spPr>
          <a:xfrm>
            <a:off x="548640" y="6519672"/>
            <a:ext cx="2194560" cy="32004"/>
          </a:xfrm>
          <a:prstGeom prst="rect">
            <a:avLst/>
          </a:prstGeom>
          <a:solidFill>
            <a:srgbClr val="2A2F38"/>
          </a:solidFill>
          <a:ln w="12700">
            <a:solidFill>
              <a:srgbClr val="2A2F38"/>
            </a:solidFill>
            <a:prstDash val="solid"/>
          </a:ln>
        </p:spPr>
      </p:sp>
      <p:sp>
        <p:nvSpPr>
          <p:cNvPr id="8" name="!!prog"/>
          <p:cNvSpPr/>
          <p:nvPr/>
        </p:nvSpPr>
        <p:spPr>
          <a:xfrm>
            <a:off x="548640" y="6519672"/>
            <a:ext cx="1724297" cy="32004"/>
          </a:xfrm>
          <a:prstGeom prst="rect">
            <a:avLst/>
          </a:prstGeom>
          <a:solidFill>
            <a:srgbClr val="64D2FF"/>
          </a:solidFill>
          <a:ln w="12700">
            <a:solidFill>
              <a:srgbClr val="64D2FF"/>
            </a:solidFill>
            <a:prstDash val="solid"/>
          </a:ln>
        </p:spPr>
      </p:sp>
      <p:sp>
        <p:nvSpPr>
          <p:cNvPr id="9" name="!!pg"/>
          <p:cNvSpPr txBox="1"/>
          <p:nvPr/>
        </p:nvSpPr>
        <p:spPr>
          <a:xfrm>
            <a:off x="10725912" y="6419088"/>
            <a:ext cx="914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000" dirty="0">
                <a:solidFill>
                  <a:srgbClr val="7C83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 / 14</a:t>
            </a:r>
            <a:endParaRPr lang="en-US" sz="1000" dirty="0"/>
          </a:p>
        </p:txBody>
      </p:sp>
      <p:sp>
        <p:nvSpPr>
          <p:cNvPr id="10" name="Shape 5"/>
          <p:cNvSpPr/>
          <p:nvPr/>
        </p:nvSpPr>
        <p:spPr>
          <a:xfrm>
            <a:off x="11094095" y="1436844"/>
            <a:ext cx="384048" cy="384048"/>
          </a:xfrm>
          <a:prstGeom prst="ellipse">
            <a:avLst/>
          </a:prstGeom>
          <a:solidFill>
            <a:srgbClr val="64D2FF">
              <a:alpha val="22000"/>
            </a:srgbClr>
          </a:solidFill>
          <a:ln w="12700">
            <a:solidFill>
              <a:srgbClr val="64D2FF">
                <a:alpha val="70000"/>
              </a:srgbClr>
            </a:solidFill>
            <a:prstDash val="solid"/>
          </a:ln>
        </p:spPr>
      </p:sp>
      <p:sp>
        <p:nvSpPr>
          <p:cNvPr id="11" name="Shape 6"/>
          <p:cNvSpPr/>
          <p:nvPr/>
        </p:nvSpPr>
        <p:spPr>
          <a:xfrm>
            <a:off x="11217539" y="1560288"/>
            <a:ext cx="137160" cy="137160"/>
          </a:xfrm>
          <a:prstGeom prst="ellipse">
            <a:avLst/>
          </a:prstGeom>
          <a:solidFill>
            <a:srgbClr val="64D2FF"/>
          </a:solidFill>
          <a:ln w="15875">
            <a:solidFill>
              <a:srgbClr val="FFFFFF"/>
            </a:solidFill>
            <a:prstDash val="solid"/>
          </a:ln>
        </p:spPr>
      </p:sp>
      <p:sp>
        <p:nvSpPr>
          <p:cNvPr id="12" name="Text 7"/>
          <p:cNvSpPr txBox="1"/>
          <p:nvPr/>
        </p:nvSpPr>
        <p:spPr>
          <a:xfrm>
            <a:off x="9365879" y="1400268"/>
            <a:ext cx="1691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F5F3E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Тондерн</a:t>
            </a:r>
            <a:endParaRPr lang="en-US" sz="1400" dirty="0"/>
          </a:p>
          <a:p>
            <a:pPr algn="r" indent="0" marL="0">
              <a:buNone/>
            </a:pPr>
            <a:r>
              <a:rPr lang="en-US" sz="1050" dirty="0">
                <a:solidFill>
                  <a:srgbClr val="B4BAC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19.07.1918</a:t>
            </a:r>
            <a:endParaRPr lang="en-US" sz="1400" dirty="0"/>
          </a:p>
        </p:txBody>
      </p:sp>
      <p:sp>
        <p:nvSpPr>
          <p:cNvPr id="13" name="Shape 8"/>
          <p:cNvSpPr/>
          <p:nvPr/>
        </p:nvSpPr>
        <p:spPr>
          <a:xfrm>
            <a:off x="11054242" y="2471537"/>
            <a:ext cx="384048" cy="384048"/>
          </a:xfrm>
          <a:prstGeom prst="ellipse">
            <a:avLst/>
          </a:prstGeom>
          <a:solidFill>
            <a:srgbClr val="64D2FF">
              <a:alpha val="22000"/>
            </a:srgbClr>
          </a:solidFill>
          <a:ln w="12700">
            <a:solidFill>
              <a:srgbClr val="64D2FF">
                <a:alpha val="70000"/>
              </a:srgbClr>
            </a:solidFill>
            <a:prstDash val="solid"/>
          </a:ln>
        </p:spPr>
      </p:sp>
      <p:sp>
        <p:nvSpPr>
          <p:cNvPr id="14" name="Shape 9"/>
          <p:cNvSpPr/>
          <p:nvPr/>
        </p:nvSpPr>
        <p:spPr>
          <a:xfrm>
            <a:off x="11177686" y="2594981"/>
            <a:ext cx="137160" cy="137160"/>
          </a:xfrm>
          <a:prstGeom prst="ellipse">
            <a:avLst/>
          </a:prstGeom>
          <a:solidFill>
            <a:srgbClr val="64D2FF"/>
          </a:solidFill>
          <a:ln w="15875">
            <a:solidFill>
              <a:srgbClr val="FFFFFF"/>
            </a:solidFill>
            <a:prstDash val="solid"/>
          </a:ln>
        </p:spPr>
      </p:sp>
      <p:sp>
        <p:nvSpPr>
          <p:cNvPr id="15" name="Text 10"/>
          <p:cNvSpPr txBox="1"/>
          <p:nvPr/>
        </p:nvSpPr>
        <p:spPr>
          <a:xfrm>
            <a:off x="9326026" y="2434961"/>
            <a:ext cx="1691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F5F3E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Куксхафен</a:t>
            </a:r>
            <a:endParaRPr lang="en-US" sz="1400" dirty="0"/>
          </a:p>
          <a:p>
            <a:pPr algn="r" indent="0" marL="0">
              <a:buNone/>
            </a:pPr>
            <a:r>
              <a:rPr lang="en-US" sz="1050" dirty="0">
                <a:solidFill>
                  <a:srgbClr val="B4BAC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25.12.1914</a:t>
            </a:r>
            <a:endParaRPr lang="en-US" sz="1400" dirty="0"/>
          </a:p>
        </p:txBody>
      </p:sp>
      <p:sp>
        <p:nvSpPr>
          <p:cNvPr id="16" name="Shape 11"/>
          <p:cNvSpPr/>
          <p:nvPr/>
        </p:nvSpPr>
        <p:spPr>
          <a:xfrm>
            <a:off x="5843016" y="4745736"/>
            <a:ext cx="384048" cy="384048"/>
          </a:xfrm>
          <a:prstGeom prst="ellipse">
            <a:avLst/>
          </a:prstGeom>
          <a:solidFill>
            <a:srgbClr val="64D2FF">
              <a:alpha val="22000"/>
            </a:srgbClr>
          </a:solidFill>
          <a:ln w="12700">
            <a:solidFill>
              <a:srgbClr val="64D2FF">
                <a:alpha val="70000"/>
              </a:srgbClr>
            </a:solidFill>
            <a:prstDash val="solid"/>
          </a:ln>
        </p:spPr>
      </p:sp>
      <p:sp>
        <p:nvSpPr>
          <p:cNvPr id="17" name="Shape 12"/>
          <p:cNvSpPr/>
          <p:nvPr/>
        </p:nvSpPr>
        <p:spPr>
          <a:xfrm>
            <a:off x="5966460" y="4869180"/>
            <a:ext cx="137160" cy="137160"/>
          </a:xfrm>
          <a:prstGeom prst="ellipse">
            <a:avLst/>
          </a:prstGeom>
          <a:solidFill>
            <a:srgbClr val="64D2FF"/>
          </a:solidFill>
          <a:ln w="15875">
            <a:solidFill>
              <a:srgbClr val="FFFFFF"/>
            </a:solidFill>
            <a:prstDash val="solid"/>
          </a:ln>
        </p:spPr>
      </p:sp>
      <p:sp>
        <p:nvSpPr>
          <p:cNvPr id="18" name="Text 13"/>
          <p:cNvSpPr txBox="1"/>
          <p:nvPr/>
        </p:nvSpPr>
        <p:spPr>
          <a:xfrm>
            <a:off x="6291072" y="4709160"/>
            <a:ext cx="1691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F5F3E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Лондон</a:t>
            </a:r>
            <a:endParaRPr lang="en-US" sz="1400" dirty="0"/>
          </a:p>
          <a:p>
            <a:pPr algn="l" indent="0" marL="0">
              <a:buNone/>
            </a:pPr>
            <a:r>
              <a:rPr lang="en-US" sz="1050" dirty="0">
                <a:solidFill>
                  <a:srgbClr val="B4BAC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цель цеппелинов и «Гот»</a:t>
            </a:r>
            <a:endParaRPr lang="en-US" sz="1400" dirty="0"/>
          </a:p>
        </p:txBody>
      </p:sp>
      <p:pic>
        <p:nvPicPr>
          <p:cNvPr id="19" name="!!n9h" descr="/root/deck2/assets/n9h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 rot="-240000">
            <a:off x="6629400" y="2331720"/>
            <a:ext cx="3566160" cy="1397935"/>
          </a:xfrm>
          <a:prstGeom prst="rect">
            <a:avLst/>
          </a:prstGeom>
        </p:spPr>
      </p:pic>
      <p:pic>
        <p:nvPicPr>
          <p:cNvPr id="20" name="!!suit" descr="/root/deck2/assets/suit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818120" y="7680960"/>
            <a:ext cx="1998721" cy="4846320"/>
          </a:xfrm>
          <a:prstGeom prst="rect">
            <a:avLst/>
          </a:prstGeom>
        </p:spPr>
      </p:pic>
      <p:pic>
        <p:nvPicPr>
          <p:cNvPr id="21" name="!!helmet" descr="/root/deck2/assets/helmet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0241280" y="7863840"/>
            <a:ext cx="1234440" cy="1499976"/>
          </a:xfrm>
          <a:prstGeom prst="rect">
            <a:avLst/>
          </a:prstGeom>
        </p:spPr>
      </p:pic>
      <p:pic>
        <p:nvPicPr>
          <p:cNvPr id="22" name="!!mask" descr="/root/deck2/assets/mask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0104120" y="8229600"/>
            <a:ext cx="1463040" cy="1133557"/>
          </a:xfrm>
          <a:prstGeom prst="rect">
            <a:avLst/>
          </a:prstGeom>
        </p:spPr>
      </p:pic>
      <p:pic>
        <p:nvPicPr>
          <p:cNvPr id="23" name="!!goggles" descr="/root/deck2/assets/goggles.png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0058400" y="8595360"/>
            <a:ext cx="1600200" cy="697323"/>
          </a:xfrm>
          <a:prstGeom prst="rect">
            <a:avLst/>
          </a:prstGeom>
        </p:spPr>
      </p:pic>
      <p:sp>
        <p:nvSpPr>
          <p:cNvPr id="24" name="Text 14"/>
          <p:cNvSpPr txBox="1"/>
          <p:nvPr/>
        </p:nvSpPr>
        <p:spPr>
          <a:xfrm>
            <a:off x="6675120" y="3840480"/>
            <a:ext cx="35661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B4BAC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Curtiss N-9H — учебный гидроплан ВМС США: на нём подготовили 2 500 морских лётчиков</a:t>
            </a:r>
            <a:endParaRPr lang="en-US" sz="950" dirty="0"/>
          </a:p>
        </p:txBody>
      </p:sp>
      <p:sp>
        <p:nvSpPr>
          <p:cNvPr id="25" name="Text 15"/>
          <p:cNvSpPr txBox="1"/>
          <p:nvPr/>
        </p:nvSpPr>
        <p:spPr>
          <a:xfrm>
            <a:off x="548640" y="1536192"/>
            <a:ext cx="1280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64D2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25.12.1914</a:t>
            </a:r>
            <a:endParaRPr lang="en-US" sz="1250" dirty="0"/>
          </a:p>
        </p:txBody>
      </p:sp>
      <p:sp>
        <p:nvSpPr>
          <p:cNvPr id="26" name="Text 16"/>
          <p:cNvSpPr txBox="1"/>
          <p:nvPr/>
        </p:nvSpPr>
        <p:spPr>
          <a:xfrm>
            <a:off x="1874520" y="1536192"/>
            <a:ext cx="33832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B4BAC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Куксхафенский рейд: британские гидросамолёты с кораблей атакуют базу цеппелинов</a:t>
            </a:r>
            <a:endParaRPr lang="en-US" sz="1200" dirty="0"/>
          </a:p>
        </p:txBody>
      </p:sp>
      <p:sp>
        <p:nvSpPr>
          <p:cNvPr id="27" name="Text 17"/>
          <p:cNvSpPr txBox="1"/>
          <p:nvPr/>
        </p:nvSpPr>
        <p:spPr>
          <a:xfrm>
            <a:off x="548640" y="2468880"/>
            <a:ext cx="1280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64D2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12.08.1915</a:t>
            </a:r>
            <a:endParaRPr lang="en-US" sz="1250" dirty="0"/>
          </a:p>
        </p:txBody>
      </p:sp>
      <p:sp>
        <p:nvSpPr>
          <p:cNvPr id="28" name="Text 18"/>
          <p:cNvSpPr txBox="1"/>
          <p:nvPr/>
        </p:nvSpPr>
        <p:spPr>
          <a:xfrm>
            <a:off x="1874520" y="2468880"/>
            <a:ext cx="33832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B4BAC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Дарданеллы: гидросамолёт Short 184 впервые атакует судно торпедой</a:t>
            </a:r>
            <a:endParaRPr lang="en-US" sz="1200" dirty="0"/>
          </a:p>
        </p:txBody>
      </p:sp>
      <p:sp>
        <p:nvSpPr>
          <p:cNvPr id="29" name="Text 19"/>
          <p:cNvSpPr txBox="1"/>
          <p:nvPr/>
        </p:nvSpPr>
        <p:spPr>
          <a:xfrm>
            <a:off x="548640" y="3401568"/>
            <a:ext cx="1280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64D2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1916</a:t>
            </a:r>
            <a:endParaRPr lang="en-US" sz="1250" dirty="0"/>
          </a:p>
        </p:txBody>
      </p:sp>
      <p:sp>
        <p:nvSpPr>
          <p:cNvPr id="30" name="Text 20"/>
          <p:cNvSpPr txBox="1"/>
          <p:nvPr/>
        </p:nvSpPr>
        <p:spPr>
          <a:xfrm>
            <a:off x="1874520" y="3401568"/>
            <a:ext cx="33832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B4BAC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Гидрокрейсера Черноморского флота наносят удары по побережью Турции</a:t>
            </a:r>
            <a:endParaRPr lang="en-US" sz="1200" dirty="0"/>
          </a:p>
        </p:txBody>
      </p:sp>
      <p:sp>
        <p:nvSpPr>
          <p:cNvPr id="31" name="Text 21"/>
          <p:cNvSpPr txBox="1"/>
          <p:nvPr/>
        </p:nvSpPr>
        <p:spPr>
          <a:xfrm>
            <a:off x="548640" y="4334256"/>
            <a:ext cx="1280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64D2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17.09.1916</a:t>
            </a:r>
            <a:endParaRPr lang="en-US" sz="1250" dirty="0"/>
          </a:p>
        </p:txBody>
      </p:sp>
      <p:sp>
        <p:nvSpPr>
          <p:cNvPr id="32" name="Text 22"/>
          <p:cNvSpPr txBox="1"/>
          <p:nvPr/>
        </p:nvSpPr>
        <p:spPr>
          <a:xfrm>
            <a:off x="1874520" y="4334256"/>
            <a:ext cx="33832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B4BAC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Ян Нагурский делает «мёртвую петлю» на летающей лодке М‑9</a:t>
            </a:r>
            <a:endParaRPr lang="en-US" sz="1200" dirty="0"/>
          </a:p>
        </p:txBody>
      </p:sp>
      <p:sp>
        <p:nvSpPr>
          <p:cNvPr id="33" name="Text 23"/>
          <p:cNvSpPr txBox="1"/>
          <p:nvPr/>
        </p:nvSpPr>
        <p:spPr>
          <a:xfrm>
            <a:off x="548640" y="5266944"/>
            <a:ext cx="1280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64D2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19.07.1918</a:t>
            </a:r>
            <a:endParaRPr lang="en-US" sz="1250" dirty="0"/>
          </a:p>
        </p:txBody>
      </p:sp>
      <p:sp>
        <p:nvSpPr>
          <p:cNvPr id="34" name="Text 24"/>
          <p:cNvSpPr txBox="1"/>
          <p:nvPr/>
        </p:nvSpPr>
        <p:spPr>
          <a:xfrm>
            <a:off x="1874520" y="5266944"/>
            <a:ext cx="33832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B4BAC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Семь Sopwith Camel взлетают с HMS Furious и сжигают цеппелины L 54 и L 60</a:t>
            </a:r>
            <a:endParaRPr lang="en-US" sz="1200" dirty="0"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2200">
        <p159:morph option="byObject"/>
      </p:transition>
    </mc:Choice>
    <mc:Fallback>
      <p:transition spd="slow">
        <p:fade/>
      </p:transition>
    </mc:Fallback>
  </mc:AlternateContent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07090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!!kicker"/>
          <p:cNvSpPr txBox="1"/>
          <p:nvPr/>
        </p:nvSpPr>
        <p:spPr>
          <a:xfrm>
            <a:off x="548640" y="38404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spc="250" kern="0" dirty="0">
                <a:solidFill>
                  <a:srgbClr val="FF9F0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ГЛАВА 9 · ЛЮДИ</a:t>
            </a:r>
            <a:endParaRPr lang="en-US" sz="1200" dirty="0"/>
          </a:p>
        </p:txBody>
      </p:sp>
      <p:sp>
        <p:nvSpPr>
          <p:cNvPr id="3" name="!!title"/>
          <p:cNvSpPr txBox="1"/>
          <p:nvPr/>
        </p:nvSpPr>
        <p:spPr>
          <a:xfrm>
            <a:off x="548640" y="658368"/>
            <a:ext cx="8229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0" b="1" spc="-50" kern="0" dirty="0">
                <a:solidFill>
                  <a:srgbClr val="F5F3E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Жизнь на высоте 5 000 метров</a:t>
            </a:r>
            <a:endParaRPr lang="en-US" sz="3800" dirty="0"/>
          </a:p>
        </p:txBody>
      </p:sp>
      <p:sp>
        <p:nvSpPr>
          <p:cNvPr id="4" name="!!track"/>
          <p:cNvSpPr/>
          <p:nvPr/>
        </p:nvSpPr>
        <p:spPr>
          <a:xfrm>
            <a:off x="548640" y="6519672"/>
            <a:ext cx="2194560" cy="32004"/>
          </a:xfrm>
          <a:prstGeom prst="rect">
            <a:avLst/>
          </a:prstGeom>
          <a:solidFill>
            <a:srgbClr val="2A2F38"/>
          </a:solidFill>
          <a:ln w="12700">
            <a:solidFill>
              <a:srgbClr val="2A2F38"/>
            </a:solidFill>
            <a:prstDash val="solid"/>
          </a:ln>
        </p:spPr>
      </p:sp>
      <p:sp>
        <p:nvSpPr>
          <p:cNvPr id="5" name="!!prog"/>
          <p:cNvSpPr/>
          <p:nvPr/>
        </p:nvSpPr>
        <p:spPr>
          <a:xfrm>
            <a:off x="548640" y="6519672"/>
            <a:ext cx="1881051" cy="32004"/>
          </a:xfrm>
          <a:prstGeom prst="rect">
            <a:avLst/>
          </a:prstGeom>
          <a:solidFill>
            <a:srgbClr val="FF9F0A"/>
          </a:solidFill>
          <a:ln w="12700">
            <a:solidFill>
              <a:srgbClr val="FF9F0A"/>
            </a:solidFill>
            <a:prstDash val="solid"/>
          </a:ln>
        </p:spPr>
      </p:sp>
      <p:sp>
        <p:nvSpPr>
          <p:cNvPr id="6" name="!!pg"/>
          <p:cNvSpPr txBox="1"/>
          <p:nvPr/>
        </p:nvSpPr>
        <p:spPr>
          <a:xfrm>
            <a:off x="10725912" y="6419088"/>
            <a:ext cx="914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000" dirty="0">
                <a:solidFill>
                  <a:srgbClr val="7C83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 / 14</a:t>
            </a:r>
            <a:endParaRPr lang="en-US" sz="1000" dirty="0"/>
          </a:p>
        </p:txBody>
      </p:sp>
      <p:pic>
        <p:nvPicPr>
          <p:cNvPr id="7" name="Image 0" descr="/root/deck2/assets/glow_amber.png">    </p:cNvPr>
          <p:cNvPicPr>
            <a:picLocks noChangeAspect="1"/>
          </p:cNvPicPr>
          <p:nvPr/>
        </p:nvPicPr>
        <p:blipFill>
          <a:blip r:embed="rId1">
            <a:alphaModFix amt="65000"/>
          </a:blip>
          <a:stretch>
            <a:fillRect/>
          </a:stretch>
        </p:blipFill>
        <p:spPr>
          <a:xfrm>
            <a:off x="6400800" y="-182880"/>
            <a:ext cx="6035040" cy="6035040"/>
          </a:xfrm>
          <a:prstGeom prst="rect">
            <a:avLst/>
          </a:prstGeom>
        </p:spPr>
      </p:pic>
      <p:pic>
        <p:nvPicPr>
          <p:cNvPr id="8" name="!!suit" descr="/root/deck2/assets/suit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18120" y="1417320"/>
            <a:ext cx="1998721" cy="4846320"/>
          </a:xfrm>
          <a:prstGeom prst="rect">
            <a:avLst/>
          </a:prstGeom>
        </p:spPr>
      </p:pic>
      <p:pic>
        <p:nvPicPr>
          <p:cNvPr id="9" name="!!helmet" descr="/root/deck2/assets/helmet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241280" y="1325880"/>
            <a:ext cx="1234440" cy="1499976"/>
          </a:xfrm>
          <a:prstGeom prst="rect">
            <a:avLst/>
          </a:prstGeom>
        </p:spPr>
      </p:pic>
      <p:pic>
        <p:nvPicPr>
          <p:cNvPr id="10" name="!!mask" descr="/root/deck2/assets/mask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104120" y="2926080"/>
            <a:ext cx="1463040" cy="1133557"/>
          </a:xfrm>
          <a:prstGeom prst="rect">
            <a:avLst/>
          </a:prstGeom>
        </p:spPr>
      </p:pic>
      <p:pic>
        <p:nvPicPr>
          <p:cNvPr id="11" name="!!goggles" descr="/root/deck2/assets/goggles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058400" y="4434840"/>
            <a:ext cx="1600200" cy="697323"/>
          </a:xfrm>
          <a:prstGeom prst="rect">
            <a:avLst/>
          </a:prstGeom>
        </p:spPr>
      </p:pic>
      <p:pic>
        <p:nvPicPr>
          <p:cNvPr id="12" name="!!n9h" descr="/root/deck2/assets/n9h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 rot="-240000">
            <a:off x="13350240" y="548640"/>
            <a:ext cx="3566160" cy="1397935"/>
          </a:xfrm>
          <a:prstGeom prst="rect">
            <a:avLst/>
          </a:prstGeom>
        </p:spPr>
      </p:pic>
      <p:pic>
        <p:nvPicPr>
          <p:cNvPr id="13" name="!!engine" descr="/root/deck2/assets/liberty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3167360" y="1051560"/>
            <a:ext cx="4754880" cy="4123538"/>
          </a:xfrm>
          <a:prstGeom prst="rect">
            <a:avLst/>
          </a:prstGeom>
        </p:spPr>
      </p:pic>
      <p:pic>
        <p:nvPicPr>
          <p:cNvPr id="14" name="Image 7" descr="/root/deck2/assets/vaporizer.png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583680" y="3246120"/>
            <a:ext cx="822960" cy="1870364"/>
          </a:xfrm>
          <a:prstGeom prst="rect">
            <a:avLst/>
          </a:prstGeom>
        </p:spPr>
      </p:pic>
      <p:sp>
        <p:nvSpPr>
          <p:cNvPr id="15" name="Text 5"/>
          <p:cNvSpPr txBox="1"/>
          <p:nvPr/>
        </p:nvSpPr>
        <p:spPr>
          <a:xfrm>
            <a:off x="4983480" y="1600200"/>
            <a:ext cx="26517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050" b="1" dirty="0">
                <a:solidFill>
                  <a:srgbClr val="F5F3E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Кожаный комбинезон</a:t>
            </a:r>
            <a:endParaRPr lang="en-US" sz="1050" dirty="0"/>
          </a:p>
          <a:p>
            <a:pPr algn="r" indent="0" marL="0">
              <a:buNone/>
            </a:pPr>
            <a:r>
              <a:rPr lang="en-US" sz="1050" dirty="0">
                <a:solidFill>
                  <a:srgbClr val="B4BAC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Надевали поверх тёплой одежды: в открытой кабине — мороз и ветер</a:t>
            </a:r>
            <a:endParaRPr lang="en-US" sz="1050" dirty="0"/>
          </a:p>
        </p:txBody>
      </p:sp>
      <p:sp>
        <p:nvSpPr>
          <p:cNvPr id="16" name="Text 6"/>
          <p:cNvSpPr txBox="1"/>
          <p:nvPr/>
        </p:nvSpPr>
        <p:spPr>
          <a:xfrm>
            <a:off x="4983480" y="3246120"/>
            <a:ext cx="15087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050" b="1" dirty="0">
                <a:solidFill>
                  <a:srgbClr val="F5F3E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Жидкий кислород</a:t>
            </a:r>
            <a:endParaRPr lang="en-US" sz="1050" dirty="0"/>
          </a:p>
          <a:p>
            <a:pPr algn="r" indent="0" marL="0">
              <a:buNone/>
            </a:pPr>
            <a:r>
              <a:rPr lang="en-US" sz="1050" dirty="0">
                <a:solidFill>
                  <a:srgbClr val="B4BAC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Испаритель немецкого экипажа</a:t>
            </a:r>
            <a:endParaRPr lang="en-US" sz="1050" dirty="0"/>
          </a:p>
        </p:txBody>
      </p:sp>
      <p:sp>
        <p:nvSpPr>
          <p:cNvPr id="17" name="Text 7"/>
          <p:cNvSpPr txBox="1"/>
          <p:nvPr/>
        </p:nvSpPr>
        <p:spPr>
          <a:xfrm>
            <a:off x="10012680" y="5349240"/>
            <a:ext cx="17830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F5F3E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Маска, шлем, очки</a:t>
            </a:r>
            <a:endParaRPr lang="en-US" sz="1050" dirty="0"/>
          </a:p>
          <a:p>
            <a:pPr algn="l" indent="0" marL="0">
              <a:buNone/>
            </a:pPr>
            <a:r>
              <a:rPr lang="en-US" sz="1050" dirty="0">
                <a:solidFill>
                  <a:srgbClr val="B4BAC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от ветра, масла и мороза до −20 °C</a:t>
            </a:r>
            <a:endParaRPr lang="en-US" sz="1050" dirty="0"/>
          </a:p>
        </p:txBody>
      </p:sp>
      <p:sp>
        <p:nvSpPr>
          <p:cNvPr id="18" name="Text 8"/>
          <p:cNvSpPr txBox="1"/>
          <p:nvPr/>
        </p:nvSpPr>
        <p:spPr>
          <a:xfrm>
            <a:off x="548640" y="1554480"/>
            <a:ext cx="420624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FF9F0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Без парашюта. </a:t>
            </a:r>
            <a:pPr indent="0" marL="0">
              <a:buNone/>
            </a:pPr>
            <a:r>
              <a:rPr lang="en-US" sz="1300" dirty="0">
                <a:solidFill>
                  <a:srgbClr val="B4BAC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Лётчикам Антанты парашюты так и не выдали — их имели только наблюдатели на аэростатах. Немцы получили парашюты Хайнеке лишь в 1918 г.</a:t>
            </a:r>
            <a:endParaRPr lang="en-US" sz="1300" dirty="0"/>
          </a:p>
        </p:txBody>
      </p:sp>
      <p:sp>
        <p:nvSpPr>
          <p:cNvPr id="19" name="Text 9"/>
          <p:cNvSpPr txBox="1"/>
          <p:nvPr/>
        </p:nvSpPr>
        <p:spPr>
          <a:xfrm>
            <a:off x="548640" y="2880360"/>
            <a:ext cx="4206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FF9F0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Опасна была и учёба. </a:t>
            </a:r>
            <a:pPr indent="0" marL="0">
              <a:buNone/>
            </a:pPr>
            <a:r>
              <a:rPr lang="en-US" sz="1300" dirty="0">
                <a:solidFill>
                  <a:srgbClr val="B4BAC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На Sopwith Camel почти столько же лётчиков погибло в авариях, сколько в боях.</a:t>
            </a:r>
            <a:endParaRPr lang="en-US" sz="1300" dirty="0"/>
          </a:p>
        </p:txBody>
      </p:sp>
      <p:pic>
        <p:nvPicPr>
          <p:cNvPr id="20" name="Image 8" descr="/root/deck2/assets/art_balloons.jpg">    </p:cNvPr>
          <p:cNvPicPr>
            <a:picLocks noChangeAspect="1"/>
          </p:cNvPicPr>
          <p:nvPr/>
        </p:nvPicPr>
        <p:blipFill>
          <a:blip r:embed="rId9"/>
          <a:srcRect l="0" r="0" t="0" b="0"/>
          <a:stretch/>
        </p:blipFill>
        <p:spPr>
          <a:xfrm>
            <a:off x="548640" y="3840480"/>
            <a:ext cx="2514600" cy="2148840"/>
          </a:xfrm>
          <a:prstGeom prst="rect">
            <a:avLst/>
          </a:prstGeom>
        </p:spPr>
      </p:pic>
      <p:sp>
        <p:nvSpPr>
          <p:cNvPr id="21" name="Text 10"/>
          <p:cNvSpPr txBox="1"/>
          <p:nvPr/>
        </p:nvSpPr>
        <p:spPr>
          <a:xfrm>
            <a:off x="3200400" y="5029200"/>
            <a:ext cx="1737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7C83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Дж. Хардинг, 1918: наблюдатели прыгают с парашютами из горящих аэростатов</a:t>
            </a:r>
            <a:endParaRPr lang="en-US" sz="950" dirty="0"/>
          </a:p>
        </p:txBody>
      </p:sp>
      <p:sp>
        <p:nvSpPr>
          <p:cNvPr id="22" name="Text 11"/>
          <p:cNvSpPr txBox="1"/>
          <p:nvPr/>
        </p:nvSpPr>
        <p:spPr>
          <a:xfrm>
            <a:off x="4983480" y="5897880"/>
            <a:ext cx="2697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850" dirty="0">
                <a:solidFill>
                  <a:srgbClr val="7C83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Снаряжение американского лётчика Э. Гарднера, 1918–1919 (Национальный почтовый музей США). Такое же носили и военные лётчики</a:t>
            </a:r>
            <a:endParaRPr lang="en-US" sz="850" dirty="0"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1500">
        <p159:morph option="byObject"/>
      </p:transition>
    </mc:Choice>
    <mc:Fallback>
      <p:transition spd="slow">
        <p:fade/>
      </p:transition>
    </mc:Fallback>
  </mc:AlternateContent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5F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!!kicker"/>
          <p:cNvSpPr txBox="1"/>
          <p:nvPr/>
        </p:nvSpPr>
        <p:spPr>
          <a:xfrm>
            <a:off x="548640" y="38404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spc="250" kern="0" dirty="0">
                <a:solidFill>
                  <a:srgbClr val="A878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ИТОГИ · 1914 → 1918</a:t>
            </a:r>
            <a:endParaRPr lang="en-US" sz="1200" dirty="0"/>
          </a:p>
        </p:txBody>
      </p:sp>
      <p:sp>
        <p:nvSpPr>
          <p:cNvPr id="3" name="!!title"/>
          <p:cNvSpPr txBox="1"/>
          <p:nvPr/>
        </p:nvSpPr>
        <p:spPr>
          <a:xfrm>
            <a:off x="548640" y="658368"/>
            <a:ext cx="6400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0" b="1" spc="-50" kern="0" dirty="0">
                <a:solidFill>
                  <a:srgbClr val="1D1D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Итоги: взрывной рост</a:t>
            </a:r>
            <a:endParaRPr lang="en-US" sz="3800" dirty="0"/>
          </a:p>
        </p:txBody>
      </p:sp>
      <p:sp>
        <p:nvSpPr>
          <p:cNvPr id="4" name="!!track"/>
          <p:cNvSpPr/>
          <p:nvPr/>
        </p:nvSpPr>
        <p:spPr>
          <a:xfrm>
            <a:off x="548640" y="6519672"/>
            <a:ext cx="2194560" cy="32004"/>
          </a:xfrm>
          <a:prstGeom prst="rect">
            <a:avLst/>
          </a:prstGeom>
          <a:solidFill>
            <a:srgbClr val="D2D2D7"/>
          </a:solidFill>
          <a:ln w="12700">
            <a:solidFill>
              <a:srgbClr val="D2D2D7"/>
            </a:solidFill>
            <a:prstDash val="solid"/>
          </a:ln>
        </p:spPr>
      </p:sp>
      <p:sp>
        <p:nvSpPr>
          <p:cNvPr id="5" name="!!prog"/>
          <p:cNvSpPr/>
          <p:nvPr/>
        </p:nvSpPr>
        <p:spPr>
          <a:xfrm>
            <a:off x="548640" y="6519672"/>
            <a:ext cx="2037806" cy="32004"/>
          </a:xfrm>
          <a:prstGeom prst="rect">
            <a:avLst/>
          </a:prstGeom>
          <a:solidFill>
            <a:srgbClr val="A8781E"/>
          </a:solidFill>
          <a:ln w="12700">
            <a:solidFill>
              <a:srgbClr val="A8781E"/>
            </a:solidFill>
            <a:prstDash val="solid"/>
          </a:ln>
        </p:spPr>
      </p:sp>
      <p:sp>
        <p:nvSpPr>
          <p:cNvPr id="6" name="!!pg"/>
          <p:cNvSpPr txBox="1"/>
          <p:nvPr/>
        </p:nvSpPr>
        <p:spPr>
          <a:xfrm>
            <a:off x="10725912" y="6419088"/>
            <a:ext cx="914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000" dirty="0">
                <a:solidFill>
                  <a:srgbClr val="8686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 / 14</a:t>
            </a:r>
            <a:endParaRPr lang="en-US" sz="1000" dirty="0"/>
          </a:p>
        </p:txBody>
      </p:sp>
      <p:pic>
        <p:nvPicPr>
          <p:cNvPr id="7" name="!!engine" descr="/root/deck2/assets/liberty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903720" y="1051560"/>
            <a:ext cx="4754880" cy="4123538"/>
          </a:xfrm>
          <a:prstGeom prst="rect">
            <a:avLst/>
          </a:prstGeom>
        </p:spPr>
      </p:pic>
      <p:pic>
        <p:nvPicPr>
          <p:cNvPr id="8" name="!!suit" descr="/root/deck2/assets/suit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18120" y="7680960"/>
            <a:ext cx="1998721" cy="4846320"/>
          </a:xfrm>
          <a:prstGeom prst="rect">
            <a:avLst/>
          </a:prstGeom>
        </p:spPr>
      </p:pic>
      <p:pic>
        <p:nvPicPr>
          <p:cNvPr id="9" name="!!helmet" descr="/root/deck2/assets/helmet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241280" y="7863840"/>
            <a:ext cx="1234440" cy="1499976"/>
          </a:xfrm>
          <a:prstGeom prst="rect">
            <a:avLst/>
          </a:prstGeom>
        </p:spPr>
      </p:pic>
      <p:pic>
        <p:nvPicPr>
          <p:cNvPr id="10" name="!!mask" descr="/root/deck2/assets/mask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104120" y="8229600"/>
            <a:ext cx="1463040" cy="1133557"/>
          </a:xfrm>
          <a:prstGeom prst="rect">
            <a:avLst/>
          </a:prstGeom>
        </p:spPr>
      </p:pic>
      <p:pic>
        <p:nvPicPr>
          <p:cNvPr id="11" name="!!goggles" descr="/root/deck2/assets/goggles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058400" y="8595360"/>
            <a:ext cx="1600200" cy="697323"/>
          </a:xfrm>
          <a:prstGeom prst="rect">
            <a:avLst/>
          </a:prstGeom>
        </p:spPr>
      </p:pic>
      <p:pic>
        <p:nvPicPr>
          <p:cNvPr id="12" name="!!stamp" descr="/root/deck2/assets/stamp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 rot="2880000">
            <a:off x="12710160" y="-3840480"/>
            <a:ext cx="2651760" cy="2538686"/>
          </a:xfrm>
          <a:prstGeom prst="rect">
            <a:avLst/>
          </a:prstGeom>
        </p:spPr>
      </p:pic>
      <p:sp>
        <p:nvSpPr>
          <p:cNvPr id="13" name="Text 5"/>
          <p:cNvSpPr txBox="1"/>
          <p:nvPr/>
        </p:nvSpPr>
        <p:spPr>
          <a:xfrm>
            <a:off x="7086600" y="5257800"/>
            <a:ext cx="44805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1D1D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Мотор Liberty V‑12 (США). </a:t>
            </a:r>
            <a:pPr indent="0" marL="0">
              <a:buNone/>
            </a:pPr>
            <a:r>
              <a:rPr lang="en-US" sz="1150" dirty="0">
                <a:solidFill>
                  <a:srgbClr val="51515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Автозаводы Ford, Packard, Buick и другие выпустили 20 748 таких моторов ещё до перемирия.</a:t>
            </a:r>
            <a:endParaRPr lang="en-US" sz="1150" dirty="0"/>
          </a:p>
        </p:txBody>
      </p:sp>
      <p:sp>
        <p:nvSpPr>
          <p:cNvPr id="14" name="Text 6"/>
          <p:cNvSpPr txBox="1"/>
          <p:nvPr/>
        </p:nvSpPr>
        <p:spPr>
          <a:xfrm>
            <a:off x="548640" y="1508760"/>
            <a:ext cx="23774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5600" b="1" spc="-100" kern="0" dirty="0">
                <a:solidFill>
                  <a:srgbClr val="1D1D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≈670</a:t>
            </a:r>
            <a:endParaRPr lang="en-US" sz="5600" dirty="0"/>
          </a:p>
        </p:txBody>
      </p:sp>
      <p:sp>
        <p:nvSpPr>
          <p:cNvPr id="15" name="Text 7"/>
          <p:cNvSpPr txBox="1"/>
          <p:nvPr/>
        </p:nvSpPr>
        <p:spPr>
          <a:xfrm>
            <a:off x="548640" y="2377440"/>
            <a:ext cx="2377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51515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самолётов первой линии у четырёх держав в августе 1914</a:t>
            </a:r>
            <a:endParaRPr lang="en-US" sz="1150" dirty="0"/>
          </a:p>
        </p:txBody>
      </p:sp>
      <p:sp>
        <p:nvSpPr>
          <p:cNvPr id="16" name="Text 8"/>
          <p:cNvSpPr txBox="1"/>
          <p:nvPr/>
        </p:nvSpPr>
        <p:spPr>
          <a:xfrm>
            <a:off x="2788920" y="1645920"/>
            <a:ext cx="548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3600" dirty="0">
                <a:solidFill>
                  <a:srgbClr val="8686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3600" dirty="0"/>
          </a:p>
        </p:txBody>
      </p:sp>
      <p:sp>
        <p:nvSpPr>
          <p:cNvPr id="17" name="Text 9"/>
          <p:cNvSpPr txBox="1"/>
          <p:nvPr/>
        </p:nvSpPr>
        <p:spPr>
          <a:xfrm>
            <a:off x="3383280" y="1508760"/>
            <a:ext cx="31089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5600" b="1" spc="-100" kern="0" dirty="0">
                <a:solidFill>
                  <a:srgbClr val="A878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22 647</a:t>
            </a:r>
            <a:endParaRPr lang="en-US" sz="5600" dirty="0"/>
          </a:p>
        </p:txBody>
      </p:sp>
      <p:sp>
        <p:nvSpPr>
          <p:cNvPr id="18" name="Text 10"/>
          <p:cNvSpPr txBox="1"/>
          <p:nvPr/>
        </p:nvSpPr>
        <p:spPr>
          <a:xfrm>
            <a:off x="3383280" y="2377440"/>
            <a:ext cx="2926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51515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самолётов только в британских ВВС к 11 ноября 1918</a:t>
            </a:r>
            <a:endParaRPr lang="en-US" sz="1150" dirty="0"/>
          </a:p>
        </p:txBody>
      </p:sp>
      <p:sp>
        <p:nvSpPr>
          <p:cNvPr id="19" name="Text 11"/>
          <p:cNvSpPr txBox="1"/>
          <p:nvPr/>
        </p:nvSpPr>
        <p:spPr>
          <a:xfrm>
            <a:off x="548640" y="3246120"/>
            <a:ext cx="5486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D1D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Выпуск самолётов за войну, тыс.</a:t>
            </a:r>
            <a:endParaRPr lang="en-US" sz="1400" dirty="0"/>
          </a:p>
        </p:txBody>
      </p:sp>
      <p:sp>
        <p:nvSpPr>
          <p:cNvPr id="20" name="Shape 12"/>
          <p:cNvSpPr/>
          <p:nvPr/>
        </p:nvSpPr>
        <p:spPr>
          <a:xfrm>
            <a:off x="1828800" y="3703320"/>
            <a:ext cx="0" cy="1417320"/>
          </a:xfrm>
          <a:prstGeom prst="line">
            <a:avLst/>
          </a:prstGeom>
          <a:noFill/>
          <a:ln w="9525">
            <a:solidFill>
              <a:srgbClr val="D2D2D7"/>
            </a:solidFill>
            <a:prstDash val="solid"/>
          </a:ln>
        </p:spPr>
      </p:sp>
      <p:sp>
        <p:nvSpPr>
          <p:cNvPr id="21" name="Text 13"/>
          <p:cNvSpPr txBox="1"/>
          <p:nvPr/>
        </p:nvSpPr>
        <p:spPr>
          <a:xfrm>
            <a:off x="1554480" y="5138928"/>
            <a:ext cx="5486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686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</a:t>
            </a:r>
            <a:endParaRPr lang="en-US" sz="1000" dirty="0"/>
          </a:p>
        </p:txBody>
      </p:sp>
      <p:sp>
        <p:nvSpPr>
          <p:cNvPr id="22" name="Shape 14"/>
          <p:cNvSpPr/>
          <p:nvPr/>
        </p:nvSpPr>
        <p:spPr>
          <a:xfrm>
            <a:off x="2873829" y="3703320"/>
            <a:ext cx="0" cy="1417320"/>
          </a:xfrm>
          <a:prstGeom prst="line">
            <a:avLst/>
          </a:prstGeom>
          <a:noFill/>
          <a:ln w="9525">
            <a:solidFill>
              <a:srgbClr val="D2D2D7"/>
            </a:solidFill>
            <a:prstDash val="solid"/>
          </a:ln>
        </p:spPr>
      </p:sp>
      <p:sp>
        <p:nvSpPr>
          <p:cNvPr id="23" name="Text 15"/>
          <p:cNvSpPr txBox="1"/>
          <p:nvPr/>
        </p:nvSpPr>
        <p:spPr>
          <a:xfrm>
            <a:off x="2599509" y="5138928"/>
            <a:ext cx="5486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686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</a:t>
            </a:r>
            <a:endParaRPr lang="en-US" sz="1000" dirty="0"/>
          </a:p>
        </p:txBody>
      </p:sp>
      <p:sp>
        <p:nvSpPr>
          <p:cNvPr id="24" name="Shape 16"/>
          <p:cNvSpPr/>
          <p:nvPr/>
        </p:nvSpPr>
        <p:spPr>
          <a:xfrm>
            <a:off x="3918857" y="3703320"/>
            <a:ext cx="0" cy="1417320"/>
          </a:xfrm>
          <a:prstGeom prst="line">
            <a:avLst/>
          </a:prstGeom>
          <a:noFill/>
          <a:ln w="9525">
            <a:solidFill>
              <a:srgbClr val="D2D2D7"/>
            </a:solidFill>
            <a:prstDash val="solid"/>
          </a:ln>
        </p:spPr>
      </p:sp>
      <p:sp>
        <p:nvSpPr>
          <p:cNvPr id="25" name="Text 17"/>
          <p:cNvSpPr txBox="1"/>
          <p:nvPr/>
        </p:nvSpPr>
        <p:spPr>
          <a:xfrm>
            <a:off x="3644537" y="5138928"/>
            <a:ext cx="5486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686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40</a:t>
            </a:r>
            <a:endParaRPr lang="en-US" sz="1000" dirty="0"/>
          </a:p>
        </p:txBody>
      </p:sp>
      <p:sp>
        <p:nvSpPr>
          <p:cNvPr id="26" name="Shape 18"/>
          <p:cNvSpPr/>
          <p:nvPr/>
        </p:nvSpPr>
        <p:spPr>
          <a:xfrm>
            <a:off x="4963886" y="3703320"/>
            <a:ext cx="0" cy="1417320"/>
          </a:xfrm>
          <a:prstGeom prst="line">
            <a:avLst/>
          </a:prstGeom>
          <a:noFill/>
          <a:ln w="9525">
            <a:solidFill>
              <a:srgbClr val="D2D2D7"/>
            </a:solidFill>
            <a:prstDash val="solid"/>
          </a:ln>
        </p:spPr>
      </p:sp>
      <p:sp>
        <p:nvSpPr>
          <p:cNvPr id="27" name="Text 19"/>
          <p:cNvSpPr txBox="1"/>
          <p:nvPr/>
        </p:nvSpPr>
        <p:spPr>
          <a:xfrm>
            <a:off x="4689566" y="5138928"/>
            <a:ext cx="5486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686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60</a:t>
            </a:r>
            <a:endParaRPr lang="en-US" sz="1000" dirty="0"/>
          </a:p>
        </p:txBody>
      </p:sp>
      <p:sp>
        <p:nvSpPr>
          <p:cNvPr id="28" name="Text 20"/>
          <p:cNvSpPr txBox="1"/>
          <p:nvPr/>
        </p:nvSpPr>
        <p:spPr>
          <a:xfrm>
            <a:off x="548640" y="3767328"/>
            <a:ext cx="11887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D1D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Франция</a:t>
            </a:r>
            <a:endParaRPr lang="en-US" sz="1250" dirty="0"/>
          </a:p>
        </p:txBody>
      </p:sp>
      <p:sp>
        <p:nvSpPr>
          <p:cNvPr id="29" name="Shape 21"/>
          <p:cNvSpPr/>
          <p:nvPr/>
        </p:nvSpPr>
        <p:spPr>
          <a:xfrm>
            <a:off x="1828800" y="3822192"/>
            <a:ext cx="2717074" cy="219456"/>
          </a:xfrm>
          <a:prstGeom prst="rect">
            <a:avLst/>
          </a:prstGeom>
          <a:solidFill>
            <a:srgbClr val="A8781E"/>
          </a:solidFill>
          <a:ln w="12700">
            <a:solidFill>
              <a:srgbClr val="A8781E"/>
            </a:solidFill>
            <a:prstDash val="solid"/>
          </a:ln>
        </p:spPr>
      </p:sp>
      <p:sp>
        <p:nvSpPr>
          <p:cNvPr id="30" name="Shape 22"/>
          <p:cNvSpPr/>
          <p:nvPr/>
        </p:nvSpPr>
        <p:spPr>
          <a:xfrm>
            <a:off x="4545874" y="3822192"/>
            <a:ext cx="836023" cy="219456"/>
          </a:xfrm>
          <a:prstGeom prst="rect">
            <a:avLst/>
          </a:prstGeom>
          <a:solidFill>
            <a:srgbClr val="E6C77E"/>
          </a:solidFill>
          <a:ln w="12700">
            <a:solidFill>
              <a:srgbClr val="E6C77E"/>
            </a:solidFill>
            <a:prstDash val="solid"/>
          </a:ln>
        </p:spPr>
      </p:sp>
      <p:sp>
        <p:nvSpPr>
          <p:cNvPr id="31" name="Text 23"/>
          <p:cNvSpPr txBox="1"/>
          <p:nvPr/>
        </p:nvSpPr>
        <p:spPr>
          <a:xfrm>
            <a:off x="5455049" y="3767328"/>
            <a:ext cx="731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D1D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52–68</a:t>
            </a:r>
            <a:endParaRPr lang="en-US" sz="1200" dirty="0"/>
          </a:p>
        </p:txBody>
      </p:sp>
      <p:sp>
        <p:nvSpPr>
          <p:cNvPr id="32" name="Text 24"/>
          <p:cNvSpPr txBox="1"/>
          <p:nvPr/>
        </p:nvSpPr>
        <p:spPr>
          <a:xfrm>
            <a:off x="548640" y="4224528"/>
            <a:ext cx="11887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D1D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Британия</a:t>
            </a:r>
            <a:endParaRPr lang="en-US" sz="1250" dirty="0"/>
          </a:p>
        </p:txBody>
      </p:sp>
      <p:sp>
        <p:nvSpPr>
          <p:cNvPr id="33" name="Shape 25"/>
          <p:cNvSpPr/>
          <p:nvPr/>
        </p:nvSpPr>
        <p:spPr>
          <a:xfrm>
            <a:off x="1828800" y="4279392"/>
            <a:ext cx="1724297" cy="219456"/>
          </a:xfrm>
          <a:prstGeom prst="rect">
            <a:avLst/>
          </a:prstGeom>
          <a:solidFill>
            <a:srgbClr val="A8781E"/>
          </a:solidFill>
          <a:ln w="12700">
            <a:solidFill>
              <a:srgbClr val="A8781E"/>
            </a:solidFill>
            <a:prstDash val="solid"/>
          </a:ln>
        </p:spPr>
      </p:sp>
      <p:sp>
        <p:nvSpPr>
          <p:cNvPr id="34" name="Shape 26"/>
          <p:cNvSpPr/>
          <p:nvPr/>
        </p:nvSpPr>
        <p:spPr>
          <a:xfrm>
            <a:off x="3553097" y="4279392"/>
            <a:ext cx="1149531" cy="219456"/>
          </a:xfrm>
          <a:prstGeom prst="rect">
            <a:avLst/>
          </a:prstGeom>
          <a:solidFill>
            <a:srgbClr val="E6C77E"/>
          </a:solidFill>
          <a:ln w="12700">
            <a:solidFill>
              <a:srgbClr val="E6C77E"/>
            </a:solidFill>
            <a:prstDash val="solid"/>
          </a:ln>
        </p:spPr>
      </p:sp>
      <p:sp>
        <p:nvSpPr>
          <p:cNvPr id="35" name="Text 27"/>
          <p:cNvSpPr txBox="1"/>
          <p:nvPr/>
        </p:nvSpPr>
        <p:spPr>
          <a:xfrm>
            <a:off x="4775781" y="4224528"/>
            <a:ext cx="731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D1D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33–55</a:t>
            </a:r>
            <a:endParaRPr lang="en-US" sz="1200" dirty="0"/>
          </a:p>
        </p:txBody>
      </p:sp>
      <p:sp>
        <p:nvSpPr>
          <p:cNvPr id="36" name="Text 28"/>
          <p:cNvSpPr txBox="1"/>
          <p:nvPr/>
        </p:nvSpPr>
        <p:spPr>
          <a:xfrm>
            <a:off x="548640" y="4681728"/>
            <a:ext cx="11887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D1D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Германия</a:t>
            </a:r>
            <a:endParaRPr lang="en-US" sz="1250" dirty="0"/>
          </a:p>
        </p:txBody>
      </p:sp>
      <p:sp>
        <p:nvSpPr>
          <p:cNvPr id="37" name="Shape 29"/>
          <p:cNvSpPr/>
          <p:nvPr/>
        </p:nvSpPr>
        <p:spPr>
          <a:xfrm>
            <a:off x="1828800" y="4736592"/>
            <a:ext cx="2508069" cy="219456"/>
          </a:xfrm>
          <a:prstGeom prst="rect">
            <a:avLst/>
          </a:prstGeom>
          <a:solidFill>
            <a:srgbClr val="A8781E"/>
          </a:solidFill>
          <a:ln w="12700">
            <a:solidFill>
              <a:srgbClr val="A8781E"/>
            </a:solidFill>
            <a:prstDash val="solid"/>
          </a:ln>
        </p:spPr>
      </p:sp>
      <p:sp>
        <p:nvSpPr>
          <p:cNvPr id="38" name="Text 30"/>
          <p:cNvSpPr txBox="1"/>
          <p:nvPr/>
        </p:nvSpPr>
        <p:spPr>
          <a:xfrm>
            <a:off x="4410021" y="4681728"/>
            <a:ext cx="731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D1D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≈48</a:t>
            </a:r>
            <a:endParaRPr lang="en-US" sz="1200" dirty="0"/>
          </a:p>
        </p:txBody>
      </p:sp>
      <p:sp>
        <p:nvSpPr>
          <p:cNvPr id="39" name="Text 31"/>
          <p:cNvSpPr txBox="1"/>
          <p:nvPr/>
        </p:nvSpPr>
        <p:spPr>
          <a:xfrm>
            <a:off x="548640" y="5394960"/>
            <a:ext cx="5760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8686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Тёмная часть — минимальная оценка, светлая — разброс: источники по-разному считают учебные машины.</a:t>
            </a:r>
            <a:endParaRPr lang="en-US" sz="950" dirty="0"/>
          </a:p>
        </p:txBody>
      </p:sp>
      <p:sp>
        <p:nvSpPr>
          <p:cNvPr id="40" name="Text 32"/>
          <p:cNvSpPr txBox="1"/>
          <p:nvPr/>
        </p:nvSpPr>
        <p:spPr>
          <a:xfrm>
            <a:off x="548640" y="5742432"/>
            <a:ext cx="60350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A878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150 000+ </a:t>
            </a:r>
            <a:pPr indent="0" marL="0">
              <a:buNone/>
            </a:pPr>
            <a:r>
              <a:rPr lang="en-US" sz="1200" dirty="0">
                <a:solidFill>
                  <a:srgbClr val="51515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самолётов построено за войну. 1 апреля 1918 г. созданы Королевские ВВС (RAF) — первые в мире самостоятельные военно-воздушные силы.</a:t>
            </a:r>
            <a:endParaRPr lang="en-US" sz="1400" dirty="0"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1500">
        <p159:morph option="byObject"/>
      </p:transition>
    </mc:Choice>
    <mc:Fallback>
      <p:transition spd="slow">
        <p:fade/>
      </p:transition>
    </mc:Fallback>
  </mc:AlternateContent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07090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!!kicker"/>
          <p:cNvSpPr txBox="1"/>
          <p:nvPr/>
        </p:nvSpPr>
        <p:spPr>
          <a:xfrm>
            <a:off x="548640" y="38404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spc="250" kern="0" dirty="0">
                <a:solidFill>
                  <a:srgbClr val="64D2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ФИНАЛ · ПОСЛЕ 1918</a:t>
            </a:r>
            <a:endParaRPr lang="en-US" sz="1200" dirty="0"/>
          </a:p>
        </p:txBody>
      </p:sp>
      <p:sp>
        <p:nvSpPr>
          <p:cNvPr id="3" name="!!title"/>
          <p:cNvSpPr txBox="1"/>
          <p:nvPr/>
        </p:nvSpPr>
        <p:spPr>
          <a:xfrm>
            <a:off x="548640" y="658368"/>
            <a:ext cx="73152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0" b="1" spc="-50" kern="0" dirty="0">
                <a:solidFill>
                  <a:srgbClr val="F5F3E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Наследие: небо после войны</a:t>
            </a:r>
            <a:endParaRPr lang="en-US" sz="3800" dirty="0"/>
          </a:p>
        </p:txBody>
      </p:sp>
      <p:sp>
        <p:nvSpPr>
          <p:cNvPr id="4" name="!!track"/>
          <p:cNvSpPr/>
          <p:nvPr/>
        </p:nvSpPr>
        <p:spPr>
          <a:xfrm>
            <a:off x="548640" y="6519672"/>
            <a:ext cx="2194560" cy="32004"/>
          </a:xfrm>
          <a:prstGeom prst="rect">
            <a:avLst/>
          </a:prstGeom>
          <a:solidFill>
            <a:srgbClr val="2A2F38"/>
          </a:solidFill>
          <a:ln w="12700">
            <a:solidFill>
              <a:srgbClr val="2A2F38"/>
            </a:solidFill>
            <a:prstDash val="solid"/>
          </a:ln>
        </p:spPr>
      </p:sp>
      <p:sp>
        <p:nvSpPr>
          <p:cNvPr id="5" name="!!prog"/>
          <p:cNvSpPr/>
          <p:nvPr/>
        </p:nvSpPr>
        <p:spPr>
          <a:xfrm>
            <a:off x="548640" y="6519672"/>
            <a:ext cx="2194560" cy="32004"/>
          </a:xfrm>
          <a:prstGeom prst="rect">
            <a:avLst/>
          </a:prstGeom>
          <a:solidFill>
            <a:srgbClr val="64D2FF"/>
          </a:solidFill>
          <a:ln w="12700">
            <a:solidFill>
              <a:srgbClr val="64D2FF"/>
            </a:solidFill>
            <a:prstDash val="solid"/>
          </a:ln>
        </p:spPr>
      </p:sp>
      <p:sp>
        <p:nvSpPr>
          <p:cNvPr id="6" name="!!pg"/>
          <p:cNvSpPr txBox="1"/>
          <p:nvPr/>
        </p:nvSpPr>
        <p:spPr>
          <a:xfrm>
            <a:off x="10725912" y="6419088"/>
            <a:ext cx="914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000" dirty="0">
                <a:solidFill>
                  <a:srgbClr val="7C83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 / 14</a:t>
            </a:r>
            <a:endParaRPr lang="en-US" sz="1000" dirty="0"/>
          </a:p>
        </p:txBody>
      </p:sp>
      <p:pic>
        <p:nvPicPr>
          <p:cNvPr id="7" name="Image 0" descr="/root/deck2/assets/glow_blue.png">    </p:cNvPr>
          <p:cNvPicPr>
            <a:picLocks noChangeAspect="1"/>
          </p:cNvPicPr>
          <p:nvPr/>
        </p:nvPicPr>
        <p:blipFill>
          <a:blip r:embed="rId1">
            <a:alphaModFix amt="80000"/>
          </a:blip>
          <a:stretch>
            <a:fillRect/>
          </a:stretch>
        </p:blipFill>
        <p:spPr>
          <a:xfrm>
            <a:off x="7040880" y="-457200"/>
            <a:ext cx="5669280" cy="5669280"/>
          </a:xfrm>
          <a:prstGeom prst="rect">
            <a:avLst/>
          </a:prstGeom>
        </p:spPr>
      </p:pic>
      <p:pic>
        <p:nvPicPr>
          <p:cNvPr id="8" name="!!stamp" descr="/root/deck2/assets/stamp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 rot="360000">
            <a:off x="8366760" y="1097280"/>
            <a:ext cx="2651760" cy="2538686"/>
          </a:xfrm>
          <a:prstGeom prst="rect">
            <a:avLst/>
          </a:prstGeom>
        </p:spPr>
      </p:pic>
      <p:pic>
        <p:nvPicPr>
          <p:cNvPr id="9" name="!!engine" descr="/root/deck2/assets/liberty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-5669280" y="1051560"/>
            <a:ext cx="4754880" cy="4123538"/>
          </a:xfrm>
          <a:prstGeom prst="rect">
            <a:avLst/>
          </a:prstGeom>
        </p:spPr>
      </p:pic>
      <p:sp>
        <p:nvSpPr>
          <p:cNvPr id="10" name="Text 5"/>
          <p:cNvSpPr txBox="1"/>
          <p:nvPr/>
        </p:nvSpPr>
        <p:spPr>
          <a:xfrm>
            <a:off x="7909560" y="3977640"/>
            <a:ext cx="37490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F5F3E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«Перевёрнутая Дженни», 1918. </a:t>
            </a:r>
            <a:pPr indent="0" marL="0">
              <a:buNone/>
            </a:pPr>
            <a:r>
              <a:rPr lang="en-US" sz="1100" dirty="0">
                <a:solidFill>
                  <a:srgbClr val="B4BAC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Марку выпустили к открытию авиапочты США 15 мая 1918 г. Лист из 100 марок с перевёрнутым самолётом — знаменитая ошибка печати.</a:t>
            </a:r>
            <a:endParaRPr lang="en-US" sz="1100" dirty="0"/>
          </a:p>
        </p:txBody>
      </p:sp>
      <p:sp>
        <p:nvSpPr>
          <p:cNvPr id="11" name="Text 6"/>
          <p:cNvSpPr txBox="1"/>
          <p:nvPr/>
        </p:nvSpPr>
        <p:spPr>
          <a:xfrm>
            <a:off x="548640" y="155448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64D2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1919</a:t>
            </a:r>
            <a:endParaRPr lang="en-US" sz="1300" dirty="0"/>
          </a:p>
        </p:txBody>
      </p:sp>
      <p:sp>
        <p:nvSpPr>
          <p:cNvPr id="12" name="Text 7"/>
          <p:cNvSpPr txBox="1"/>
          <p:nvPr/>
        </p:nvSpPr>
        <p:spPr>
          <a:xfrm>
            <a:off x="548640" y="1856232"/>
            <a:ext cx="32004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B4BAC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Версальский договор (ст. 198) запрещает Германии военную авиацию</a:t>
            </a:r>
            <a:endParaRPr lang="en-US" sz="1200" dirty="0"/>
          </a:p>
        </p:txBody>
      </p:sp>
      <p:sp>
        <p:nvSpPr>
          <p:cNvPr id="13" name="Text 8"/>
          <p:cNvSpPr txBox="1"/>
          <p:nvPr/>
        </p:nvSpPr>
        <p:spPr>
          <a:xfrm>
            <a:off x="4069080" y="155448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64D2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14–15 июня 1919</a:t>
            </a:r>
            <a:endParaRPr lang="en-US" sz="1300" dirty="0"/>
          </a:p>
        </p:txBody>
      </p:sp>
      <p:sp>
        <p:nvSpPr>
          <p:cNvPr id="14" name="Text 9"/>
          <p:cNvSpPr txBox="1"/>
          <p:nvPr/>
        </p:nvSpPr>
        <p:spPr>
          <a:xfrm>
            <a:off x="4069080" y="1856232"/>
            <a:ext cx="32004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B4BAC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Алкок и Браун впервые без посадки перелетают Атлантику на бомбардировщике Vickers Vimy</a:t>
            </a:r>
            <a:endParaRPr lang="en-US" sz="1200" dirty="0"/>
          </a:p>
        </p:txBody>
      </p:sp>
      <p:sp>
        <p:nvSpPr>
          <p:cNvPr id="15" name="Text 10"/>
          <p:cNvSpPr txBox="1"/>
          <p:nvPr/>
        </p:nvSpPr>
        <p:spPr>
          <a:xfrm>
            <a:off x="548640" y="288036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64D2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25 августа 1919</a:t>
            </a:r>
            <a:endParaRPr lang="en-US" sz="1300" dirty="0"/>
          </a:p>
        </p:txBody>
      </p:sp>
      <p:sp>
        <p:nvSpPr>
          <p:cNvPr id="16" name="Text 11"/>
          <p:cNvSpPr txBox="1"/>
          <p:nvPr/>
        </p:nvSpPr>
        <p:spPr>
          <a:xfrm>
            <a:off x="548640" y="3182112"/>
            <a:ext cx="32004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B4BAC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Открывается регулярная международная авиалиния Лондон — Париж</a:t>
            </a:r>
            <a:endParaRPr lang="en-US" sz="1200" dirty="0"/>
          </a:p>
        </p:txBody>
      </p:sp>
      <p:sp>
        <p:nvSpPr>
          <p:cNvPr id="17" name="Text 12"/>
          <p:cNvSpPr txBox="1"/>
          <p:nvPr/>
        </p:nvSpPr>
        <p:spPr>
          <a:xfrm>
            <a:off x="4069080" y="288036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64D2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1921</a:t>
            </a:r>
            <a:endParaRPr lang="en-US" sz="1300" dirty="0"/>
          </a:p>
        </p:txBody>
      </p:sp>
      <p:sp>
        <p:nvSpPr>
          <p:cNvPr id="18" name="Text 13"/>
          <p:cNvSpPr txBox="1"/>
          <p:nvPr/>
        </p:nvSpPr>
        <p:spPr>
          <a:xfrm>
            <a:off x="4069080" y="3182112"/>
            <a:ext cx="32004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B4BAC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Джулио Дуэ пишет «Господство в воздухе»: войну решает авиация</a:t>
            </a:r>
            <a:endParaRPr lang="en-US" sz="1200" dirty="0"/>
          </a:p>
        </p:txBody>
      </p:sp>
      <p:sp>
        <p:nvSpPr>
          <p:cNvPr id="19" name="Text 14"/>
          <p:cNvSpPr txBox="1"/>
          <p:nvPr/>
        </p:nvSpPr>
        <p:spPr>
          <a:xfrm>
            <a:off x="548640" y="4206240"/>
            <a:ext cx="69494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i="1" dirty="0">
                <a:solidFill>
                  <a:srgbClr val="F5F3E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За четыре года самолёт прошёл путь от «спорта» до самостоятельного рода войск — и навсегда изменил войны XX века.</a:t>
            </a:r>
            <a:endParaRPr lang="en-US" sz="2200" dirty="0"/>
          </a:p>
        </p:txBody>
      </p:sp>
      <p:sp>
        <p:nvSpPr>
          <p:cNvPr id="20" name="Text 15"/>
          <p:cNvSpPr txBox="1"/>
          <p:nvPr/>
        </p:nvSpPr>
        <p:spPr>
          <a:xfrm>
            <a:off x="548640" y="544068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7C83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Источники: Национальный музей авиации и космонавтики США (описания экспонатов); Imperial War Museums; J. H. Morrow, «The Great War in the Air» (1993); C. Shores, N. Franks, R. Guest, «Above the Trenches» (1990); М. А. Хайрулин, «Илья Муромец. Гордость русской авиации» (2010).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7C83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Фото и рисунки: Smithsonian Open Access (CC0). Карты: Natural Earth; A. Ourednik, historical-basemaps.</a:t>
            </a:r>
            <a:endParaRPr lang="en-US" sz="900" dirty="0"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1500">
        <p159:morph option="byObject"/>
      </p:transition>
    </mc:Choice>
    <mc:Fallback>
      <p:transition spd="slow">
        <p:fade/>
      </p:transition>
    </mc:Fallback>
  </mc:AlternateContent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14</Slides>
  <Notes>14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14</vt:i4>
      </vt:variant>
    </vt:vector>
  </HeadingPairs>
  <TitlesOfParts>
    <vt:vector size="17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Авиация Первой мировой войны</dc:title>
  <dc:subject>История, 10В класс</dc:subject>
  <dc:creator>Пономарев Глеб</dc:creator>
  <cp:lastModifiedBy>Пономарев Глеб</cp:lastModifiedBy>
  <cp:revision>1</cp:revision>
  <dcterms:created xsi:type="dcterms:W3CDTF">2026-09-27T06:41:49Z</dcterms:created>
  <dcterms:modified xsi:type="dcterms:W3CDTF">2026-09-27T06:41:49Z</dcterms:modified>
</cp:coreProperties>
</file>